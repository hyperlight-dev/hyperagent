
<file path=[Content_Types].xml><?xml version="1.0" encoding="utf-8"?>
<Types xmlns="http://schemas.openxmlformats.org/package/2006/content-types">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theme/theme1.xml" ContentType="application/vnd.openxmlformats-officedocument.them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8"/>
  </p:sldMasterIdLst>
  <p:notesMasterIdLst>
    <p:notesMasterId r:id="rId23"/>
  </p:notesMasterIdLst>
  <p:sldIdLst>
    <p:sldId id="256" r:id="rId1"/>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Lst>
  <p:sldSz cx="12192000" cy="6858000"/>
  <p:notesSz cx="6858000" cy="12192000"/>
</p:presentation>
</file>

<file path=ppt/presProps.xml><?xml version="1.0" encoding="utf-8"?>
<p:presentationPr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file>

<file path=ppt/_rels/presentation.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slide" Target="slides/slide2.xml"/><Relationship Id="rId3" Type="http://schemas.openxmlformats.org/officeDocument/2006/relationships/slide" Target="slides/slide3.xml"/><Relationship Id="rId4" Type="http://schemas.openxmlformats.org/officeDocument/2006/relationships/slide" Target="slides/slide4.xml"/><Relationship Id="rId5" Type="http://schemas.openxmlformats.org/officeDocument/2006/relationships/slide" Target="slides/slide5.xml"/><Relationship Id="rId6" Type="http://schemas.openxmlformats.org/officeDocument/2006/relationships/slide" Target="slides/slide6.xml"/><Relationship Id="rId7" Type="http://schemas.openxmlformats.org/officeDocument/2006/relationships/slide" Target="slides/slide7.xml"/><Relationship Id="rId8" Type="http://schemas.openxmlformats.org/officeDocument/2006/relationships/slide" Target="slides/slide8.xml"/><Relationship Id="rId9" Type="http://schemas.openxmlformats.org/officeDocument/2006/relationships/slide" Target="slides/slide9.xml"/><Relationship Id="rId10" Type="http://schemas.openxmlformats.org/officeDocument/2006/relationships/slide" Target="slides/slide10.xml"/><Relationship Id="rId11" Type="http://schemas.openxmlformats.org/officeDocument/2006/relationships/slide" Target="slides/slide11.xml"/><Relationship Id="rId12" Type="http://schemas.openxmlformats.org/officeDocument/2006/relationships/slide" Target="slides/slide12.xml"/><Relationship Id="rId13" Type="http://schemas.openxmlformats.org/officeDocument/2006/relationships/slide" Target="slides/slide13.xml"/><Relationship Id="rId14" Type="http://schemas.openxmlformats.org/officeDocument/2006/relationships/slide" Target="slides/slide14.xml"/><Relationship Id="rId15" Type="http://schemas.openxmlformats.org/officeDocument/2006/relationships/slide" Target="slides/slide15.xml"/><Relationship Id="rId16" Type="http://schemas.openxmlformats.org/officeDocument/2006/relationships/slide" Target="slides/slide16.xml"/><Relationship Id="rId17" Type="http://schemas.openxmlformats.org/officeDocument/2006/relationships/slide" Target="slides/slide17.xml"/><Relationship Id="rId18" Type="http://schemas.openxmlformats.org/officeDocument/2006/relationships/slideMaster" Target="slideMasters/slideMaster1.xml"/><Relationship Id="rId19" Type="http://schemas.openxmlformats.org/officeDocument/2006/relationships/theme" Target="theme/theme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ableStyles" Target="tableStyles.xml"/><Relationship Id="rId23"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Tree>
  </p:cSld>
  <p:clrMap bg1="lt1" tx1="dk1" bg2="lt2" tx2="dk2" accent1="accent1" accent2="accent2" accent3="accent3" accent4="accent4" accent5="accent5" accent6="accent6" hlink="hlink" folHlink="folHlink"/>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cNvSpPr>
            <a:spLocks noGrp="1" noRot="1" noChangeAspect="1"/>
          </p:cNvSpPr>
          <p:nvPr>
            <p:ph type="sldImg"/>
          </p:nvPr>
        </p:nvSpPr>
        <p:spPr/>
      </p:sp>
      <p:sp>
        <p:nvSpPr>
          <p:cNvPr id="3" name="Notes"/>
          <p:cNvSpPr>
            <a:spLocks noGrp="1"/>
          </p:cNvSpPr>
          <p:nvPr>
            <p:ph type="body" idx="1"/>
          </p:nvPr>
        </p:nvSpPr>
        <p:spPr/>
        <p:txBody>
          <a:bodyPr/>
          <a:lstStyle/>
          <a:p>
            <a:r>
              <a:rPr lang="en-US" dirty="0"/>
              <a:t>Closing image: Full Artemis II stack at Launch Pad 39B with the Moon visible behind it.</a:t>
            </a:r>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p:spTree>
      <p:nvGrpSpPr>
        <p:cNvPr id="1" name=""/>
        <p:cNvGrpSpPr/>
        <p:nvPr/>
      </p:nvGrpSpPr>
      <p:grpSpPr/>
    </p:spTree>
  </p:cSld>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p:spTree>
  </p:cSld>
  <p:clrMap bg1="dk1" tx1="lt1" bg2="dk2" tx2="lt2" accent1="accent1" accent2="accent2" accent3="accent3" accent4="accent4" accent5="accent5" accent6="accent6" hlink="hlink" folHlink="folHlink"/>
  <p:sldLayoutIdLst>
    <p:sldLayoutId id="2147483649" r:id="rId1"/>
  </p:sldLayoutId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Link1" Type="http://schemas.openxmlformats.org/officeDocument/2006/relationships/hyperlink" Target="https://github.com/hyperlight-dev/hyperagent"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jpg"/><Relationship Id="rId3" Type="http://schemas.openxmlformats.org/officeDocument/2006/relationships/image" Target="../media/image5.jpg"/><Relationship Id="rId4" Type="http://schemas.openxmlformats.org/officeDocument/2006/relationships/image" Target="../media/image6.jpg"/><Relationship Id="rId5" Type="http://schemas.openxmlformats.org/officeDocument/2006/relationships/image" Target="../media/image7.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8.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170" name="TextBox 170"/>
          <p:cNvSpPr txBox="1"/>
          <p:nvPr/>
        </p:nvSpPr>
        <p:spPr>
          <a:xfrm>
            <a:off x="914400" y="1828800"/>
            <a:ext cx="10360152" cy="1828800"/>
          </a:xfrm>
          <a:prstGeom prst="rect">
            <a:avLst/>
          </a:prstGeom>
          <a:noFill/>
        </p:spPr>
        <p:txBody>
          <a:bodyPr wrap="square" anchor="ctr" lIns="137160" tIns="137160" rIns="137160" bIns="137160"/>
          <a:lstStyle/>
          <a:p>
            <a:pPr algn="ctr"/>
            <a:r>
              <a:rPr lang="en-US" dirty="0" sz="2800" b="1">
                <a:solidFill>
                  <a:srgbClr val="E6EDF3"/>
                </a:solidFill>
              </a:rPr>
              <a:t>⚠️ Warning: This PowerPoint deck was generated by HyperAgent.
You should carefully check and verify the contents.</a:t>
            </a:r>
          </a:p>
        </p:txBody>
      </p:sp>
      <p:sp>
        <p:nvSpPr>
          <p:cNvPr id="171" name="Hyperlink 171"/>
          <p:cNvSpPr txBox="1"/>
          <p:nvPr/>
        </p:nvSpPr>
        <p:spPr>
          <a:xfrm>
            <a:off x="2743200" y="4114800"/>
            <a:ext cx="6702552" cy="548640"/>
          </a:xfrm>
          <a:prstGeom prst="rect">
            <a:avLst/>
          </a:prstGeom>
          <a:noFill/>
        </p:spPr>
        <p:txBody>
          <a:bodyPr wrap="square" anchor="ctr"/>
          <a:lstStyle/>
          <a:p>
            <a:pPr algn="ctr"/>
            <a:r>
              <a:rPr lang="en-US" sz="1600" u="sng" dirty="0">
                <a:solidFill>
                  <a:srgbClr val="58A6FF"/>
                </a:solidFill>
                <a:hlinkClick r:id="rIdLink1"/>
              </a:rPr>
              <a:t>Learn more about HyperAgent</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2" name="Image 1"/>
          <p:cNvPicPr>
            <a:picLocks noChangeAspect="1"/>
          </p:cNvPicPr>
          <p:nvPr/>
        </p:nvPicPr>
        <p:blipFill>
          <a:blip r:embed="rId2"/>
          <a:stretch>
            <a:fillRect/>
          </a:stretch>
        </p:blipFill>
        <p:spPr>
          <a:xfrm>
            <a:off x="0" y="0"/>
            <a:ext cx="12191695" cy="6858000"/>
          </a:xfrm>
          <a:prstGeom prst="rect">
            <a:avLst/>
          </a:prstGeom>
        </p:spPr>
      </p:pic>
      <p:sp>
        <p:nvSpPr>
          <p:cNvPr id="3" name="Rectangle 3"/>
          <p:cNvSpPr/>
          <p:nvPr/>
        </p:nvSpPr>
        <p:spPr>
          <a:xfrm>
            <a:off x="0" y="0"/>
            <a:ext cx="12191695" cy="6858000"/>
          </a:xfrm>
          <a:prstGeom prst="rect">
            <a:avLst/>
          </a:prstGeom>
          <a:solidFill>
            <a:srgbClr val="0D1117">
              <a:alpha val="55000"/>
            </a:srgbClr>
          </a:solidFill>
        </p:spPr>
      </p:sp>
      <p:sp>
        <p:nvSpPr>
          <p:cNvPr id="4" name="TextBox 4"/>
          <p:cNvSpPr txBox="1"/>
          <p:nvPr/>
        </p:nvSpPr>
        <p:spPr>
          <a:xfrm>
            <a:off x="457200" y="2560320"/>
            <a:ext cx="11277295" cy="1371600"/>
          </a:xfrm>
          <a:prstGeom prst="rect">
            <a:avLst/>
          </a:prstGeom>
          <a:noFill/>
        </p:spPr>
        <p:txBody>
          <a:bodyPr wrap="square" anchor="t" lIns="137160" tIns="137160" rIns="137160" bIns="137160"/>
          <a:lstStyle/>
          <a:p>
            <a:pPr algn="ctr"/>
            <a:r>
              <a:rPr lang="en-US" dirty="0" sz="4400" b="1">
                <a:solidFill>
                  <a:srgbClr val="FFFFFF"/>
                </a:solidFill>
              </a:rPr>
              <a:t>NASA ARTEMIS II</a:t>
            </a:r>
          </a:p>
        </p:txBody>
      </p:sp>
      <p:sp>
        <p:nvSpPr>
          <p:cNvPr id="5" name="TextBox 5"/>
          <p:cNvSpPr txBox="1"/>
          <p:nvPr/>
        </p:nvSpPr>
        <p:spPr>
          <a:xfrm>
            <a:off x="457200" y="3840480"/>
            <a:ext cx="11277295" cy="731520"/>
          </a:xfrm>
          <a:prstGeom prst="rect">
            <a:avLst/>
          </a:prstGeom>
          <a:noFill/>
        </p:spPr>
        <p:txBody>
          <a:bodyPr wrap="square" anchor="t" lIns="137160" tIns="137160" rIns="137160" bIns="137160"/>
          <a:lstStyle/>
          <a:p>
            <a:pPr algn="ctr"/>
            <a:r>
              <a:rPr lang="en-US" dirty="0" sz="2000">
                <a:solidFill>
                  <a:srgbClr val="FFFFFF"/>
                </a:solidFill>
              </a:rPr>
              <a:t>First Crewed Mission Around the Moon Since Apollo 17 (1972)</a:t>
            </a:r>
          </a:p>
        </p:txBody>
      </p:sp>
      <p:sp>
        <p:nvSpPr>
          <p:cNvPr id="138" name="TextBox 138"/>
          <p:cNvSpPr txBox="1"/>
          <p:nvPr/>
        </p:nvSpPr>
        <p:spPr>
          <a:xfrm>
            <a:off x="10972800" y="6400800"/>
            <a:ext cx="731520" cy="365760"/>
          </a:xfrm>
          <a:prstGeom prst="rect">
            <a:avLst/>
          </a:prstGeom>
          <a:noFill/>
        </p:spPr>
        <p:txBody>
          <a:bodyPr wrap="square" anchor="t" lIns="137160" tIns="137160" rIns="137160" bIns="137160"/>
          <a:lstStyle/>
          <a:p>
            <a:pPr algn="r"/>
            <a:r>
              <a:rPr lang="en-US" dirty="0" sz="1000">
                <a:solidFill>
                  <a:srgbClr val="FFFFFF"/>
                </a:solidFill>
              </a:rPr>
              <a:t>1</a:t>
            </a:r>
          </a:p>
        </p:txBody>
      </p:sp>
      <p:sp>
        <p:nvSpPr>
          <p:cNvPr id="154" name="TextBox 154"/>
          <p:cNvSpPr txBox="1"/>
          <p:nvPr/>
        </p:nvSpPr>
        <p:spPr>
          <a:xfrm>
            <a:off x="457200" y="6400800"/>
            <a:ext cx="7315200" cy="365760"/>
          </a:xfrm>
          <a:prstGeom prst="rect">
            <a:avLst/>
          </a:prstGeom>
          <a:noFill/>
        </p:spPr>
        <p:txBody>
          <a:bodyPr wrap="square" anchor="t" lIns="137160" tIns="137160" rIns="137160" bIns="137160"/>
          <a:lstStyle/>
          <a:p>
            <a:pPr algn="l"/>
            <a:r>
              <a:rPr lang="en-US" dirty="0" sz="800">
                <a:solidFill>
                  <a:srgbClr val="FFFFFF"/>
                </a:solidFill>
              </a:rPr>
              <a:t>NASA Artemis II Mission Briefing  |  April 2026</a:t>
            </a:r>
          </a:p>
        </p:txBody>
      </p:sp>
    </p:spTree>
  </p:cSld>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6" name="Rectangle 6"/>
          <p:cNvSpPr/>
          <p:nvPr/>
        </p:nvSpPr>
        <p:spPr>
          <a:xfrm>
            <a:off x="0" y="0"/>
            <a:ext cx="12191695" cy="1005840"/>
          </a:xfrm>
          <a:prstGeom prst="rect">
            <a:avLst/>
          </a:prstGeom>
          <a:solidFill>
            <a:srgbClr val="161B22"/>
          </a:solidFill>
        </p:spPr>
      </p:sp>
      <p:sp>
        <p:nvSpPr>
          <p:cNvPr id="7" name="TextBox 7"/>
          <p:cNvSpPr txBox="1"/>
          <p:nvPr/>
        </p:nvSpPr>
        <p:spPr>
          <a:xfrm>
            <a:off x="548640" y="137160"/>
            <a:ext cx="9144000" cy="731520"/>
          </a:xfrm>
          <a:prstGeom prst="rect">
            <a:avLst/>
          </a:prstGeom>
          <a:noFill/>
        </p:spPr>
        <p:txBody>
          <a:bodyPr wrap="square" anchor="t" lIns="137160" tIns="137160" rIns="137160" bIns="137160"/>
          <a:lstStyle/>
          <a:p>
            <a:pPr algn="l"/>
            <a:r>
              <a:rPr lang="en-US" dirty="0" sz="3200" b="1">
                <a:solidFill>
                  <a:srgbClr val="E6EDF3"/>
                </a:solidFill>
              </a:rPr>
              <a:t>MISSION OVERVIEW</a:t>
            </a:r>
          </a:p>
        </p:txBody>
      </p:sp>
      <p:cxnSp>
        <p:nvCxnSpPr>
          <p:cNvPr id="8" name="Line 8"/>
          <p:cNvCxnSpPr/>
          <p:nvPr/>
        </p:nvCxnSpPr>
        <p:spPr>
          <a:xfrm>
            <a:off x="548640" y="1005840"/>
            <a:ext cx="11091672" cy="1"/>
          </a:xfrm>
          <a:prstGeom prst="line">
            <a:avLst/>
          </a:prstGeom>
          <a:ln w="25400">
            <a:solidFill>
              <a:srgbClr val="58A6FF"/>
            </a:solidFill>
          </a:ln>
        </p:spPr>
      </p:cxnSp>
      <p:sp>
        <p:nvSpPr>
          <p:cNvPr id="9" name="TextBox 9"/>
          <p:cNvSpPr txBox="1"/>
          <p:nvPr/>
        </p:nvSpPr>
        <p:spPr>
          <a:xfrm>
            <a:off x="548640" y="1280160"/>
            <a:ext cx="5669280" cy="1097280"/>
          </a:xfrm>
          <a:prstGeom prst="rect">
            <a:avLst/>
          </a:prstGeom>
          <a:noFill/>
        </p:spPr>
        <p:txBody>
          <a:bodyPr wrap="square" anchor="t" lIns="137160" tIns="137160" rIns="137160" bIns="137160"/>
          <a:lstStyle/>
          <a:p>
            <a:pPr algn="l">
              <a:lnSpc>
                <a:spcPts val="2000"/>
              </a:lnSpc>
            </a:pPr>
            <a:r>
              <a:rPr lang="en-US" dirty="0" sz="1300">
                <a:solidFill>
                  <a:srgbClr val="E6EDF3"/>
                </a:solidFill>
              </a:rPr>
              <a:t>Artemis II is NASA's first crewed flight test of the Space Launch System (SLS) rocket and Orion spacecraft around the Moon. The mission will send four astronauts on an approximately 10-day journey, verifying crew life-support systems and validating capabilities needed for long-duration deep space missions.</a:t>
            </a:r>
          </a:p>
        </p:txBody>
      </p:sp>
      <p:sp>
        <p:nvSpPr>
          <p:cNvPr id="10" name="TextBox 10"/>
          <p:cNvSpPr txBox="1"/>
          <p:nvPr/>
        </p:nvSpPr>
        <p:spPr>
          <a:xfrm>
            <a:off x="548640" y="2560320"/>
            <a:ext cx="5669280" cy="3200400"/>
          </a:xfrm>
          <a:prstGeom prst="rect">
            <a:avLst/>
          </a:prstGeom>
          <a:noFill/>
        </p:spPr>
        <p:txBody>
          <a:bodyPr wrap="square" anchor="t" lIns="137160" tIns="137160" rIns="137160" bIns="137160"/>
          <a:lstStyle/>
          <a:p>
            <a:pPr lvl="0" algn="l">
              <a:buFont typeface="Arial"/>
              <a:buChar char="•"/>
            </a:pPr>
            <a:r>
              <a:rPr lang="en-US" dirty="0" sz="1250">
                <a:solidFill>
                  <a:srgbClr val="E6EDF3"/>
                </a:solidFill>
              </a:rPr>
              <a:t>First crewed lunar flyby since Apollo 17 in December 1972</a:t>
            </a:r>
          </a:p>
          <a:p>
            <a:pPr lvl="0" algn="l">
              <a:buFont typeface="Arial"/>
              <a:buChar char="•"/>
            </a:pPr>
            <a:r>
              <a:rPr lang="en-US" dirty="0" sz="1250">
                <a:solidFill>
                  <a:srgbClr val="E6EDF3"/>
                </a:solidFill>
              </a:rPr>
              <a:t>Approximately 10-day mission duration</a:t>
            </a:r>
          </a:p>
          <a:p>
            <a:pPr lvl="0" algn="l">
              <a:buFont typeface="Arial"/>
              <a:buChar char="•"/>
            </a:pPr>
            <a:r>
              <a:rPr lang="en-US" dirty="0" sz="1250">
                <a:solidFill>
                  <a:srgbClr val="E6EDF3"/>
                </a:solidFill>
              </a:rPr>
              <a:t>Crew of 4 astronauts — 3 NASA, 1 CSA</a:t>
            </a:r>
          </a:p>
          <a:p>
            <a:pPr lvl="0" algn="l">
              <a:buFont typeface="Arial"/>
              <a:buChar char="•"/>
            </a:pPr>
            <a:r>
              <a:rPr lang="en-US" dirty="0" sz="1250">
                <a:solidFill>
                  <a:srgbClr val="E6EDF3"/>
                </a:solidFill>
              </a:rPr>
              <a:t>Tests life support, navigation, and communication systems</a:t>
            </a:r>
          </a:p>
          <a:p>
            <a:pPr lvl="0" algn="l">
              <a:buFont typeface="Arial"/>
              <a:buChar char="•"/>
            </a:pPr>
            <a:r>
              <a:rPr lang="en-US" dirty="0" sz="1250">
                <a:solidFill>
                  <a:srgbClr val="E6EDF3"/>
                </a:solidFill>
              </a:rPr>
              <a:t>Flies within ~100 km of the lunar surface</a:t>
            </a:r>
          </a:p>
          <a:p>
            <a:pPr lvl="0" algn="l">
              <a:buFont typeface="Arial"/>
              <a:buChar char="•"/>
            </a:pPr>
            <a:r>
              <a:rPr lang="en-US" dirty="0" sz="1250">
                <a:solidFill>
                  <a:srgbClr val="E6EDF3"/>
                </a:solidFill>
              </a:rPr>
              <a:t>Maximum distance from Earth: ~370,000 km</a:t>
            </a:r>
          </a:p>
          <a:p>
            <a:pPr lvl="0" algn="l">
              <a:buFont typeface="Arial"/>
              <a:buChar char="•"/>
            </a:pPr>
            <a:r>
              <a:rPr lang="en-US" dirty="0" sz="1250">
                <a:solidFill>
                  <a:srgbClr val="E6EDF3"/>
                </a:solidFill>
              </a:rPr>
              <a:t>Validates Orion's heat shield at lunar re-entry speeds</a:t>
            </a:r>
          </a:p>
          <a:p>
            <a:pPr lvl="0" algn="l">
              <a:buFont typeface="Arial"/>
              <a:buChar char="•"/>
            </a:pPr>
            <a:r>
              <a:rPr lang="en-US" dirty="0" sz="1250">
                <a:solidFill>
                  <a:srgbClr val="E6EDF3"/>
                </a:solidFill>
              </a:rPr>
              <a:t>Paves the way for Artemis III — the first woman on the Moon</a:t>
            </a:r>
          </a:p>
        </p:txBody>
      </p:sp>
      <p:pic>
        <p:nvPicPr>
          <p:cNvPr id="11" name="Image 2"/>
          <p:cNvPicPr>
            <a:picLocks noChangeAspect="1"/>
          </p:cNvPicPr>
          <p:nvPr/>
        </p:nvPicPr>
        <p:blipFill>
          <a:blip r:embed="rId2"/>
          <a:srcRect l="19531" t="0" r="19531" b="0"/>
          <a:stretch>
            <a:fillRect/>
          </a:stretch>
        </p:blipFill>
        <p:spPr>
          <a:xfrm>
            <a:off x="6583680" y="1280160"/>
            <a:ext cx="4754880" cy="4389120"/>
          </a:xfrm>
          <a:prstGeom prst="rect">
            <a:avLst/>
          </a:prstGeom>
        </p:spPr>
      </p:pic>
      <p:sp>
        <p:nvSpPr>
          <p:cNvPr id="12" name="TextBox 12"/>
          <p:cNvSpPr txBox="1"/>
          <p:nvPr/>
        </p:nvSpPr>
        <p:spPr>
          <a:xfrm>
            <a:off x="6583680" y="5760720"/>
            <a:ext cx="4754880" cy="365760"/>
          </a:xfrm>
          <a:prstGeom prst="rect">
            <a:avLst/>
          </a:prstGeom>
          <a:noFill/>
        </p:spPr>
        <p:txBody>
          <a:bodyPr wrap="square" anchor="t" lIns="137160" tIns="137160" rIns="137160" bIns="137160"/>
          <a:lstStyle/>
          <a:p>
            <a:pPr algn="ctr"/>
            <a:r>
              <a:rPr lang="en-US" dirty="0" sz="1000" i="1">
                <a:solidFill>
                  <a:srgbClr val="E6EDF3"/>
                </a:solidFill>
              </a:rPr>
              <a:t>SLS &amp; Orion on Launch Pad 39B, Kennedy Space Center</a:t>
            </a:r>
          </a:p>
        </p:txBody>
      </p:sp>
      <p:sp>
        <p:nvSpPr>
          <p:cNvPr id="139" name="TextBox 139"/>
          <p:cNvSpPr txBox="1"/>
          <p:nvPr/>
        </p:nvSpPr>
        <p:spPr>
          <a:xfrm>
            <a:off x="10972800" y="6400800"/>
            <a:ext cx="731520" cy="365760"/>
          </a:xfrm>
          <a:prstGeom prst="rect">
            <a:avLst/>
          </a:prstGeom>
          <a:noFill/>
        </p:spPr>
        <p:txBody>
          <a:bodyPr wrap="square" anchor="t" lIns="137160" tIns="137160" rIns="137160" bIns="137160"/>
          <a:lstStyle/>
          <a:p>
            <a:pPr algn="r"/>
            <a:r>
              <a:rPr lang="en-US" dirty="0" sz="1000">
                <a:solidFill>
                  <a:srgbClr val="FFFFFF"/>
                </a:solidFill>
              </a:rPr>
              <a:t>2</a:t>
            </a:r>
          </a:p>
        </p:txBody>
      </p:sp>
      <p:sp>
        <p:nvSpPr>
          <p:cNvPr id="155" name="TextBox 155"/>
          <p:cNvSpPr txBox="1"/>
          <p:nvPr/>
        </p:nvSpPr>
        <p:spPr>
          <a:xfrm>
            <a:off x="457200" y="6400800"/>
            <a:ext cx="7315200" cy="365760"/>
          </a:xfrm>
          <a:prstGeom prst="rect">
            <a:avLst/>
          </a:prstGeom>
          <a:noFill/>
        </p:spPr>
        <p:txBody>
          <a:bodyPr wrap="square" anchor="t" lIns="137160" tIns="137160" rIns="137160" bIns="137160"/>
          <a:lstStyle/>
          <a:p>
            <a:pPr algn="l"/>
            <a:r>
              <a:rPr lang="en-US" dirty="0" sz="800">
                <a:solidFill>
                  <a:srgbClr val="FFFFFF"/>
                </a:solidFill>
              </a:rPr>
              <a:t>NASA Artemis II Mission Briefing  |  April 2026</a:t>
            </a:r>
          </a:p>
        </p:txBody>
      </p:sp>
    </p:spTree>
  </p:cSld>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58A6FF"/>
        </a:solidFill>
        <a:effectLst/>
      </p:bgPr>
    </p:bg>
    <p:spTree>
      <p:nvGrpSpPr>
        <p:cNvPr id="1" name=""/>
        <p:cNvGrpSpPr/>
        <p:nvPr/>
      </p:nvGrpSpPr>
      <p:grpSpPr>
        <a:xfrm>
          <a:off x="0" y="0"/>
          <a:ext cx="0" cy="0"/>
          <a:chOff x="0" y="0"/>
          <a:chExt cx="0" cy="0"/>
        </a:xfrm>
      </p:grpSpPr>
      <p:sp>
        <p:nvSpPr>
          <p:cNvPr id="13" name="Rectangle 13"/>
          <p:cNvSpPr/>
          <p:nvPr/>
        </p:nvSpPr>
        <p:spPr>
          <a:xfrm>
            <a:off x="457200" y="2926080"/>
            <a:ext cx="2743200" cy="73152"/>
          </a:xfrm>
          <a:prstGeom prst="rect">
            <a:avLst/>
          </a:prstGeom>
          <a:solidFill>
            <a:srgbClr val="E6EDF3"/>
          </a:solidFill>
        </p:spPr>
      </p:sp>
      <p:sp>
        <p:nvSpPr>
          <p:cNvPr id="14" name="TextBox 14"/>
          <p:cNvSpPr txBox="1"/>
          <p:nvPr/>
        </p:nvSpPr>
        <p:spPr>
          <a:xfrm>
            <a:off x="457200" y="1828800"/>
            <a:ext cx="10972800" cy="1371600"/>
          </a:xfrm>
          <a:prstGeom prst="rect">
            <a:avLst/>
          </a:prstGeom>
          <a:noFill/>
        </p:spPr>
        <p:txBody>
          <a:bodyPr wrap="square" anchor="t" lIns="137160" tIns="137160" rIns="137160" bIns="137160"/>
          <a:lstStyle/>
          <a:p>
            <a:pPr algn="l"/>
            <a:r>
              <a:rPr lang="en-US" dirty="0" sz="3600" b="1">
                <a:solidFill>
                  <a:srgbClr val="E6EDF3"/>
                </a:solidFill>
              </a:rPr>
              <a:t>MEET THE CREW</a:t>
            </a:r>
          </a:p>
        </p:txBody>
      </p:sp>
      <p:sp>
        <p:nvSpPr>
          <p:cNvPr id="15" name="TextBox 15"/>
          <p:cNvSpPr txBox="1"/>
          <p:nvPr/>
        </p:nvSpPr>
        <p:spPr>
          <a:xfrm>
            <a:off x="457200" y="3200400"/>
            <a:ext cx="10972800" cy="914400"/>
          </a:xfrm>
          <a:prstGeom prst="rect">
            <a:avLst/>
          </a:prstGeom>
          <a:noFill/>
        </p:spPr>
        <p:txBody>
          <a:bodyPr wrap="square" anchor="t" lIns="137160" tIns="137160" rIns="137160" bIns="137160"/>
          <a:lstStyle/>
          <a:p>
            <a:pPr algn="l"/>
            <a:r>
              <a:rPr lang="en-US" dirty="0" sz="1800">
                <a:solidFill>
                  <a:srgbClr val="E6EDF3"/>
                </a:solidFill>
              </a:rPr>
              <a:t>Four astronauts charting humanity's return to the Moon</a:t>
            </a:r>
          </a:p>
        </p:txBody>
      </p:sp>
      <p:sp>
        <p:nvSpPr>
          <p:cNvPr id="140" name="TextBox 140"/>
          <p:cNvSpPr txBox="1"/>
          <p:nvPr/>
        </p:nvSpPr>
        <p:spPr>
          <a:xfrm>
            <a:off x="10972800" y="6400800"/>
            <a:ext cx="731520" cy="365760"/>
          </a:xfrm>
          <a:prstGeom prst="rect">
            <a:avLst/>
          </a:prstGeom>
          <a:noFill/>
        </p:spPr>
        <p:txBody>
          <a:bodyPr wrap="square" anchor="t" lIns="137160" tIns="137160" rIns="137160" bIns="137160"/>
          <a:lstStyle/>
          <a:p>
            <a:pPr algn="r"/>
            <a:r>
              <a:rPr lang="en-US" dirty="0" sz="1000">
                <a:solidFill>
                  <a:srgbClr val="333333"/>
                </a:solidFill>
              </a:rPr>
              <a:t>3</a:t>
            </a:r>
          </a:p>
        </p:txBody>
      </p:sp>
      <p:sp>
        <p:nvSpPr>
          <p:cNvPr id="156" name="TextBox 156"/>
          <p:cNvSpPr txBox="1"/>
          <p:nvPr/>
        </p:nvSpPr>
        <p:spPr>
          <a:xfrm>
            <a:off x="457200" y="6400800"/>
            <a:ext cx="7315200" cy="365760"/>
          </a:xfrm>
          <a:prstGeom prst="rect">
            <a:avLst/>
          </a:prstGeom>
          <a:noFill/>
        </p:spPr>
        <p:txBody>
          <a:bodyPr wrap="square" anchor="t" lIns="137160" tIns="137160" rIns="137160" bIns="137160"/>
          <a:lstStyle/>
          <a:p>
            <a:pPr algn="l"/>
            <a:r>
              <a:rPr lang="en-US" dirty="0" sz="800">
                <a:solidFill>
                  <a:srgbClr val="333333"/>
                </a:solidFill>
              </a:rPr>
              <a:t>NASA Artemis II Mission Briefing  |  April 2026</a:t>
            </a:r>
          </a:p>
        </p:txBody>
      </p:sp>
    </p:spTree>
  </p:cSld>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16" name="Rectangle 16"/>
          <p:cNvSpPr/>
          <p:nvPr/>
        </p:nvSpPr>
        <p:spPr>
          <a:xfrm>
            <a:off x="0" y="0"/>
            <a:ext cx="12191695" cy="1005840"/>
          </a:xfrm>
          <a:prstGeom prst="rect">
            <a:avLst/>
          </a:prstGeom>
          <a:solidFill>
            <a:srgbClr val="161B22"/>
          </a:solidFill>
        </p:spPr>
      </p:sp>
      <p:sp>
        <p:nvSpPr>
          <p:cNvPr id="17" name="TextBox 17"/>
          <p:cNvSpPr txBox="1"/>
          <p:nvPr/>
        </p:nvSpPr>
        <p:spPr>
          <a:xfrm>
            <a:off x="548640" y="137160"/>
            <a:ext cx="9144000" cy="731520"/>
          </a:xfrm>
          <a:prstGeom prst="rect">
            <a:avLst/>
          </a:prstGeom>
          <a:noFill/>
        </p:spPr>
        <p:txBody>
          <a:bodyPr wrap="square" anchor="t" lIns="137160" tIns="137160" rIns="137160" bIns="137160"/>
          <a:lstStyle/>
          <a:p>
            <a:pPr algn="l"/>
            <a:r>
              <a:rPr lang="en-US" dirty="0" sz="3200" b="1">
                <a:solidFill>
                  <a:srgbClr val="E6EDF3"/>
                </a:solidFill>
              </a:rPr>
              <a:t>ARTEMIS II CREW</a:t>
            </a:r>
          </a:p>
        </p:txBody>
      </p:sp>
      <p:cxnSp>
        <p:nvCxnSpPr>
          <p:cNvPr id="18" name="Line 18"/>
          <p:cNvCxnSpPr/>
          <p:nvPr/>
        </p:nvCxnSpPr>
        <p:spPr>
          <a:xfrm>
            <a:off x="548640" y="1005840"/>
            <a:ext cx="11091672" cy="1"/>
          </a:xfrm>
          <a:prstGeom prst="line">
            <a:avLst/>
          </a:prstGeom>
          <a:ln w="25400">
            <a:solidFill>
              <a:srgbClr val="58A6FF"/>
            </a:solidFill>
          </a:ln>
        </p:spPr>
      </p:cxnSp>
      <p:sp>
        <p:nvSpPr>
          <p:cNvPr id="19" name="Rectangle 19"/>
          <p:cNvSpPr/>
          <p:nvPr/>
        </p:nvSpPr>
        <p:spPr>
          <a:xfrm>
            <a:off x="457200" y="1371600"/>
            <a:ext cx="2647874" cy="73152"/>
          </a:xfrm>
          <a:prstGeom prst="rect">
            <a:avLst/>
          </a:prstGeom>
          <a:solidFill>
            <a:srgbClr val="58A6FF"/>
          </a:solidFill>
        </p:spPr>
      </p:sp>
      <p:sp>
        <p:nvSpPr>
          <p:cNvPr id="20" name="Rectangle 20"/>
          <p:cNvSpPr/>
          <p:nvPr/>
        </p:nvSpPr>
        <p:spPr>
          <a:xfrm>
            <a:off x="457200" y="1444752"/>
            <a:ext cx="2647874" cy="4114800"/>
          </a:xfrm>
          <a:prstGeom prst="roundRect">
            <a:avLst/>
          </a:prstGeom>
          <a:solidFill>
            <a:srgbClr val="161B22"/>
          </a:solidFill>
        </p:spPr>
      </p:sp>
      <p:sp>
        <p:nvSpPr>
          <p:cNvPr id="21" name="TextBox 21"/>
          <p:cNvSpPr txBox="1"/>
          <p:nvPr/>
        </p:nvSpPr>
        <p:spPr>
          <a:xfrm>
            <a:off x="594360" y="1645920"/>
            <a:ext cx="2373554" cy="457200"/>
          </a:xfrm>
          <a:prstGeom prst="rect">
            <a:avLst/>
          </a:prstGeom>
          <a:noFill/>
        </p:spPr>
        <p:txBody>
          <a:bodyPr wrap="square" anchor="t" lIns="137160" tIns="137160" rIns="137160" bIns="137160"/>
          <a:lstStyle/>
          <a:p>
            <a:pPr algn="l"/>
            <a:r>
              <a:rPr lang="en-US" dirty="0" sz="1600" b="1">
                <a:solidFill>
                  <a:srgbClr val="E6EDF3"/>
                </a:solidFill>
              </a:rPr>
              <a:t>Reid Wiseman</a:t>
            </a:r>
          </a:p>
        </p:txBody>
      </p:sp>
      <p:sp>
        <p:nvSpPr>
          <p:cNvPr id="22" name="Rectangle 22"/>
          <p:cNvSpPr/>
          <p:nvPr/>
        </p:nvSpPr>
        <p:spPr>
          <a:xfrm>
            <a:off x="594360" y="2148840"/>
            <a:ext cx="2373554" cy="320040"/>
          </a:xfrm>
          <a:prstGeom prst="roundRect">
            <a:avLst/>
          </a:prstGeom>
          <a:solidFill>
            <a:srgbClr val="58A6FF"/>
          </a:solidFill>
        </p:spPr>
        <p:txBody>
          <a:bodyPr wrap="square" anchor="ctr" lIns="137160" tIns="137160" rIns="137160" bIns="137160"/>
          <a:lstStyle/>
          <a:p>
            <a:pPr algn="ctr"/>
            <a:r>
              <a:rPr lang="en-US" dirty="0" sz="1100">
                <a:solidFill>
                  <a:srgbClr val="333333"/>
                </a:solidFill>
              </a:rPr>
              <a:t>Commander</a:t>
            </a:r>
          </a:p>
        </p:txBody>
      </p:sp>
      <p:sp>
        <p:nvSpPr>
          <p:cNvPr id="23" name="TextBox 23"/>
          <p:cNvSpPr txBox="1"/>
          <p:nvPr/>
        </p:nvSpPr>
        <p:spPr>
          <a:xfrm>
            <a:off x="594360" y="2606040"/>
            <a:ext cx="2373554" cy="274320"/>
          </a:xfrm>
          <a:prstGeom prst="rect">
            <a:avLst/>
          </a:prstGeom>
          <a:noFill/>
        </p:spPr>
        <p:txBody>
          <a:bodyPr wrap="square" anchor="t" lIns="137160" tIns="137160" rIns="137160" bIns="137160"/>
          <a:lstStyle/>
          <a:p>
            <a:pPr algn="l"/>
            <a:r>
              <a:rPr lang="en-US" dirty="0" sz="1200" b="1">
                <a:solidFill>
                  <a:srgbClr val="E6EDF3"/>
                </a:solidFill>
              </a:rPr>
              <a:t>NASA</a:t>
            </a:r>
          </a:p>
        </p:txBody>
      </p:sp>
      <p:sp>
        <p:nvSpPr>
          <p:cNvPr id="24" name="TextBox 24"/>
          <p:cNvSpPr txBox="1"/>
          <p:nvPr/>
        </p:nvSpPr>
        <p:spPr>
          <a:xfrm>
            <a:off x="594360" y="2926080"/>
            <a:ext cx="2373554" cy="2011680"/>
          </a:xfrm>
          <a:prstGeom prst="rect">
            <a:avLst/>
          </a:prstGeom>
          <a:noFill/>
        </p:spPr>
        <p:txBody>
          <a:bodyPr wrap="square" anchor="t" lIns="137160" tIns="137160" rIns="137160" bIns="137160"/>
          <a:lstStyle/>
          <a:p>
            <a:pPr algn="l">
              <a:lnSpc>
                <a:spcPts val="1700"/>
              </a:lnSpc>
            </a:pPr>
            <a:r>
              <a:rPr lang="en-US" dirty="0" sz="1100">
                <a:solidFill>
                  <a:srgbClr val="E6EDF3"/>
                </a:solidFill>
              </a:rPr>
              <a:t>U.S. Navy Captain, ISS veteran
Selected: 2009 | Spaceflights: 1
165 days in space</a:t>
            </a:r>
          </a:p>
        </p:txBody>
      </p:sp>
      <p:sp>
        <p:nvSpPr>
          <p:cNvPr id="25" name="Rectangle 25"/>
          <p:cNvSpPr/>
          <p:nvPr/>
        </p:nvSpPr>
        <p:spPr>
          <a:xfrm>
            <a:off x="3333674" y="1371600"/>
            <a:ext cx="2647874" cy="73152"/>
          </a:xfrm>
          <a:prstGeom prst="rect">
            <a:avLst/>
          </a:prstGeom>
          <a:solidFill>
            <a:srgbClr val="3FB950"/>
          </a:solidFill>
        </p:spPr>
      </p:sp>
      <p:sp>
        <p:nvSpPr>
          <p:cNvPr id="26" name="Rectangle 26"/>
          <p:cNvSpPr/>
          <p:nvPr/>
        </p:nvSpPr>
        <p:spPr>
          <a:xfrm>
            <a:off x="3333674" y="1444752"/>
            <a:ext cx="2647874" cy="4114800"/>
          </a:xfrm>
          <a:prstGeom prst="roundRect">
            <a:avLst/>
          </a:prstGeom>
          <a:solidFill>
            <a:srgbClr val="161B22"/>
          </a:solidFill>
        </p:spPr>
      </p:sp>
      <p:sp>
        <p:nvSpPr>
          <p:cNvPr id="27" name="TextBox 27"/>
          <p:cNvSpPr txBox="1"/>
          <p:nvPr/>
        </p:nvSpPr>
        <p:spPr>
          <a:xfrm>
            <a:off x="3470834" y="1645920"/>
            <a:ext cx="2373554" cy="457200"/>
          </a:xfrm>
          <a:prstGeom prst="rect">
            <a:avLst/>
          </a:prstGeom>
          <a:noFill/>
        </p:spPr>
        <p:txBody>
          <a:bodyPr wrap="square" anchor="t" lIns="137160" tIns="137160" rIns="137160" bIns="137160"/>
          <a:lstStyle/>
          <a:p>
            <a:pPr algn="l"/>
            <a:r>
              <a:rPr lang="en-US" dirty="0" sz="1600" b="1">
                <a:solidFill>
                  <a:srgbClr val="E6EDF3"/>
                </a:solidFill>
              </a:rPr>
              <a:t>Victor Glover</a:t>
            </a:r>
          </a:p>
        </p:txBody>
      </p:sp>
      <p:sp>
        <p:nvSpPr>
          <p:cNvPr id="28" name="Rectangle 28"/>
          <p:cNvSpPr/>
          <p:nvPr/>
        </p:nvSpPr>
        <p:spPr>
          <a:xfrm>
            <a:off x="3470834" y="2148840"/>
            <a:ext cx="2373554" cy="320040"/>
          </a:xfrm>
          <a:prstGeom prst="roundRect">
            <a:avLst/>
          </a:prstGeom>
          <a:solidFill>
            <a:srgbClr val="3FB950"/>
          </a:solidFill>
        </p:spPr>
        <p:txBody>
          <a:bodyPr wrap="square" anchor="ctr" lIns="137160" tIns="137160" rIns="137160" bIns="137160"/>
          <a:lstStyle/>
          <a:p>
            <a:pPr algn="ctr"/>
            <a:r>
              <a:rPr lang="en-US" dirty="0" sz="1100">
                <a:solidFill>
                  <a:srgbClr val="333333"/>
                </a:solidFill>
              </a:rPr>
              <a:t>Pilot</a:t>
            </a:r>
          </a:p>
        </p:txBody>
      </p:sp>
      <p:sp>
        <p:nvSpPr>
          <p:cNvPr id="29" name="TextBox 29"/>
          <p:cNvSpPr txBox="1"/>
          <p:nvPr/>
        </p:nvSpPr>
        <p:spPr>
          <a:xfrm>
            <a:off x="3470834" y="2606040"/>
            <a:ext cx="2373554" cy="274320"/>
          </a:xfrm>
          <a:prstGeom prst="rect">
            <a:avLst/>
          </a:prstGeom>
          <a:noFill/>
        </p:spPr>
        <p:txBody>
          <a:bodyPr wrap="square" anchor="t" lIns="137160" tIns="137160" rIns="137160" bIns="137160"/>
          <a:lstStyle/>
          <a:p>
            <a:pPr algn="l"/>
            <a:r>
              <a:rPr lang="en-US" dirty="0" sz="1200" b="1">
                <a:solidFill>
                  <a:srgbClr val="E6EDF3"/>
                </a:solidFill>
              </a:rPr>
              <a:t>NASA</a:t>
            </a:r>
          </a:p>
        </p:txBody>
      </p:sp>
      <p:sp>
        <p:nvSpPr>
          <p:cNvPr id="30" name="TextBox 30"/>
          <p:cNvSpPr txBox="1"/>
          <p:nvPr/>
        </p:nvSpPr>
        <p:spPr>
          <a:xfrm>
            <a:off x="3470834" y="2926080"/>
            <a:ext cx="2373554" cy="2011680"/>
          </a:xfrm>
          <a:prstGeom prst="rect">
            <a:avLst/>
          </a:prstGeom>
          <a:noFill/>
        </p:spPr>
        <p:txBody>
          <a:bodyPr wrap="square" anchor="t" lIns="137160" tIns="137160" rIns="137160" bIns="137160"/>
          <a:lstStyle/>
          <a:p>
            <a:pPr algn="l">
              <a:lnSpc>
                <a:spcPts val="1700"/>
              </a:lnSpc>
            </a:pPr>
            <a:r>
              <a:rPr lang="en-US" dirty="0" sz="1100">
                <a:solidFill>
                  <a:srgbClr val="E6EDF3"/>
                </a:solidFill>
              </a:rPr>
              <a:t>U.S. Navy Captain, SpaceX Crew-1
Selected: 2013 | Spaceflights: 1
167 days in space</a:t>
            </a:r>
          </a:p>
        </p:txBody>
      </p:sp>
      <p:sp>
        <p:nvSpPr>
          <p:cNvPr id="31" name="Rectangle 31"/>
          <p:cNvSpPr/>
          <p:nvPr/>
        </p:nvSpPr>
        <p:spPr>
          <a:xfrm>
            <a:off x="6210148" y="1371600"/>
            <a:ext cx="2647874" cy="73152"/>
          </a:xfrm>
          <a:prstGeom prst="rect">
            <a:avLst/>
          </a:prstGeom>
          <a:solidFill>
            <a:srgbClr val="D29922"/>
          </a:solidFill>
        </p:spPr>
      </p:sp>
      <p:sp>
        <p:nvSpPr>
          <p:cNvPr id="32" name="Rectangle 32"/>
          <p:cNvSpPr/>
          <p:nvPr/>
        </p:nvSpPr>
        <p:spPr>
          <a:xfrm>
            <a:off x="6210148" y="1444752"/>
            <a:ext cx="2647874" cy="4114800"/>
          </a:xfrm>
          <a:prstGeom prst="roundRect">
            <a:avLst/>
          </a:prstGeom>
          <a:solidFill>
            <a:srgbClr val="161B22"/>
          </a:solidFill>
        </p:spPr>
      </p:sp>
      <p:sp>
        <p:nvSpPr>
          <p:cNvPr id="33" name="TextBox 33"/>
          <p:cNvSpPr txBox="1"/>
          <p:nvPr/>
        </p:nvSpPr>
        <p:spPr>
          <a:xfrm>
            <a:off x="6347308" y="1645920"/>
            <a:ext cx="2373554" cy="457200"/>
          </a:xfrm>
          <a:prstGeom prst="rect">
            <a:avLst/>
          </a:prstGeom>
          <a:noFill/>
        </p:spPr>
        <p:txBody>
          <a:bodyPr wrap="square" anchor="t" lIns="137160" tIns="137160" rIns="137160" bIns="137160"/>
          <a:lstStyle/>
          <a:p>
            <a:pPr algn="l"/>
            <a:r>
              <a:rPr lang="en-US" dirty="0" sz="1600" b="1">
                <a:solidFill>
                  <a:srgbClr val="E6EDF3"/>
                </a:solidFill>
              </a:rPr>
              <a:t>Christina Koch</a:t>
            </a:r>
          </a:p>
        </p:txBody>
      </p:sp>
      <p:sp>
        <p:nvSpPr>
          <p:cNvPr id="34" name="Rectangle 34"/>
          <p:cNvSpPr/>
          <p:nvPr/>
        </p:nvSpPr>
        <p:spPr>
          <a:xfrm>
            <a:off x="6347308" y="2148840"/>
            <a:ext cx="2373554" cy="320040"/>
          </a:xfrm>
          <a:prstGeom prst="roundRect">
            <a:avLst/>
          </a:prstGeom>
          <a:solidFill>
            <a:srgbClr val="D29922"/>
          </a:solidFill>
        </p:spPr>
        <p:txBody>
          <a:bodyPr wrap="square" anchor="ctr" lIns="137160" tIns="137160" rIns="137160" bIns="137160"/>
          <a:lstStyle/>
          <a:p>
            <a:pPr algn="ctr"/>
            <a:r>
              <a:rPr lang="en-US" dirty="0" sz="1100">
                <a:solidFill>
                  <a:srgbClr val="333333"/>
                </a:solidFill>
              </a:rPr>
              <a:t>Mission Specialist 1</a:t>
            </a:r>
          </a:p>
        </p:txBody>
      </p:sp>
      <p:sp>
        <p:nvSpPr>
          <p:cNvPr id="35" name="TextBox 35"/>
          <p:cNvSpPr txBox="1"/>
          <p:nvPr/>
        </p:nvSpPr>
        <p:spPr>
          <a:xfrm>
            <a:off x="6347308" y="2606040"/>
            <a:ext cx="2373554" cy="274320"/>
          </a:xfrm>
          <a:prstGeom prst="rect">
            <a:avLst/>
          </a:prstGeom>
          <a:noFill/>
        </p:spPr>
        <p:txBody>
          <a:bodyPr wrap="square" anchor="t" lIns="137160" tIns="137160" rIns="137160" bIns="137160"/>
          <a:lstStyle/>
          <a:p>
            <a:pPr algn="l"/>
            <a:r>
              <a:rPr lang="en-US" dirty="0" sz="1200" b="1">
                <a:solidFill>
                  <a:srgbClr val="E6EDF3"/>
                </a:solidFill>
              </a:rPr>
              <a:t>NASA</a:t>
            </a:r>
          </a:p>
        </p:txBody>
      </p:sp>
      <p:sp>
        <p:nvSpPr>
          <p:cNvPr id="36" name="TextBox 36"/>
          <p:cNvSpPr txBox="1"/>
          <p:nvPr/>
        </p:nvSpPr>
        <p:spPr>
          <a:xfrm>
            <a:off x="6347308" y="2926080"/>
            <a:ext cx="2373554" cy="2011680"/>
          </a:xfrm>
          <a:prstGeom prst="rect">
            <a:avLst/>
          </a:prstGeom>
          <a:noFill/>
        </p:spPr>
        <p:txBody>
          <a:bodyPr wrap="square" anchor="t" lIns="137160" tIns="137160" rIns="137160" bIns="137160"/>
          <a:lstStyle/>
          <a:p>
            <a:pPr algn="l">
              <a:lnSpc>
                <a:spcPts val="1700"/>
              </a:lnSpc>
            </a:pPr>
            <a:r>
              <a:rPr lang="en-US" dirty="0" sz="1100">
                <a:solidFill>
                  <a:srgbClr val="E6EDF3"/>
                </a:solidFill>
              </a:rPr>
              <a:t>Electrical Engineer, ISS record holder
Selected: 2013 | Spaceflights: 1
328 days in space</a:t>
            </a:r>
          </a:p>
        </p:txBody>
      </p:sp>
      <p:sp>
        <p:nvSpPr>
          <p:cNvPr id="37" name="Rectangle 37"/>
          <p:cNvSpPr/>
          <p:nvPr/>
        </p:nvSpPr>
        <p:spPr>
          <a:xfrm>
            <a:off x="9086621" y="1371600"/>
            <a:ext cx="2647874" cy="73152"/>
          </a:xfrm>
          <a:prstGeom prst="rect">
            <a:avLst/>
          </a:prstGeom>
          <a:solidFill>
            <a:srgbClr val="F85149"/>
          </a:solidFill>
        </p:spPr>
      </p:sp>
      <p:sp>
        <p:nvSpPr>
          <p:cNvPr id="38" name="Rectangle 38"/>
          <p:cNvSpPr/>
          <p:nvPr/>
        </p:nvSpPr>
        <p:spPr>
          <a:xfrm>
            <a:off x="9086621" y="1444752"/>
            <a:ext cx="2647874" cy="4114800"/>
          </a:xfrm>
          <a:prstGeom prst="roundRect">
            <a:avLst/>
          </a:prstGeom>
          <a:solidFill>
            <a:srgbClr val="161B22"/>
          </a:solidFill>
        </p:spPr>
      </p:sp>
      <p:sp>
        <p:nvSpPr>
          <p:cNvPr id="39" name="TextBox 39"/>
          <p:cNvSpPr txBox="1"/>
          <p:nvPr/>
        </p:nvSpPr>
        <p:spPr>
          <a:xfrm>
            <a:off x="9223781" y="1645920"/>
            <a:ext cx="2373554" cy="457200"/>
          </a:xfrm>
          <a:prstGeom prst="rect">
            <a:avLst/>
          </a:prstGeom>
          <a:noFill/>
        </p:spPr>
        <p:txBody>
          <a:bodyPr wrap="square" anchor="t" lIns="137160" tIns="137160" rIns="137160" bIns="137160"/>
          <a:lstStyle/>
          <a:p>
            <a:pPr algn="l"/>
            <a:r>
              <a:rPr lang="en-US" dirty="0" sz="1600" b="1">
                <a:solidFill>
                  <a:srgbClr val="E6EDF3"/>
                </a:solidFill>
              </a:rPr>
              <a:t>Jeremy Hansen</a:t>
            </a:r>
          </a:p>
        </p:txBody>
      </p:sp>
      <p:sp>
        <p:nvSpPr>
          <p:cNvPr id="40" name="Rectangle 40"/>
          <p:cNvSpPr/>
          <p:nvPr/>
        </p:nvSpPr>
        <p:spPr>
          <a:xfrm>
            <a:off x="9223781" y="2148840"/>
            <a:ext cx="2373554" cy="320040"/>
          </a:xfrm>
          <a:prstGeom prst="roundRect">
            <a:avLst/>
          </a:prstGeom>
          <a:solidFill>
            <a:srgbClr val="F85149"/>
          </a:solidFill>
        </p:spPr>
        <p:txBody>
          <a:bodyPr wrap="square" anchor="ctr" lIns="137160" tIns="137160" rIns="137160" bIns="137160"/>
          <a:lstStyle/>
          <a:p>
            <a:pPr algn="ctr"/>
            <a:r>
              <a:rPr lang="en-US" dirty="0" sz="1100">
                <a:solidFill>
                  <a:srgbClr val="333333"/>
                </a:solidFill>
              </a:rPr>
              <a:t>Mission Specialist 2</a:t>
            </a:r>
          </a:p>
        </p:txBody>
      </p:sp>
      <p:sp>
        <p:nvSpPr>
          <p:cNvPr id="41" name="TextBox 41"/>
          <p:cNvSpPr txBox="1"/>
          <p:nvPr/>
        </p:nvSpPr>
        <p:spPr>
          <a:xfrm>
            <a:off x="9223781" y="2606040"/>
            <a:ext cx="2373554" cy="274320"/>
          </a:xfrm>
          <a:prstGeom prst="rect">
            <a:avLst/>
          </a:prstGeom>
          <a:noFill/>
        </p:spPr>
        <p:txBody>
          <a:bodyPr wrap="square" anchor="t" lIns="137160" tIns="137160" rIns="137160" bIns="137160"/>
          <a:lstStyle/>
          <a:p>
            <a:pPr algn="l"/>
            <a:r>
              <a:rPr lang="en-US" dirty="0" sz="1200" b="1">
                <a:solidFill>
                  <a:srgbClr val="E6EDF3"/>
                </a:solidFill>
              </a:rPr>
              <a:t>CSA</a:t>
            </a:r>
          </a:p>
        </p:txBody>
      </p:sp>
      <p:sp>
        <p:nvSpPr>
          <p:cNvPr id="42" name="TextBox 42"/>
          <p:cNvSpPr txBox="1"/>
          <p:nvPr/>
        </p:nvSpPr>
        <p:spPr>
          <a:xfrm>
            <a:off x="9223781" y="2926080"/>
            <a:ext cx="2373554" cy="2011680"/>
          </a:xfrm>
          <a:prstGeom prst="rect">
            <a:avLst/>
          </a:prstGeom>
          <a:noFill/>
        </p:spPr>
        <p:txBody>
          <a:bodyPr wrap="square" anchor="t" lIns="137160" tIns="137160" rIns="137160" bIns="137160"/>
          <a:lstStyle/>
          <a:p>
            <a:pPr algn="l">
              <a:lnSpc>
                <a:spcPts val="1700"/>
              </a:lnSpc>
            </a:pPr>
            <a:r>
              <a:rPr lang="en-US" dirty="0" sz="1100">
                <a:solidFill>
                  <a:srgbClr val="E6EDF3"/>
                </a:solidFill>
              </a:rPr>
              <a:t>Canadian Forces Colonel, Fighter Pilot
Selected: 2009 | Spaceflights: 0
First Canadian to fly to the Moon</a:t>
            </a:r>
          </a:p>
        </p:txBody>
      </p:sp>
      <p:sp>
        <p:nvSpPr>
          <p:cNvPr id="141" name="TextBox 141"/>
          <p:cNvSpPr txBox="1"/>
          <p:nvPr/>
        </p:nvSpPr>
        <p:spPr>
          <a:xfrm>
            <a:off x="10972800" y="6400800"/>
            <a:ext cx="731520" cy="365760"/>
          </a:xfrm>
          <a:prstGeom prst="rect">
            <a:avLst/>
          </a:prstGeom>
          <a:noFill/>
        </p:spPr>
        <p:txBody>
          <a:bodyPr wrap="square" anchor="t" lIns="137160" tIns="137160" rIns="137160" bIns="137160"/>
          <a:lstStyle/>
          <a:p>
            <a:pPr algn="r"/>
            <a:r>
              <a:rPr lang="en-US" dirty="0" sz="1000">
                <a:solidFill>
                  <a:srgbClr val="FFFFFF"/>
                </a:solidFill>
              </a:rPr>
              <a:t>4</a:t>
            </a:r>
          </a:p>
        </p:txBody>
      </p:sp>
      <p:sp>
        <p:nvSpPr>
          <p:cNvPr id="157" name="TextBox 157"/>
          <p:cNvSpPr txBox="1"/>
          <p:nvPr/>
        </p:nvSpPr>
        <p:spPr>
          <a:xfrm>
            <a:off x="457200" y="6400800"/>
            <a:ext cx="7315200" cy="365760"/>
          </a:xfrm>
          <a:prstGeom prst="rect">
            <a:avLst/>
          </a:prstGeom>
          <a:noFill/>
        </p:spPr>
        <p:txBody>
          <a:bodyPr wrap="square" anchor="t" lIns="137160" tIns="137160" rIns="137160" bIns="137160"/>
          <a:lstStyle/>
          <a:p>
            <a:pPr algn="l"/>
            <a:r>
              <a:rPr lang="en-US" dirty="0" sz="800">
                <a:solidFill>
                  <a:srgbClr val="FFFFFF"/>
                </a:solidFill>
              </a:rPr>
              <a:t>NASA Artemis II Mission Briefing  |  April 2026</a:t>
            </a:r>
          </a:p>
        </p:txBody>
      </p:sp>
    </p:spTree>
  </p:cSld>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43" name="Image 3"/>
          <p:cNvPicPr>
            <a:picLocks noChangeAspect="1"/>
          </p:cNvPicPr>
          <p:nvPr/>
        </p:nvPicPr>
        <p:blipFill>
          <a:blip r:embed="rId2"/>
          <a:stretch>
            <a:fillRect/>
          </a:stretch>
        </p:blipFill>
        <p:spPr>
          <a:xfrm>
            <a:off x="0" y="0"/>
            <a:ext cx="12191695" cy="6858000"/>
          </a:xfrm>
          <a:prstGeom prst="rect">
            <a:avLst/>
          </a:prstGeom>
        </p:spPr>
      </p:pic>
      <p:sp>
        <p:nvSpPr>
          <p:cNvPr id="44" name="Rectangle 44"/>
          <p:cNvSpPr/>
          <p:nvPr/>
        </p:nvSpPr>
        <p:spPr>
          <a:xfrm>
            <a:off x="0" y="0"/>
            <a:ext cx="12191695" cy="6858000"/>
          </a:xfrm>
          <a:prstGeom prst="rect">
            <a:avLst/>
          </a:prstGeom>
          <a:solidFill>
            <a:srgbClr val="0D1117">
              <a:alpha val="40000"/>
            </a:srgbClr>
          </a:solidFill>
        </p:spPr>
      </p:sp>
      <p:sp>
        <p:nvSpPr>
          <p:cNvPr id="45" name="TextBox 45"/>
          <p:cNvSpPr txBox="1"/>
          <p:nvPr/>
        </p:nvSpPr>
        <p:spPr>
          <a:xfrm>
            <a:off x="731520" y="2560320"/>
            <a:ext cx="10515600" cy="1371600"/>
          </a:xfrm>
          <a:prstGeom prst="rect">
            <a:avLst/>
          </a:prstGeom>
          <a:noFill/>
        </p:spPr>
        <p:txBody>
          <a:bodyPr wrap="square" anchor="t" lIns="137160" tIns="137160" rIns="137160" bIns="137160"/>
          <a:lstStyle/>
          <a:p>
            <a:pPr algn="l"/>
            <a:r>
              <a:rPr lang="en-US" dirty="0" sz="3600" b="1">
                <a:solidFill>
                  <a:srgbClr val="FFFFFF"/>
                </a:solidFill>
              </a:rPr>
              <a:t>THE ARTEMIS II CREW</a:t>
            </a:r>
          </a:p>
        </p:txBody>
      </p:sp>
      <p:sp>
        <p:nvSpPr>
          <p:cNvPr id="46" name="TextBox 46"/>
          <p:cNvSpPr txBox="1"/>
          <p:nvPr/>
        </p:nvSpPr>
        <p:spPr>
          <a:xfrm>
            <a:off x="731520" y="3840480"/>
            <a:ext cx="10515600" cy="731520"/>
          </a:xfrm>
          <a:prstGeom prst="rect">
            <a:avLst/>
          </a:prstGeom>
          <a:noFill/>
        </p:spPr>
        <p:txBody>
          <a:bodyPr wrap="square" anchor="t" lIns="137160" tIns="137160" rIns="137160" bIns="137160"/>
          <a:lstStyle/>
          <a:p>
            <a:pPr algn="l"/>
            <a:r>
              <a:rPr lang="en-US" dirty="0" sz="1800">
                <a:solidFill>
                  <a:srgbClr val="FFFFFF"/>
                </a:solidFill>
              </a:rPr>
              <a:t>Training for humanity's return to deep space</a:t>
            </a:r>
          </a:p>
        </p:txBody>
      </p:sp>
      <p:sp>
        <p:nvSpPr>
          <p:cNvPr id="142" name="TextBox 142"/>
          <p:cNvSpPr txBox="1"/>
          <p:nvPr/>
        </p:nvSpPr>
        <p:spPr>
          <a:xfrm>
            <a:off x="10972800" y="6400800"/>
            <a:ext cx="731520" cy="365760"/>
          </a:xfrm>
          <a:prstGeom prst="rect">
            <a:avLst/>
          </a:prstGeom>
          <a:noFill/>
        </p:spPr>
        <p:txBody>
          <a:bodyPr wrap="square" anchor="t" lIns="137160" tIns="137160" rIns="137160" bIns="137160"/>
          <a:lstStyle/>
          <a:p>
            <a:pPr algn="r"/>
            <a:r>
              <a:rPr lang="en-US" dirty="0" sz="1000">
                <a:solidFill>
                  <a:srgbClr val="FFFFFF"/>
                </a:solidFill>
              </a:rPr>
              <a:t>5</a:t>
            </a:r>
          </a:p>
        </p:txBody>
      </p:sp>
      <p:sp>
        <p:nvSpPr>
          <p:cNvPr id="158" name="TextBox 158"/>
          <p:cNvSpPr txBox="1"/>
          <p:nvPr/>
        </p:nvSpPr>
        <p:spPr>
          <a:xfrm>
            <a:off x="457200" y="6400800"/>
            <a:ext cx="7315200" cy="365760"/>
          </a:xfrm>
          <a:prstGeom prst="rect">
            <a:avLst/>
          </a:prstGeom>
          <a:noFill/>
        </p:spPr>
        <p:txBody>
          <a:bodyPr wrap="square" anchor="t" lIns="137160" tIns="137160" rIns="137160" bIns="137160"/>
          <a:lstStyle/>
          <a:p>
            <a:pPr algn="l"/>
            <a:r>
              <a:rPr lang="en-US" dirty="0" sz="800">
                <a:solidFill>
                  <a:srgbClr val="FFFFFF"/>
                </a:solidFill>
              </a:rPr>
              <a:t>NASA Artemis II Mission Briefing  |  April 2026</a:t>
            </a:r>
          </a:p>
        </p:txBody>
      </p:sp>
    </p:spTree>
  </p:cSld>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58A6FF"/>
        </a:solidFill>
        <a:effectLst/>
      </p:bgPr>
    </p:bg>
    <p:spTree>
      <p:nvGrpSpPr>
        <p:cNvPr id="1" name=""/>
        <p:cNvGrpSpPr/>
        <p:nvPr/>
      </p:nvGrpSpPr>
      <p:grpSpPr>
        <a:xfrm>
          <a:off x="0" y="0"/>
          <a:ext cx="0" cy="0"/>
          <a:chOff x="0" y="0"/>
          <a:chExt cx="0" cy="0"/>
        </a:xfrm>
      </p:grpSpPr>
      <p:sp>
        <p:nvSpPr>
          <p:cNvPr id="47" name="Rectangle 47"/>
          <p:cNvSpPr/>
          <p:nvPr/>
        </p:nvSpPr>
        <p:spPr>
          <a:xfrm>
            <a:off x="457200" y="2926080"/>
            <a:ext cx="2743200" cy="73152"/>
          </a:xfrm>
          <a:prstGeom prst="rect">
            <a:avLst/>
          </a:prstGeom>
          <a:solidFill>
            <a:srgbClr val="E6EDF3"/>
          </a:solidFill>
        </p:spPr>
      </p:sp>
      <p:sp>
        <p:nvSpPr>
          <p:cNvPr id="48" name="TextBox 48"/>
          <p:cNvSpPr txBox="1"/>
          <p:nvPr/>
        </p:nvSpPr>
        <p:spPr>
          <a:xfrm>
            <a:off x="457200" y="1828800"/>
            <a:ext cx="10972800" cy="1371600"/>
          </a:xfrm>
          <a:prstGeom prst="rect">
            <a:avLst/>
          </a:prstGeom>
          <a:noFill/>
        </p:spPr>
        <p:txBody>
          <a:bodyPr wrap="square" anchor="t" lIns="137160" tIns="137160" rIns="137160" bIns="137160"/>
          <a:lstStyle/>
          <a:p>
            <a:pPr algn="l"/>
            <a:r>
              <a:rPr lang="en-US" dirty="0" sz="3600" b="1">
                <a:solidFill>
                  <a:srgbClr val="E6EDF3"/>
                </a:solidFill>
              </a:rPr>
              <a:t>SPACECRAFT SPECIFICATIONS</a:t>
            </a:r>
          </a:p>
        </p:txBody>
      </p:sp>
      <p:sp>
        <p:nvSpPr>
          <p:cNvPr id="49" name="TextBox 49"/>
          <p:cNvSpPr txBox="1"/>
          <p:nvPr/>
        </p:nvSpPr>
        <p:spPr>
          <a:xfrm>
            <a:off x="457200" y="3200400"/>
            <a:ext cx="10972800" cy="914400"/>
          </a:xfrm>
          <a:prstGeom prst="rect">
            <a:avLst/>
          </a:prstGeom>
          <a:noFill/>
        </p:spPr>
        <p:txBody>
          <a:bodyPr wrap="square" anchor="t" lIns="137160" tIns="137160" rIns="137160" bIns="137160"/>
          <a:lstStyle/>
          <a:p>
            <a:pPr algn="l"/>
            <a:r>
              <a:rPr lang="en-US" dirty="0" sz="1800">
                <a:solidFill>
                  <a:srgbClr val="E6EDF3"/>
                </a:solidFill>
              </a:rPr>
              <a:t>Space Launch System &amp; Orion Multi-Purpose Crew Vehicle</a:t>
            </a:r>
          </a:p>
        </p:txBody>
      </p:sp>
      <p:sp>
        <p:nvSpPr>
          <p:cNvPr id="143" name="TextBox 143"/>
          <p:cNvSpPr txBox="1"/>
          <p:nvPr/>
        </p:nvSpPr>
        <p:spPr>
          <a:xfrm>
            <a:off x="10972800" y="6400800"/>
            <a:ext cx="731520" cy="365760"/>
          </a:xfrm>
          <a:prstGeom prst="rect">
            <a:avLst/>
          </a:prstGeom>
          <a:noFill/>
        </p:spPr>
        <p:txBody>
          <a:bodyPr wrap="square" anchor="t" lIns="137160" tIns="137160" rIns="137160" bIns="137160"/>
          <a:lstStyle/>
          <a:p>
            <a:pPr algn="r"/>
            <a:r>
              <a:rPr lang="en-US" dirty="0" sz="1000">
                <a:solidFill>
                  <a:srgbClr val="333333"/>
                </a:solidFill>
              </a:rPr>
              <a:t>6</a:t>
            </a:r>
          </a:p>
        </p:txBody>
      </p:sp>
      <p:sp>
        <p:nvSpPr>
          <p:cNvPr id="159" name="TextBox 159"/>
          <p:cNvSpPr txBox="1"/>
          <p:nvPr/>
        </p:nvSpPr>
        <p:spPr>
          <a:xfrm>
            <a:off x="457200" y="6400800"/>
            <a:ext cx="7315200" cy="365760"/>
          </a:xfrm>
          <a:prstGeom prst="rect">
            <a:avLst/>
          </a:prstGeom>
          <a:noFill/>
        </p:spPr>
        <p:txBody>
          <a:bodyPr wrap="square" anchor="t" lIns="137160" tIns="137160" rIns="137160" bIns="137160"/>
          <a:lstStyle/>
          <a:p>
            <a:pPr algn="l"/>
            <a:r>
              <a:rPr lang="en-US" dirty="0" sz="800">
                <a:solidFill>
                  <a:srgbClr val="333333"/>
                </a:solidFill>
              </a:rPr>
              <a:t>NASA Artemis II Mission Briefing  |  April 2026</a:t>
            </a:r>
          </a:p>
        </p:txBody>
      </p:sp>
    </p:spTree>
  </p:cSld>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50" name="Rectangle 50"/>
          <p:cNvSpPr/>
          <p:nvPr/>
        </p:nvSpPr>
        <p:spPr>
          <a:xfrm>
            <a:off x="0" y="0"/>
            <a:ext cx="12191695" cy="1005840"/>
          </a:xfrm>
          <a:prstGeom prst="rect">
            <a:avLst/>
          </a:prstGeom>
          <a:solidFill>
            <a:srgbClr val="161B22"/>
          </a:solidFill>
        </p:spPr>
      </p:sp>
      <p:sp>
        <p:nvSpPr>
          <p:cNvPr id="51" name="TextBox 51"/>
          <p:cNvSpPr txBox="1"/>
          <p:nvPr/>
        </p:nvSpPr>
        <p:spPr>
          <a:xfrm>
            <a:off x="548640" y="137160"/>
            <a:ext cx="9144000" cy="731520"/>
          </a:xfrm>
          <a:prstGeom prst="rect">
            <a:avLst/>
          </a:prstGeom>
          <a:noFill/>
        </p:spPr>
        <p:txBody>
          <a:bodyPr wrap="square" anchor="t" lIns="137160" tIns="137160" rIns="137160" bIns="137160"/>
          <a:lstStyle/>
          <a:p>
            <a:pPr algn="l"/>
            <a:r>
              <a:rPr lang="en-US" dirty="0" sz="3000" b="1">
                <a:solidFill>
                  <a:srgbClr val="E6EDF3"/>
                </a:solidFill>
              </a:rPr>
              <a:t>SPACE LAUNCH SYSTEM (SLS)</a:t>
            </a:r>
          </a:p>
        </p:txBody>
      </p:sp>
      <p:cxnSp>
        <p:nvCxnSpPr>
          <p:cNvPr id="52" name="Line 52"/>
          <p:cNvCxnSpPr/>
          <p:nvPr/>
        </p:nvCxnSpPr>
        <p:spPr>
          <a:xfrm>
            <a:off x="548640" y="1005840"/>
            <a:ext cx="11091672" cy="1"/>
          </a:xfrm>
          <a:prstGeom prst="line">
            <a:avLst/>
          </a:prstGeom>
          <a:ln w="25400">
            <a:solidFill>
              <a:srgbClr val="58A6FF"/>
            </a:solidFill>
          </a:ln>
        </p:spPr>
      </p:cxnSp>
      <p:graphicFrame>
        <p:nvGraphicFramePr>
          <p:cNvPr id="53" name="Table"/>
          <p:cNvGraphicFramePr>
            <a:graphicFrameLocks noGrp="1"/>
          </p:cNvGraphicFramePr>
          <p:nvPr/>
        </p:nvGraphicFramePr>
        <p:xfrm>
          <a:off x="548640" y="1371600"/>
          <a:ext cx="5303520" cy="3840480"/>
        </p:xfrm>
        <a:graphic>
          <a:graphicData uri="http://schemas.openxmlformats.org/drawingml/2006/table">
            <a:tbl>
              <a:tblPr firstRow="1" bandRow="1"/>
              <a:tblGrid>
                <a:gridCol w="2651760"/>
                <a:gridCol w="2651760"/>
              </a:tblGrid>
              <a:tr h="320040">
                <a:tc>
                  <a:txBody>
                    <a:bodyPr/>
                    <a:lstStyle/>
                    <a:p>
                      <a:pPr algn="l"/>
                      <a:r>
                        <a:rPr lang="en-US" sz="1100" dirty="0">
                          <a:solidFill>
                            <a:srgbClr val="333333"/>
                          </a:solidFill>
                        </a:rPr>
                        <a:t>Vehicle Type</a:t>
                      </a:r>
                    </a:p>
                  </a:txBody>
                  <a:tcPr marL="68580" marR="68580" marT="34290" marB="34290">
                    <a:lnL w="12700">
                      <a:solidFill>
                        <a:srgbClr val="E0E0E0"/>
                      </a:solidFill>
                    </a:lnL>
                    <a:lnR w="12700">
                      <a:solidFill>
                        <a:srgbClr val="E0E0E0"/>
                      </a:solidFill>
                    </a:lnR>
                    <a:lnT w="12700">
                      <a:solidFill>
                        <a:srgbClr val="E0E0E0"/>
                      </a:solidFill>
                    </a:lnT>
                    <a:lnB w="12700">
                      <a:solidFill>
                        <a:srgbClr val="E0E0E0"/>
                      </a:solidFill>
                    </a:lnB>
                  </a:tcPr>
                </a:tc>
                <a:tc>
                  <a:txBody>
                    <a:bodyPr/>
                    <a:lstStyle/>
                    <a:p>
                      <a:pPr algn="l"/>
                      <a:r>
                        <a:rPr lang="en-US" sz="1100" dirty="0">
                          <a:solidFill>
                            <a:srgbClr val="333333"/>
                          </a:solidFill>
                        </a:rPr>
                        <a:t>Super Heavy-Lift Launch Vehicle</a:t>
                      </a:r>
                    </a:p>
                  </a:txBody>
                  <a:tcPr marL="68580" marR="68580" marT="34290" marB="34290">
                    <a:lnL w="12700">
                      <a:solidFill>
                        <a:srgbClr val="E0E0E0"/>
                      </a:solidFill>
                    </a:lnL>
                    <a:lnR w="12700">
                      <a:solidFill>
                        <a:srgbClr val="E0E0E0"/>
                      </a:solidFill>
                    </a:lnR>
                    <a:lnT w="12700">
                      <a:solidFill>
                        <a:srgbClr val="E0E0E0"/>
                      </a:solidFill>
                    </a:lnT>
                    <a:lnB w="12700">
                      <a:solidFill>
                        <a:srgbClr val="E0E0E0"/>
                      </a:solidFill>
                    </a:lnB>
                  </a:tcPr>
                </a:tc>
              </a:tr>
              <a:tr h="320040">
                <a:tc>
                  <a:txBody>
                    <a:bodyPr/>
                    <a:lstStyle/>
                    <a:p>
                      <a:pPr algn="l"/>
                      <a:r>
                        <a:rPr lang="en-US" sz="1100" dirty="0">
                          <a:solidFill>
                            <a:srgbClr val="333333"/>
                          </a:solidFill>
                        </a:rPr>
                        <a:t>Configuration</a:t>
                      </a:r>
                    </a:p>
                  </a:txBody>
                  <a:tcPr marL="68580" marR="68580" marT="34290" marB="34290">
                    <a:lnL w="12700">
                      <a:solidFill>
                        <a:srgbClr val="E0E0E0"/>
                      </a:solidFill>
                    </a:lnL>
                    <a:lnR w="12700">
                      <a:solidFill>
                        <a:srgbClr val="E0E0E0"/>
                      </a:solidFill>
                    </a:lnR>
                    <a:lnT w="12700">
                      <a:solidFill>
                        <a:srgbClr val="E0E0E0"/>
                      </a:solidFill>
                    </a:lnT>
                    <a:lnB w="12700">
                      <a:solidFill>
                        <a:srgbClr val="E0E0E0"/>
                      </a:solidFill>
                    </a:lnB>
                    <a:solidFill>
                      <a:srgbClr val="F5F5F5"/>
                    </a:solidFill>
                  </a:tcPr>
                </a:tc>
                <a:tc>
                  <a:txBody>
                    <a:bodyPr/>
                    <a:lstStyle/>
                    <a:p>
                      <a:pPr algn="l"/>
                      <a:r>
                        <a:rPr lang="en-US" sz="1100" dirty="0">
                          <a:solidFill>
                            <a:srgbClr val="333333"/>
                          </a:solidFill>
                        </a:rPr>
                        <a:t>Block 1 Crew</a:t>
                      </a:r>
                    </a:p>
                  </a:txBody>
                  <a:tcPr marL="68580" marR="68580" marT="34290" marB="34290">
                    <a:lnL w="12700">
                      <a:solidFill>
                        <a:srgbClr val="E0E0E0"/>
                      </a:solidFill>
                    </a:lnL>
                    <a:lnR w="12700">
                      <a:solidFill>
                        <a:srgbClr val="E0E0E0"/>
                      </a:solidFill>
                    </a:lnR>
                    <a:lnT w="12700">
                      <a:solidFill>
                        <a:srgbClr val="E0E0E0"/>
                      </a:solidFill>
                    </a:lnT>
                    <a:lnB w="12700">
                      <a:solidFill>
                        <a:srgbClr val="E0E0E0"/>
                      </a:solidFill>
                    </a:lnB>
                    <a:solidFill>
                      <a:srgbClr val="F5F5F5"/>
                    </a:solidFill>
                  </a:tcPr>
                </a:tc>
              </a:tr>
              <a:tr h="320040">
                <a:tc>
                  <a:txBody>
                    <a:bodyPr/>
                    <a:lstStyle/>
                    <a:p>
                      <a:pPr algn="l"/>
                      <a:r>
                        <a:rPr lang="en-US" sz="1100" dirty="0">
                          <a:solidFill>
                            <a:srgbClr val="333333"/>
                          </a:solidFill>
                        </a:rPr>
                        <a:t>Height</a:t>
                      </a:r>
                    </a:p>
                  </a:txBody>
                  <a:tcPr marL="68580" marR="68580" marT="34290" marB="34290">
                    <a:lnL w="12700">
                      <a:solidFill>
                        <a:srgbClr val="E0E0E0"/>
                      </a:solidFill>
                    </a:lnL>
                    <a:lnR w="12700">
                      <a:solidFill>
                        <a:srgbClr val="E0E0E0"/>
                      </a:solidFill>
                    </a:lnR>
                    <a:lnT w="12700">
                      <a:solidFill>
                        <a:srgbClr val="E0E0E0"/>
                      </a:solidFill>
                    </a:lnT>
                    <a:lnB w="12700">
                      <a:solidFill>
                        <a:srgbClr val="E0E0E0"/>
                      </a:solidFill>
                    </a:lnB>
                  </a:tcPr>
                </a:tc>
                <a:tc>
                  <a:txBody>
                    <a:bodyPr/>
                    <a:lstStyle/>
                    <a:p>
                      <a:pPr algn="l"/>
                      <a:r>
                        <a:rPr lang="en-US" sz="1100" dirty="0">
                          <a:solidFill>
                            <a:srgbClr val="333333"/>
                          </a:solidFill>
                        </a:rPr>
                        <a:t>98.1 m (322 ft)</a:t>
                      </a:r>
                    </a:p>
                  </a:txBody>
                  <a:tcPr marL="68580" marR="68580" marT="34290" marB="34290">
                    <a:lnL w="12700">
                      <a:solidFill>
                        <a:srgbClr val="E0E0E0"/>
                      </a:solidFill>
                    </a:lnL>
                    <a:lnR w="12700">
                      <a:solidFill>
                        <a:srgbClr val="E0E0E0"/>
                      </a:solidFill>
                    </a:lnR>
                    <a:lnT w="12700">
                      <a:solidFill>
                        <a:srgbClr val="E0E0E0"/>
                      </a:solidFill>
                    </a:lnT>
                    <a:lnB w="12700">
                      <a:solidFill>
                        <a:srgbClr val="E0E0E0"/>
                      </a:solidFill>
                    </a:lnB>
                  </a:tcPr>
                </a:tc>
              </a:tr>
              <a:tr h="320040">
                <a:tc>
                  <a:txBody>
                    <a:bodyPr/>
                    <a:lstStyle/>
                    <a:p>
                      <a:pPr algn="l"/>
                      <a:r>
                        <a:rPr lang="en-US" sz="1100" dirty="0">
                          <a:solidFill>
                            <a:srgbClr val="333333"/>
                          </a:solidFill>
                        </a:rPr>
                        <a:t>Diameter</a:t>
                      </a:r>
                    </a:p>
                  </a:txBody>
                  <a:tcPr marL="68580" marR="68580" marT="34290" marB="34290">
                    <a:lnL w="12700">
                      <a:solidFill>
                        <a:srgbClr val="E0E0E0"/>
                      </a:solidFill>
                    </a:lnL>
                    <a:lnR w="12700">
                      <a:solidFill>
                        <a:srgbClr val="E0E0E0"/>
                      </a:solidFill>
                    </a:lnR>
                    <a:lnT w="12700">
                      <a:solidFill>
                        <a:srgbClr val="E0E0E0"/>
                      </a:solidFill>
                    </a:lnT>
                    <a:lnB w="12700">
                      <a:solidFill>
                        <a:srgbClr val="E0E0E0"/>
                      </a:solidFill>
                    </a:lnB>
                    <a:solidFill>
                      <a:srgbClr val="F5F5F5"/>
                    </a:solidFill>
                  </a:tcPr>
                </a:tc>
                <a:tc>
                  <a:txBody>
                    <a:bodyPr/>
                    <a:lstStyle/>
                    <a:p>
                      <a:pPr algn="l"/>
                      <a:r>
                        <a:rPr lang="en-US" sz="1100" dirty="0">
                          <a:solidFill>
                            <a:srgbClr val="333333"/>
                          </a:solidFill>
                        </a:rPr>
                        <a:t>8.4 m (27.6 ft) Core Stage</a:t>
                      </a:r>
                    </a:p>
                  </a:txBody>
                  <a:tcPr marL="68580" marR="68580" marT="34290" marB="34290">
                    <a:lnL w="12700">
                      <a:solidFill>
                        <a:srgbClr val="E0E0E0"/>
                      </a:solidFill>
                    </a:lnL>
                    <a:lnR w="12700">
                      <a:solidFill>
                        <a:srgbClr val="E0E0E0"/>
                      </a:solidFill>
                    </a:lnR>
                    <a:lnT w="12700">
                      <a:solidFill>
                        <a:srgbClr val="E0E0E0"/>
                      </a:solidFill>
                    </a:lnT>
                    <a:lnB w="12700">
                      <a:solidFill>
                        <a:srgbClr val="E0E0E0"/>
                      </a:solidFill>
                    </a:lnB>
                    <a:solidFill>
                      <a:srgbClr val="F5F5F5"/>
                    </a:solidFill>
                  </a:tcPr>
                </a:tc>
              </a:tr>
              <a:tr h="320040">
                <a:tc>
                  <a:txBody>
                    <a:bodyPr/>
                    <a:lstStyle/>
                    <a:p>
                      <a:pPr algn="l"/>
                      <a:r>
                        <a:rPr lang="en-US" sz="1100" dirty="0">
                          <a:solidFill>
                            <a:srgbClr val="333333"/>
                          </a:solidFill>
                        </a:rPr>
                        <a:t>Payload to TLI</a:t>
                      </a:r>
                    </a:p>
                  </a:txBody>
                  <a:tcPr marL="68580" marR="68580" marT="34290" marB="34290">
                    <a:lnL w="12700">
                      <a:solidFill>
                        <a:srgbClr val="E0E0E0"/>
                      </a:solidFill>
                    </a:lnL>
                    <a:lnR w="12700">
                      <a:solidFill>
                        <a:srgbClr val="E0E0E0"/>
                      </a:solidFill>
                    </a:lnR>
                    <a:lnT w="12700">
                      <a:solidFill>
                        <a:srgbClr val="E0E0E0"/>
                      </a:solidFill>
                    </a:lnT>
                    <a:lnB w="12700">
                      <a:solidFill>
                        <a:srgbClr val="E0E0E0"/>
                      </a:solidFill>
                    </a:lnB>
                  </a:tcPr>
                </a:tc>
                <a:tc>
                  <a:txBody>
                    <a:bodyPr/>
                    <a:lstStyle/>
                    <a:p>
                      <a:pPr algn="l"/>
                      <a:r>
                        <a:rPr lang="en-US" sz="1100" dirty="0">
                          <a:solidFill>
                            <a:srgbClr val="333333"/>
                          </a:solidFill>
                        </a:rPr>
                        <a:t>27,000 kg (59,500 lb)</a:t>
                      </a:r>
                    </a:p>
                  </a:txBody>
                  <a:tcPr marL="68580" marR="68580" marT="34290" marB="34290">
                    <a:lnL w="12700">
                      <a:solidFill>
                        <a:srgbClr val="E0E0E0"/>
                      </a:solidFill>
                    </a:lnL>
                    <a:lnR w="12700">
                      <a:solidFill>
                        <a:srgbClr val="E0E0E0"/>
                      </a:solidFill>
                    </a:lnR>
                    <a:lnT w="12700">
                      <a:solidFill>
                        <a:srgbClr val="E0E0E0"/>
                      </a:solidFill>
                    </a:lnT>
                    <a:lnB w="12700">
                      <a:solidFill>
                        <a:srgbClr val="E0E0E0"/>
                      </a:solidFill>
                    </a:lnB>
                  </a:tcPr>
                </a:tc>
              </a:tr>
              <a:tr h="320040">
                <a:tc>
                  <a:txBody>
                    <a:bodyPr/>
                    <a:lstStyle/>
                    <a:p>
                      <a:pPr algn="l"/>
                      <a:r>
                        <a:rPr lang="en-US" sz="1100" dirty="0">
                          <a:solidFill>
                            <a:srgbClr val="333333"/>
                          </a:solidFill>
                        </a:rPr>
                        <a:t>Payload to LEO</a:t>
                      </a:r>
                    </a:p>
                  </a:txBody>
                  <a:tcPr marL="68580" marR="68580" marT="34290" marB="34290">
                    <a:lnL w="12700">
                      <a:solidFill>
                        <a:srgbClr val="E0E0E0"/>
                      </a:solidFill>
                    </a:lnL>
                    <a:lnR w="12700">
                      <a:solidFill>
                        <a:srgbClr val="E0E0E0"/>
                      </a:solidFill>
                    </a:lnR>
                    <a:lnT w="12700">
                      <a:solidFill>
                        <a:srgbClr val="E0E0E0"/>
                      </a:solidFill>
                    </a:lnT>
                    <a:lnB w="12700">
                      <a:solidFill>
                        <a:srgbClr val="E0E0E0"/>
                      </a:solidFill>
                    </a:lnB>
                    <a:solidFill>
                      <a:srgbClr val="F5F5F5"/>
                    </a:solidFill>
                  </a:tcPr>
                </a:tc>
                <a:tc>
                  <a:txBody>
                    <a:bodyPr/>
                    <a:lstStyle/>
                    <a:p>
                      <a:pPr algn="l"/>
                      <a:r>
                        <a:rPr lang="en-US" sz="1100" dirty="0">
                          <a:solidFill>
                            <a:srgbClr val="333333"/>
                          </a:solidFill>
                        </a:rPr>
                        <a:t>95,000 kg (209,000 lb)</a:t>
                      </a:r>
                    </a:p>
                  </a:txBody>
                  <a:tcPr marL="68580" marR="68580" marT="34290" marB="34290">
                    <a:lnL w="12700">
                      <a:solidFill>
                        <a:srgbClr val="E0E0E0"/>
                      </a:solidFill>
                    </a:lnL>
                    <a:lnR w="12700">
                      <a:solidFill>
                        <a:srgbClr val="E0E0E0"/>
                      </a:solidFill>
                    </a:lnR>
                    <a:lnT w="12700">
                      <a:solidFill>
                        <a:srgbClr val="E0E0E0"/>
                      </a:solidFill>
                    </a:lnT>
                    <a:lnB w="12700">
                      <a:solidFill>
                        <a:srgbClr val="E0E0E0"/>
                      </a:solidFill>
                    </a:lnB>
                    <a:solidFill>
                      <a:srgbClr val="F5F5F5"/>
                    </a:solidFill>
                  </a:tcPr>
                </a:tc>
              </a:tr>
              <a:tr h="320040">
                <a:tc>
                  <a:txBody>
                    <a:bodyPr/>
                    <a:lstStyle/>
                    <a:p>
                      <a:pPr algn="l"/>
                      <a:r>
                        <a:rPr lang="en-US" sz="1100" dirty="0">
                          <a:solidFill>
                            <a:srgbClr val="333333"/>
                          </a:solidFill>
                        </a:rPr>
                        <a:t>Core Stage Engines</a:t>
                      </a:r>
                    </a:p>
                  </a:txBody>
                  <a:tcPr marL="68580" marR="68580" marT="34290" marB="34290">
                    <a:lnL w="12700">
                      <a:solidFill>
                        <a:srgbClr val="E0E0E0"/>
                      </a:solidFill>
                    </a:lnL>
                    <a:lnR w="12700">
                      <a:solidFill>
                        <a:srgbClr val="E0E0E0"/>
                      </a:solidFill>
                    </a:lnR>
                    <a:lnT w="12700">
                      <a:solidFill>
                        <a:srgbClr val="E0E0E0"/>
                      </a:solidFill>
                    </a:lnT>
                    <a:lnB w="12700">
                      <a:solidFill>
                        <a:srgbClr val="E0E0E0"/>
                      </a:solidFill>
                    </a:lnB>
                  </a:tcPr>
                </a:tc>
                <a:tc>
                  <a:txBody>
                    <a:bodyPr/>
                    <a:lstStyle/>
                    <a:p>
                      <a:pPr algn="l"/>
                      <a:r>
                        <a:rPr lang="en-US" sz="1100" dirty="0">
                          <a:solidFill>
                            <a:srgbClr val="333333"/>
                          </a:solidFill>
                        </a:rPr>
                        <a:t>4x RS-25 (2,279 kN each)</a:t>
                      </a:r>
                    </a:p>
                  </a:txBody>
                  <a:tcPr marL="68580" marR="68580" marT="34290" marB="34290">
                    <a:lnL w="12700">
                      <a:solidFill>
                        <a:srgbClr val="E0E0E0"/>
                      </a:solidFill>
                    </a:lnL>
                    <a:lnR w="12700">
                      <a:solidFill>
                        <a:srgbClr val="E0E0E0"/>
                      </a:solidFill>
                    </a:lnR>
                    <a:lnT w="12700">
                      <a:solidFill>
                        <a:srgbClr val="E0E0E0"/>
                      </a:solidFill>
                    </a:lnT>
                    <a:lnB w="12700">
                      <a:solidFill>
                        <a:srgbClr val="E0E0E0"/>
                      </a:solidFill>
                    </a:lnB>
                  </a:tcPr>
                </a:tc>
              </a:tr>
              <a:tr h="320040">
                <a:tc>
                  <a:txBody>
                    <a:bodyPr/>
                    <a:lstStyle/>
                    <a:p>
                      <a:pPr algn="l"/>
                      <a:r>
                        <a:rPr lang="en-US" sz="1100" dirty="0">
                          <a:solidFill>
                            <a:srgbClr val="333333"/>
                          </a:solidFill>
                        </a:rPr>
                        <a:t>Solid Boosters</a:t>
                      </a:r>
                    </a:p>
                  </a:txBody>
                  <a:tcPr marL="68580" marR="68580" marT="34290" marB="34290">
                    <a:lnL w="12700">
                      <a:solidFill>
                        <a:srgbClr val="E0E0E0"/>
                      </a:solidFill>
                    </a:lnL>
                    <a:lnR w="12700">
                      <a:solidFill>
                        <a:srgbClr val="E0E0E0"/>
                      </a:solidFill>
                    </a:lnR>
                    <a:lnT w="12700">
                      <a:solidFill>
                        <a:srgbClr val="E0E0E0"/>
                      </a:solidFill>
                    </a:lnT>
                    <a:lnB w="12700">
                      <a:solidFill>
                        <a:srgbClr val="E0E0E0"/>
                      </a:solidFill>
                    </a:lnB>
                    <a:solidFill>
                      <a:srgbClr val="F5F5F5"/>
                    </a:solidFill>
                  </a:tcPr>
                </a:tc>
                <a:tc>
                  <a:txBody>
                    <a:bodyPr/>
                    <a:lstStyle/>
                    <a:p>
                      <a:pPr algn="l"/>
                      <a:r>
                        <a:rPr lang="en-US" sz="1100" dirty="0">
                          <a:solidFill>
                            <a:srgbClr val="333333"/>
                          </a:solidFill>
                        </a:rPr>
                        <a:t>2x 5-Segment SRBs (16,000 kN each)</a:t>
                      </a:r>
                    </a:p>
                  </a:txBody>
                  <a:tcPr marL="68580" marR="68580" marT="34290" marB="34290">
                    <a:lnL w="12700">
                      <a:solidFill>
                        <a:srgbClr val="E0E0E0"/>
                      </a:solidFill>
                    </a:lnL>
                    <a:lnR w="12700">
                      <a:solidFill>
                        <a:srgbClr val="E0E0E0"/>
                      </a:solidFill>
                    </a:lnR>
                    <a:lnT w="12700">
                      <a:solidFill>
                        <a:srgbClr val="E0E0E0"/>
                      </a:solidFill>
                    </a:lnT>
                    <a:lnB w="12700">
                      <a:solidFill>
                        <a:srgbClr val="E0E0E0"/>
                      </a:solidFill>
                    </a:lnB>
                    <a:solidFill>
                      <a:srgbClr val="F5F5F5"/>
                    </a:solidFill>
                  </a:tcPr>
                </a:tc>
              </a:tr>
              <a:tr h="320040">
                <a:tc>
                  <a:txBody>
                    <a:bodyPr/>
                    <a:lstStyle/>
                    <a:p>
                      <a:pPr algn="l"/>
                      <a:r>
                        <a:rPr lang="en-US" sz="1100" dirty="0">
                          <a:solidFill>
                            <a:srgbClr val="333333"/>
                          </a:solidFill>
                        </a:rPr>
                        <a:t>Total Thrust (Liftoff)</a:t>
                      </a:r>
                    </a:p>
                  </a:txBody>
                  <a:tcPr marL="68580" marR="68580" marT="34290" marB="34290">
                    <a:lnL w="12700">
                      <a:solidFill>
                        <a:srgbClr val="E0E0E0"/>
                      </a:solidFill>
                    </a:lnL>
                    <a:lnR w="12700">
                      <a:solidFill>
                        <a:srgbClr val="E0E0E0"/>
                      </a:solidFill>
                    </a:lnR>
                    <a:lnT w="12700">
                      <a:solidFill>
                        <a:srgbClr val="E0E0E0"/>
                      </a:solidFill>
                    </a:lnT>
                    <a:lnB w="12700">
                      <a:solidFill>
                        <a:srgbClr val="E0E0E0"/>
                      </a:solidFill>
                    </a:lnB>
                  </a:tcPr>
                </a:tc>
                <a:tc>
                  <a:txBody>
                    <a:bodyPr/>
                    <a:lstStyle/>
                    <a:p>
                      <a:pPr algn="l"/>
                      <a:r>
                        <a:rPr lang="en-US" sz="1100" dirty="0">
                          <a:solidFill>
                            <a:srgbClr val="333333"/>
                          </a:solidFill>
                        </a:rPr>
                        <a:t>39,144 kN (8.8 million lbf)</a:t>
                      </a:r>
                    </a:p>
                  </a:txBody>
                  <a:tcPr marL="68580" marR="68580" marT="34290" marB="34290">
                    <a:lnL w="12700">
                      <a:solidFill>
                        <a:srgbClr val="E0E0E0"/>
                      </a:solidFill>
                    </a:lnL>
                    <a:lnR w="12700">
                      <a:solidFill>
                        <a:srgbClr val="E0E0E0"/>
                      </a:solidFill>
                    </a:lnR>
                    <a:lnT w="12700">
                      <a:solidFill>
                        <a:srgbClr val="E0E0E0"/>
                      </a:solidFill>
                    </a:lnT>
                    <a:lnB w="12700">
                      <a:solidFill>
                        <a:srgbClr val="E0E0E0"/>
                      </a:solidFill>
                    </a:lnB>
                  </a:tcPr>
                </a:tc>
              </a:tr>
              <a:tr h="320040">
                <a:tc>
                  <a:txBody>
                    <a:bodyPr/>
                    <a:lstStyle/>
                    <a:p>
                      <a:pPr algn="l"/>
                      <a:r>
                        <a:rPr lang="en-US" sz="1100" dirty="0">
                          <a:solidFill>
                            <a:srgbClr val="333333"/>
                          </a:solidFill>
                        </a:rPr>
                        <a:t>Upper Stage</a:t>
                      </a:r>
                    </a:p>
                  </a:txBody>
                  <a:tcPr marL="68580" marR="68580" marT="34290" marB="34290">
                    <a:lnL w="12700">
                      <a:solidFill>
                        <a:srgbClr val="E0E0E0"/>
                      </a:solidFill>
                    </a:lnL>
                    <a:lnR w="12700">
                      <a:solidFill>
                        <a:srgbClr val="E0E0E0"/>
                      </a:solidFill>
                    </a:lnR>
                    <a:lnT w="12700">
                      <a:solidFill>
                        <a:srgbClr val="E0E0E0"/>
                      </a:solidFill>
                    </a:lnT>
                    <a:lnB w="12700">
                      <a:solidFill>
                        <a:srgbClr val="E0E0E0"/>
                      </a:solidFill>
                    </a:lnB>
                    <a:solidFill>
                      <a:srgbClr val="F5F5F5"/>
                    </a:solidFill>
                  </a:tcPr>
                </a:tc>
                <a:tc>
                  <a:txBody>
                    <a:bodyPr/>
                    <a:lstStyle/>
                    <a:p>
                      <a:pPr algn="l"/>
                      <a:r>
                        <a:rPr lang="en-US" sz="1100" dirty="0">
                          <a:solidFill>
                            <a:srgbClr val="333333"/>
                          </a:solidFill>
                        </a:rPr>
                        <a:t>Interim Cryogenic Propulsion Stage (ICPS)</a:t>
                      </a:r>
                    </a:p>
                  </a:txBody>
                  <a:tcPr marL="68580" marR="68580" marT="34290" marB="34290">
                    <a:lnL w="12700">
                      <a:solidFill>
                        <a:srgbClr val="E0E0E0"/>
                      </a:solidFill>
                    </a:lnL>
                    <a:lnR w="12700">
                      <a:solidFill>
                        <a:srgbClr val="E0E0E0"/>
                      </a:solidFill>
                    </a:lnR>
                    <a:lnT w="12700">
                      <a:solidFill>
                        <a:srgbClr val="E0E0E0"/>
                      </a:solidFill>
                    </a:lnT>
                    <a:lnB w="12700">
                      <a:solidFill>
                        <a:srgbClr val="E0E0E0"/>
                      </a:solidFill>
                    </a:lnB>
                    <a:solidFill>
                      <a:srgbClr val="F5F5F5"/>
                    </a:solidFill>
                  </a:tcPr>
                </a:tc>
              </a:tr>
              <a:tr h="320040">
                <a:tc>
                  <a:txBody>
                    <a:bodyPr/>
                    <a:lstStyle/>
                    <a:p>
                      <a:pPr algn="l"/>
                      <a:r>
                        <a:rPr lang="en-US" sz="1100" dirty="0">
                          <a:solidFill>
                            <a:srgbClr val="333333"/>
                          </a:solidFill>
                        </a:rPr>
                        <a:t>ICPS Engine</a:t>
                      </a:r>
                    </a:p>
                  </a:txBody>
                  <a:tcPr marL="68580" marR="68580" marT="34290" marB="34290">
                    <a:lnL w="12700">
                      <a:solidFill>
                        <a:srgbClr val="E0E0E0"/>
                      </a:solidFill>
                    </a:lnL>
                    <a:lnR w="12700">
                      <a:solidFill>
                        <a:srgbClr val="E0E0E0"/>
                      </a:solidFill>
                    </a:lnR>
                    <a:lnT w="12700">
                      <a:solidFill>
                        <a:srgbClr val="E0E0E0"/>
                      </a:solidFill>
                    </a:lnT>
                    <a:lnB w="12700">
                      <a:solidFill>
                        <a:srgbClr val="E0E0E0"/>
                      </a:solidFill>
                    </a:lnB>
                  </a:tcPr>
                </a:tc>
                <a:tc>
                  <a:txBody>
                    <a:bodyPr/>
                    <a:lstStyle/>
                    <a:p>
                      <a:pPr algn="l"/>
                      <a:r>
                        <a:rPr lang="en-US" sz="1100" dirty="0">
                          <a:solidFill>
                            <a:srgbClr val="333333"/>
                          </a:solidFill>
                        </a:rPr>
                        <a:t>1x RL10B-2 (110 kN)</a:t>
                      </a:r>
                    </a:p>
                  </a:txBody>
                  <a:tcPr marL="68580" marR="68580" marT="34290" marB="34290">
                    <a:lnL w="12700">
                      <a:solidFill>
                        <a:srgbClr val="E0E0E0"/>
                      </a:solidFill>
                    </a:lnL>
                    <a:lnR w="12700">
                      <a:solidFill>
                        <a:srgbClr val="E0E0E0"/>
                      </a:solidFill>
                    </a:lnR>
                    <a:lnT w="12700">
                      <a:solidFill>
                        <a:srgbClr val="E0E0E0"/>
                      </a:solidFill>
                    </a:lnT>
                    <a:lnB w="12700">
                      <a:solidFill>
                        <a:srgbClr val="E0E0E0"/>
                      </a:solidFill>
                    </a:lnB>
                  </a:tcPr>
                </a:tc>
              </a:tr>
              <a:tr h="320040">
                <a:tc>
                  <a:txBody>
                    <a:bodyPr/>
                    <a:lstStyle/>
                    <a:p>
                      <a:pPr algn="l"/>
                      <a:r>
                        <a:rPr lang="en-US" sz="1100" dirty="0">
                          <a:solidFill>
                            <a:srgbClr val="333333"/>
                          </a:solidFill>
                        </a:rPr>
                        <a:t>Propellant</a:t>
                      </a:r>
                    </a:p>
                  </a:txBody>
                  <a:tcPr marL="68580" marR="68580" marT="34290" marB="34290">
                    <a:lnL w="12700">
                      <a:solidFill>
                        <a:srgbClr val="E0E0E0"/>
                      </a:solidFill>
                    </a:lnL>
                    <a:lnR w="12700">
                      <a:solidFill>
                        <a:srgbClr val="E0E0E0"/>
                      </a:solidFill>
                    </a:lnR>
                    <a:lnT w="12700">
                      <a:solidFill>
                        <a:srgbClr val="E0E0E0"/>
                      </a:solidFill>
                    </a:lnT>
                    <a:lnB w="12700">
                      <a:solidFill>
                        <a:srgbClr val="E0E0E0"/>
                      </a:solidFill>
                    </a:lnB>
                    <a:solidFill>
                      <a:srgbClr val="F5F5F5"/>
                    </a:solidFill>
                  </a:tcPr>
                </a:tc>
                <a:tc>
                  <a:txBody>
                    <a:bodyPr/>
                    <a:lstStyle/>
                    <a:p>
                      <a:pPr algn="l"/>
                      <a:r>
                        <a:rPr lang="en-US" sz="1100" dirty="0">
                          <a:solidFill>
                            <a:srgbClr val="333333"/>
                          </a:solidFill>
                        </a:rPr>
                        <a:t>Liquid Hydrogen / Liquid Oxygen</a:t>
                      </a:r>
                    </a:p>
                  </a:txBody>
                  <a:tcPr marL="68580" marR="68580" marT="34290" marB="34290">
                    <a:lnL w="12700">
                      <a:solidFill>
                        <a:srgbClr val="E0E0E0"/>
                      </a:solidFill>
                    </a:lnL>
                    <a:lnR w="12700">
                      <a:solidFill>
                        <a:srgbClr val="E0E0E0"/>
                      </a:solidFill>
                    </a:lnR>
                    <a:lnT w="12700">
                      <a:solidFill>
                        <a:srgbClr val="E0E0E0"/>
                      </a:solidFill>
                    </a:lnT>
                    <a:lnB w="12700">
                      <a:solidFill>
                        <a:srgbClr val="E0E0E0"/>
                      </a:solidFill>
                    </a:lnB>
                    <a:solidFill>
                      <a:srgbClr val="F5F5F5"/>
                    </a:solidFill>
                  </a:tcPr>
                </a:tc>
              </a:tr>
            </a:tbl>
          </a:graphicData>
        </a:graphic>
      </p:graphicFrame>
      <p:sp>
        <p:nvSpPr>
          <p:cNvPr id="54" name="TextBox 54"/>
          <p:cNvSpPr txBox="1"/>
          <p:nvPr/>
        </p:nvSpPr>
        <p:spPr>
          <a:xfrm>
            <a:off x="6400800" y="1371600"/>
            <a:ext cx="2377440" cy="1371600"/>
          </a:xfrm>
          <a:prstGeom prst="roundRect">
            <a:avLst/>
          </a:prstGeom>
          <a:solidFill>
            <a:srgbClr val="161B22"/>
          </a:solidFill>
        </p:spPr>
        <p:txBody>
          <a:bodyPr wrap="square" anchor="ctr" lIns="137160" tIns="137160" rIns="137160" bIns="137160"/>
          <a:lstStyle/>
          <a:p>
            <a:pPr algn="ctr"/>
            <a:r>
              <a:rPr lang="en-US" dirty="0" sz="3200" b="1">
                <a:solidFill>
                  <a:srgbClr val="FFFFFF"/>
                </a:solidFill>
              </a:rPr>
              <a:t>98.1m</a:t>
            </a:r>
          </a:p>
          <a:p>
            <a:pPr algn="ctr"/>
            <a:r>
              <a:rPr lang="en-US" dirty="0" sz="1400">
                <a:solidFill>
                  <a:srgbClr val="FFFFFF"/>
                </a:solidFill>
              </a:rPr>
              <a:t>VEHICLE HEIGHT</a:t>
            </a:r>
          </a:p>
        </p:txBody>
      </p:sp>
      <p:sp>
        <p:nvSpPr>
          <p:cNvPr id="55" name="TextBox 55"/>
          <p:cNvSpPr txBox="1"/>
          <p:nvPr/>
        </p:nvSpPr>
        <p:spPr>
          <a:xfrm>
            <a:off x="8961120" y="1371600"/>
            <a:ext cx="2377440" cy="1371600"/>
          </a:xfrm>
          <a:prstGeom prst="roundRect">
            <a:avLst/>
          </a:prstGeom>
          <a:solidFill>
            <a:srgbClr val="161B22"/>
          </a:solidFill>
        </p:spPr>
        <p:txBody>
          <a:bodyPr wrap="square" anchor="ctr" lIns="137160" tIns="137160" rIns="137160" bIns="137160"/>
          <a:lstStyle/>
          <a:p>
            <a:pPr algn="ctr"/>
            <a:r>
              <a:rPr lang="en-US" dirty="0" sz="3200" b="1">
                <a:solidFill>
                  <a:srgbClr val="FFFFFF"/>
                </a:solidFill>
              </a:rPr>
              <a:t>8.8M</a:t>
            </a:r>
          </a:p>
          <a:p>
            <a:pPr algn="ctr"/>
            <a:r>
              <a:rPr lang="en-US" dirty="0" sz="1400">
                <a:solidFill>
                  <a:srgbClr val="FFFFFF"/>
                </a:solidFill>
              </a:rPr>
              <a:t>LBF THRUST</a:t>
            </a:r>
          </a:p>
        </p:txBody>
      </p:sp>
      <p:sp>
        <p:nvSpPr>
          <p:cNvPr id="56" name="TextBox 56"/>
          <p:cNvSpPr txBox="1"/>
          <p:nvPr/>
        </p:nvSpPr>
        <p:spPr>
          <a:xfrm>
            <a:off x="6400800" y="2926080"/>
            <a:ext cx="2377440" cy="1371600"/>
          </a:xfrm>
          <a:prstGeom prst="roundRect">
            <a:avLst/>
          </a:prstGeom>
          <a:solidFill>
            <a:srgbClr val="161B22"/>
          </a:solidFill>
        </p:spPr>
        <p:txBody>
          <a:bodyPr wrap="square" anchor="ctr" lIns="137160" tIns="137160" rIns="137160" bIns="137160"/>
          <a:lstStyle/>
          <a:p>
            <a:pPr algn="ctr"/>
            <a:r>
              <a:rPr lang="en-US" dirty="0" sz="3200" b="1">
                <a:solidFill>
                  <a:srgbClr val="FFFFFF"/>
                </a:solidFill>
              </a:rPr>
              <a:t>4</a:t>
            </a:r>
          </a:p>
          <a:p>
            <a:pPr algn="ctr"/>
            <a:r>
              <a:rPr lang="en-US" dirty="0" sz="1400">
                <a:solidFill>
                  <a:srgbClr val="FFFFFF"/>
                </a:solidFill>
              </a:rPr>
              <a:t>RS-25 ENGINES</a:t>
            </a:r>
          </a:p>
        </p:txBody>
      </p:sp>
      <p:sp>
        <p:nvSpPr>
          <p:cNvPr id="57" name="TextBox 57"/>
          <p:cNvSpPr txBox="1"/>
          <p:nvPr/>
        </p:nvSpPr>
        <p:spPr>
          <a:xfrm>
            <a:off x="8961120" y="2926080"/>
            <a:ext cx="2377440" cy="1371600"/>
          </a:xfrm>
          <a:prstGeom prst="roundRect">
            <a:avLst/>
          </a:prstGeom>
          <a:solidFill>
            <a:srgbClr val="161B22"/>
          </a:solidFill>
        </p:spPr>
        <p:txBody>
          <a:bodyPr wrap="square" anchor="ctr" lIns="137160" tIns="137160" rIns="137160" bIns="137160"/>
          <a:lstStyle/>
          <a:p>
            <a:pPr algn="ctr"/>
            <a:r>
              <a:rPr lang="en-US" dirty="0" sz="3200" b="1">
                <a:solidFill>
                  <a:srgbClr val="FFFFFF"/>
                </a:solidFill>
              </a:rPr>
              <a:t>2</a:t>
            </a:r>
          </a:p>
          <a:p>
            <a:pPr algn="ctr"/>
            <a:r>
              <a:rPr lang="en-US" dirty="0" sz="1400">
                <a:solidFill>
                  <a:srgbClr val="FFFFFF"/>
                </a:solidFill>
              </a:rPr>
              <a:t>SOLID BOOSTERS</a:t>
            </a:r>
          </a:p>
        </p:txBody>
      </p:sp>
      <p:sp>
        <p:nvSpPr>
          <p:cNvPr id="58" name="TextBox 58"/>
          <p:cNvSpPr txBox="1"/>
          <p:nvPr/>
        </p:nvSpPr>
        <p:spPr>
          <a:xfrm>
            <a:off x="6400800" y="4572000"/>
            <a:ext cx="4937760" cy="1645920"/>
          </a:xfrm>
          <a:prstGeom prst="rect">
            <a:avLst/>
          </a:prstGeom>
          <a:solidFill>
            <a:srgbClr val="161B22"/>
          </a:solidFill>
        </p:spPr>
        <p:txBody>
          <a:bodyPr wrap="square" anchor="t" lIns="137160" tIns="137160" rIns="137160" bIns="137160"/>
          <a:lstStyle/>
          <a:p>
            <a:pPr algn="l">
              <a:lnSpc>
                <a:spcPts val="1800"/>
              </a:lnSpc>
            </a:pPr>
            <a:r>
              <a:rPr lang="en-US" dirty="0" sz="1150">
                <a:solidFill>
                  <a:srgbClr val="E6EDF3"/>
                </a:solidFill>
              </a:rPr>
              <a:t>The SLS Block 1 is the most powerful rocket ever built, generating 15% more thrust than the Saturn V at liftoff. Its core stage is powered by four RS-25 engines — upgraded Space Shuttle Main Engines — flanked by two five-segment solid rocket boosters.</a:t>
            </a:r>
          </a:p>
        </p:txBody>
      </p:sp>
      <p:sp>
        <p:nvSpPr>
          <p:cNvPr id="144" name="TextBox 144"/>
          <p:cNvSpPr txBox="1"/>
          <p:nvPr/>
        </p:nvSpPr>
        <p:spPr>
          <a:xfrm>
            <a:off x="10972800" y="6400800"/>
            <a:ext cx="731520" cy="365760"/>
          </a:xfrm>
          <a:prstGeom prst="rect">
            <a:avLst/>
          </a:prstGeom>
          <a:noFill/>
        </p:spPr>
        <p:txBody>
          <a:bodyPr wrap="square" anchor="t" lIns="137160" tIns="137160" rIns="137160" bIns="137160"/>
          <a:lstStyle/>
          <a:p>
            <a:pPr algn="r"/>
            <a:r>
              <a:rPr lang="en-US" dirty="0" sz="1000">
                <a:solidFill>
                  <a:srgbClr val="FFFFFF"/>
                </a:solidFill>
              </a:rPr>
              <a:t>7</a:t>
            </a:r>
          </a:p>
        </p:txBody>
      </p:sp>
      <p:sp>
        <p:nvSpPr>
          <p:cNvPr id="160" name="TextBox 160"/>
          <p:cNvSpPr txBox="1"/>
          <p:nvPr/>
        </p:nvSpPr>
        <p:spPr>
          <a:xfrm>
            <a:off x="457200" y="6400800"/>
            <a:ext cx="7315200" cy="365760"/>
          </a:xfrm>
          <a:prstGeom prst="rect">
            <a:avLst/>
          </a:prstGeom>
          <a:noFill/>
        </p:spPr>
        <p:txBody>
          <a:bodyPr wrap="square" anchor="t" lIns="137160" tIns="137160" rIns="137160" bIns="137160"/>
          <a:lstStyle/>
          <a:p>
            <a:pPr algn="l"/>
            <a:r>
              <a:rPr lang="en-US" dirty="0" sz="800">
                <a:solidFill>
                  <a:srgbClr val="FFFFFF"/>
                </a:solidFill>
              </a:rPr>
              <a:t>NASA Artemis II Mission Briefing  |  April 2026</a:t>
            </a:r>
          </a:p>
        </p:txBody>
      </p:sp>
    </p:spTree>
  </p:cSld>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59" name="Rectangle 59"/>
          <p:cNvSpPr/>
          <p:nvPr/>
        </p:nvSpPr>
        <p:spPr>
          <a:xfrm>
            <a:off x="0" y="0"/>
            <a:ext cx="12191695" cy="1005840"/>
          </a:xfrm>
          <a:prstGeom prst="rect">
            <a:avLst/>
          </a:prstGeom>
          <a:solidFill>
            <a:srgbClr val="161B22"/>
          </a:solidFill>
        </p:spPr>
      </p:sp>
      <p:sp>
        <p:nvSpPr>
          <p:cNvPr id="60" name="TextBox 60"/>
          <p:cNvSpPr txBox="1"/>
          <p:nvPr/>
        </p:nvSpPr>
        <p:spPr>
          <a:xfrm>
            <a:off x="548640" y="137160"/>
            <a:ext cx="9144000" cy="731520"/>
          </a:xfrm>
          <a:prstGeom prst="rect">
            <a:avLst/>
          </a:prstGeom>
          <a:noFill/>
        </p:spPr>
        <p:txBody>
          <a:bodyPr wrap="square" anchor="t" lIns="137160" tIns="137160" rIns="137160" bIns="137160"/>
          <a:lstStyle/>
          <a:p>
            <a:pPr algn="l"/>
            <a:r>
              <a:rPr lang="en-US" dirty="0" sz="3000" b="1">
                <a:solidFill>
                  <a:srgbClr val="E6EDF3"/>
                </a:solidFill>
              </a:rPr>
              <a:t>ORION CREW VEHICLE</a:t>
            </a:r>
          </a:p>
        </p:txBody>
      </p:sp>
      <p:cxnSp>
        <p:nvCxnSpPr>
          <p:cNvPr id="61" name="Line 61"/>
          <p:cNvCxnSpPr/>
          <p:nvPr/>
        </p:nvCxnSpPr>
        <p:spPr>
          <a:xfrm>
            <a:off x="548640" y="1005840"/>
            <a:ext cx="11091672" cy="1"/>
          </a:xfrm>
          <a:prstGeom prst="line">
            <a:avLst/>
          </a:prstGeom>
          <a:ln w="25400">
            <a:solidFill>
              <a:srgbClr val="3FB950"/>
            </a:solidFill>
          </a:ln>
        </p:spPr>
      </p:cxnSp>
      <p:graphicFrame>
        <p:nvGraphicFramePr>
          <p:cNvPr id="62" name="Table"/>
          <p:cNvGraphicFramePr>
            <a:graphicFrameLocks noGrp="1"/>
          </p:cNvGraphicFramePr>
          <p:nvPr/>
        </p:nvGraphicFramePr>
        <p:xfrm>
          <a:off x="548640" y="1371600"/>
          <a:ext cx="5303520" cy="3840480"/>
        </p:xfrm>
        <a:graphic>
          <a:graphicData uri="http://schemas.openxmlformats.org/drawingml/2006/table">
            <a:tbl>
              <a:tblPr firstRow="1" bandRow="1"/>
              <a:tblGrid>
                <a:gridCol w="2651760"/>
                <a:gridCol w="2651760"/>
              </a:tblGrid>
              <a:tr h="320040">
                <a:tc>
                  <a:txBody>
                    <a:bodyPr/>
                    <a:lstStyle/>
                    <a:p>
                      <a:pPr algn="l"/>
                      <a:r>
                        <a:rPr lang="en-US" sz="1100" dirty="0">
                          <a:solidFill>
                            <a:srgbClr val="333333"/>
                          </a:solidFill>
                        </a:rPr>
                        <a:t>Crew Module Diameter</a:t>
                      </a:r>
                    </a:p>
                  </a:txBody>
                  <a:tcPr marL="68580" marR="68580" marT="34290" marB="34290">
                    <a:lnL w="12700">
                      <a:solidFill>
                        <a:srgbClr val="E0E0E0"/>
                      </a:solidFill>
                    </a:lnL>
                    <a:lnR w="12700">
                      <a:solidFill>
                        <a:srgbClr val="E0E0E0"/>
                      </a:solidFill>
                    </a:lnR>
                    <a:lnT w="12700">
                      <a:solidFill>
                        <a:srgbClr val="E0E0E0"/>
                      </a:solidFill>
                    </a:lnT>
                    <a:lnB w="12700">
                      <a:solidFill>
                        <a:srgbClr val="E0E0E0"/>
                      </a:solidFill>
                    </a:lnB>
                  </a:tcPr>
                </a:tc>
                <a:tc>
                  <a:txBody>
                    <a:bodyPr/>
                    <a:lstStyle/>
                    <a:p>
                      <a:pPr algn="l"/>
                      <a:r>
                        <a:rPr lang="en-US" sz="1100" dirty="0">
                          <a:solidFill>
                            <a:srgbClr val="333333"/>
                          </a:solidFill>
                        </a:rPr>
                        <a:t>5.02 m (16.5 ft)</a:t>
                      </a:r>
                    </a:p>
                  </a:txBody>
                  <a:tcPr marL="68580" marR="68580" marT="34290" marB="34290">
                    <a:lnL w="12700">
                      <a:solidFill>
                        <a:srgbClr val="E0E0E0"/>
                      </a:solidFill>
                    </a:lnL>
                    <a:lnR w="12700">
                      <a:solidFill>
                        <a:srgbClr val="E0E0E0"/>
                      </a:solidFill>
                    </a:lnR>
                    <a:lnT w="12700">
                      <a:solidFill>
                        <a:srgbClr val="E0E0E0"/>
                      </a:solidFill>
                    </a:lnT>
                    <a:lnB w="12700">
                      <a:solidFill>
                        <a:srgbClr val="E0E0E0"/>
                      </a:solidFill>
                    </a:lnB>
                  </a:tcPr>
                </a:tc>
              </a:tr>
              <a:tr h="320040">
                <a:tc>
                  <a:txBody>
                    <a:bodyPr/>
                    <a:lstStyle/>
                    <a:p>
                      <a:pPr algn="l"/>
                      <a:r>
                        <a:rPr lang="en-US" sz="1100" dirty="0">
                          <a:solidFill>
                            <a:srgbClr val="333333"/>
                          </a:solidFill>
                        </a:rPr>
                        <a:t>Habitable Volume</a:t>
                      </a:r>
                    </a:p>
                  </a:txBody>
                  <a:tcPr marL="68580" marR="68580" marT="34290" marB="34290">
                    <a:lnL w="12700">
                      <a:solidFill>
                        <a:srgbClr val="E0E0E0"/>
                      </a:solidFill>
                    </a:lnL>
                    <a:lnR w="12700">
                      <a:solidFill>
                        <a:srgbClr val="E0E0E0"/>
                      </a:solidFill>
                    </a:lnR>
                    <a:lnT w="12700">
                      <a:solidFill>
                        <a:srgbClr val="E0E0E0"/>
                      </a:solidFill>
                    </a:lnT>
                    <a:lnB w="12700">
                      <a:solidFill>
                        <a:srgbClr val="E0E0E0"/>
                      </a:solidFill>
                    </a:lnB>
                    <a:solidFill>
                      <a:srgbClr val="F5F5F5"/>
                    </a:solidFill>
                  </a:tcPr>
                </a:tc>
                <a:tc>
                  <a:txBody>
                    <a:bodyPr/>
                    <a:lstStyle/>
                    <a:p>
                      <a:pPr algn="l"/>
                      <a:r>
                        <a:rPr lang="en-US" sz="1100" dirty="0">
                          <a:solidFill>
                            <a:srgbClr val="333333"/>
                          </a:solidFill>
                        </a:rPr>
                        <a:t>8.95 m³ (316 ft³)</a:t>
                      </a:r>
                    </a:p>
                  </a:txBody>
                  <a:tcPr marL="68580" marR="68580" marT="34290" marB="34290">
                    <a:lnL w="12700">
                      <a:solidFill>
                        <a:srgbClr val="E0E0E0"/>
                      </a:solidFill>
                    </a:lnL>
                    <a:lnR w="12700">
                      <a:solidFill>
                        <a:srgbClr val="E0E0E0"/>
                      </a:solidFill>
                    </a:lnR>
                    <a:lnT w="12700">
                      <a:solidFill>
                        <a:srgbClr val="E0E0E0"/>
                      </a:solidFill>
                    </a:lnT>
                    <a:lnB w="12700">
                      <a:solidFill>
                        <a:srgbClr val="E0E0E0"/>
                      </a:solidFill>
                    </a:lnB>
                    <a:solidFill>
                      <a:srgbClr val="F5F5F5"/>
                    </a:solidFill>
                  </a:tcPr>
                </a:tc>
              </a:tr>
              <a:tr h="320040">
                <a:tc>
                  <a:txBody>
                    <a:bodyPr/>
                    <a:lstStyle/>
                    <a:p>
                      <a:pPr algn="l"/>
                      <a:r>
                        <a:rPr lang="en-US" sz="1100" dirty="0">
                          <a:solidFill>
                            <a:srgbClr val="333333"/>
                          </a:solidFill>
                        </a:rPr>
                        <a:t>Crew Capacity</a:t>
                      </a:r>
                    </a:p>
                  </a:txBody>
                  <a:tcPr marL="68580" marR="68580" marT="34290" marB="34290">
                    <a:lnL w="12700">
                      <a:solidFill>
                        <a:srgbClr val="E0E0E0"/>
                      </a:solidFill>
                    </a:lnL>
                    <a:lnR w="12700">
                      <a:solidFill>
                        <a:srgbClr val="E0E0E0"/>
                      </a:solidFill>
                    </a:lnR>
                    <a:lnT w="12700">
                      <a:solidFill>
                        <a:srgbClr val="E0E0E0"/>
                      </a:solidFill>
                    </a:lnT>
                    <a:lnB w="12700">
                      <a:solidFill>
                        <a:srgbClr val="E0E0E0"/>
                      </a:solidFill>
                    </a:lnB>
                  </a:tcPr>
                </a:tc>
                <a:tc>
                  <a:txBody>
                    <a:bodyPr/>
                    <a:lstStyle/>
                    <a:p>
                      <a:pPr algn="l"/>
                      <a:r>
                        <a:rPr lang="en-US" sz="1100" dirty="0">
                          <a:solidFill>
                            <a:srgbClr val="333333"/>
                          </a:solidFill>
                        </a:rPr>
                        <a:t>4 astronauts</a:t>
                      </a:r>
                    </a:p>
                  </a:txBody>
                  <a:tcPr marL="68580" marR="68580" marT="34290" marB="34290">
                    <a:lnL w="12700">
                      <a:solidFill>
                        <a:srgbClr val="E0E0E0"/>
                      </a:solidFill>
                    </a:lnL>
                    <a:lnR w="12700">
                      <a:solidFill>
                        <a:srgbClr val="E0E0E0"/>
                      </a:solidFill>
                    </a:lnR>
                    <a:lnT w="12700">
                      <a:solidFill>
                        <a:srgbClr val="E0E0E0"/>
                      </a:solidFill>
                    </a:lnT>
                    <a:lnB w="12700">
                      <a:solidFill>
                        <a:srgbClr val="E0E0E0"/>
                      </a:solidFill>
                    </a:lnB>
                  </a:tcPr>
                </a:tc>
              </a:tr>
              <a:tr h="320040">
                <a:tc>
                  <a:txBody>
                    <a:bodyPr/>
                    <a:lstStyle/>
                    <a:p>
                      <a:pPr algn="l"/>
                      <a:r>
                        <a:rPr lang="en-US" sz="1100" dirty="0">
                          <a:solidFill>
                            <a:srgbClr val="333333"/>
                          </a:solidFill>
                        </a:rPr>
                        <a:t>Service Module</a:t>
                      </a:r>
                    </a:p>
                  </a:txBody>
                  <a:tcPr marL="68580" marR="68580" marT="34290" marB="34290">
                    <a:lnL w="12700">
                      <a:solidFill>
                        <a:srgbClr val="E0E0E0"/>
                      </a:solidFill>
                    </a:lnL>
                    <a:lnR w="12700">
                      <a:solidFill>
                        <a:srgbClr val="E0E0E0"/>
                      </a:solidFill>
                    </a:lnR>
                    <a:lnT w="12700">
                      <a:solidFill>
                        <a:srgbClr val="E0E0E0"/>
                      </a:solidFill>
                    </a:lnT>
                    <a:lnB w="12700">
                      <a:solidFill>
                        <a:srgbClr val="E0E0E0"/>
                      </a:solidFill>
                    </a:lnB>
                    <a:solidFill>
                      <a:srgbClr val="F5F5F5"/>
                    </a:solidFill>
                  </a:tcPr>
                </a:tc>
                <a:tc>
                  <a:txBody>
                    <a:bodyPr/>
                    <a:lstStyle/>
                    <a:p>
                      <a:pPr algn="l"/>
                      <a:r>
                        <a:rPr lang="en-US" sz="1100" dirty="0">
                          <a:solidFill>
                            <a:srgbClr val="333333"/>
                          </a:solidFill>
                        </a:rPr>
                        <a:t>European Service Module (ESM) by ESA/Airbus</a:t>
                      </a:r>
                    </a:p>
                  </a:txBody>
                  <a:tcPr marL="68580" marR="68580" marT="34290" marB="34290">
                    <a:lnL w="12700">
                      <a:solidFill>
                        <a:srgbClr val="E0E0E0"/>
                      </a:solidFill>
                    </a:lnL>
                    <a:lnR w="12700">
                      <a:solidFill>
                        <a:srgbClr val="E0E0E0"/>
                      </a:solidFill>
                    </a:lnR>
                    <a:lnT w="12700">
                      <a:solidFill>
                        <a:srgbClr val="E0E0E0"/>
                      </a:solidFill>
                    </a:lnT>
                    <a:lnB w="12700">
                      <a:solidFill>
                        <a:srgbClr val="E0E0E0"/>
                      </a:solidFill>
                    </a:lnB>
                    <a:solidFill>
                      <a:srgbClr val="F5F5F5"/>
                    </a:solidFill>
                  </a:tcPr>
                </a:tc>
              </a:tr>
              <a:tr h="320040">
                <a:tc>
                  <a:txBody>
                    <a:bodyPr/>
                    <a:lstStyle/>
                    <a:p>
                      <a:pPr algn="l"/>
                      <a:r>
                        <a:rPr lang="en-US" sz="1100" dirty="0">
                          <a:solidFill>
                            <a:srgbClr val="333333"/>
                          </a:solidFill>
                        </a:rPr>
                        <a:t>ESM Solar Array Span</a:t>
                      </a:r>
                    </a:p>
                  </a:txBody>
                  <a:tcPr marL="68580" marR="68580" marT="34290" marB="34290">
                    <a:lnL w="12700">
                      <a:solidFill>
                        <a:srgbClr val="E0E0E0"/>
                      </a:solidFill>
                    </a:lnL>
                    <a:lnR w="12700">
                      <a:solidFill>
                        <a:srgbClr val="E0E0E0"/>
                      </a:solidFill>
                    </a:lnR>
                    <a:lnT w="12700">
                      <a:solidFill>
                        <a:srgbClr val="E0E0E0"/>
                      </a:solidFill>
                    </a:lnT>
                    <a:lnB w="12700">
                      <a:solidFill>
                        <a:srgbClr val="E0E0E0"/>
                      </a:solidFill>
                    </a:lnB>
                  </a:tcPr>
                </a:tc>
                <a:tc>
                  <a:txBody>
                    <a:bodyPr/>
                    <a:lstStyle/>
                    <a:p>
                      <a:pPr algn="l"/>
                      <a:r>
                        <a:rPr lang="en-US" sz="1100" dirty="0">
                          <a:solidFill>
                            <a:srgbClr val="333333"/>
                          </a:solidFill>
                        </a:rPr>
                        <a:t>19 m (62.3 ft)</a:t>
                      </a:r>
                    </a:p>
                  </a:txBody>
                  <a:tcPr marL="68580" marR="68580" marT="34290" marB="34290">
                    <a:lnL w="12700">
                      <a:solidFill>
                        <a:srgbClr val="E0E0E0"/>
                      </a:solidFill>
                    </a:lnL>
                    <a:lnR w="12700">
                      <a:solidFill>
                        <a:srgbClr val="E0E0E0"/>
                      </a:solidFill>
                    </a:lnR>
                    <a:lnT w="12700">
                      <a:solidFill>
                        <a:srgbClr val="E0E0E0"/>
                      </a:solidFill>
                    </a:lnT>
                    <a:lnB w="12700">
                      <a:solidFill>
                        <a:srgbClr val="E0E0E0"/>
                      </a:solidFill>
                    </a:lnB>
                  </a:tcPr>
                </a:tc>
              </a:tr>
              <a:tr h="320040">
                <a:tc>
                  <a:txBody>
                    <a:bodyPr/>
                    <a:lstStyle/>
                    <a:p>
                      <a:pPr algn="l"/>
                      <a:r>
                        <a:rPr lang="en-US" sz="1100" dirty="0">
                          <a:solidFill>
                            <a:srgbClr val="333333"/>
                          </a:solidFill>
                        </a:rPr>
                        <a:t>ESM Engine</a:t>
                      </a:r>
                    </a:p>
                  </a:txBody>
                  <a:tcPr marL="68580" marR="68580" marT="34290" marB="34290">
                    <a:lnL w="12700">
                      <a:solidFill>
                        <a:srgbClr val="E0E0E0"/>
                      </a:solidFill>
                    </a:lnL>
                    <a:lnR w="12700">
                      <a:solidFill>
                        <a:srgbClr val="E0E0E0"/>
                      </a:solidFill>
                    </a:lnR>
                    <a:lnT w="12700">
                      <a:solidFill>
                        <a:srgbClr val="E0E0E0"/>
                      </a:solidFill>
                    </a:lnT>
                    <a:lnB w="12700">
                      <a:solidFill>
                        <a:srgbClr val="E0E0E0"/>
                      </a:solidFill>
                    </a:lnB>
                    <a:solidFill>
                      <a:srgbClr val="F5F5F5"/>
                    </a:solidFill>
                  </a:tcPr>
                </a:tc>
                <a:tc>
                  <a:txBody>
                    <a:bodyPr/>
                    <a:lstStyle/>
                    <a:p>
                      <a:pPr algn="l"/>
                      <a:r>
                        <a:rPr lang="en-US" sz="1100" dirty="0">
                          <a:solidFill>
                            <a:srgbClr val="333333"/>
                          </a:solidFill>
                        </a:rPr>
                        <a:t>1x Orbital Maneuvering System (OMS-E) — 26.7 kN</a:t>
                      </a:r>
                    </a:p>
                  </a:txBody>
                  <a:tcPr marL="68580" marR="68580" marT="34290" marB="34290">
                    <a:lnL w="12700">
                      <a:solidFill>
                        <a:srgbClr val="E0E0E0"/>
                      </a:solidFill>
                    </a:lnL>
                    <a:lnR w="12700">
                      <a:solidFill>
                        <a:srgbClr val="E0E0E0"/>
                      </a:solidFill>
                    </a:lnR>
                    <a:lnT w="12700">
                      <a:solidFill>
                        <a:srgbClr val="E0E0E0"/>
                      </a:solidFill>
                    </a:lnT>
                    <a:lnB w="12700">
                      <a:solidFill>
                        <a:srgbClr val="E0E0E0"/>
                      </a:solidFill>
                    </a:lnB>
                    <a:solidFill>
                      <a:srgbClr val="F5F5F5"/>
                    </a:solidFill>
                  </a:tcPr>
                </a:tc>
              </a:tr>
              <a:tr h="320040">
                <a:tc>
                  <a:txBody>
                    <a:bodyPr/>
                    <a:lstStyle/>
                    <a:p>
                      <a:pPr algn="l"/>
                      <a:r>
                        <a:rPr lang="en-US" sz="1100" dirty="0">
                          <a:solidFill>
                            <a:srgbClr val="333333"/>
                          </a:solidFill>
                        </a:rPr>
                        <a:t>ESM Auxiliary Thrusters</a:t>
                      </a:r>
                    </a:p>
                  </a:txBody>
                  <a:tcPr marL="68580" marR="68580" marT="34290" marB="34290">
                    <a:lnL w="12700">
                      <a:solidFill>
                        <a:srgbClr val="E0E0E0"/>
                      </a:solidFill>
                    </a:lnL>
                    <a:lnR w="12700">
                      <a:solidFill>
                        <a:srgbClr val="E0E0E0"/>
                      </a:solidFill>
                    </a:lnR>
                    <a:lnT w="12700">
                      <a:solidFill>
                        <a:srgbClr val="E0E0E0"/>
                      </a:solidFill>
                    </a:lnT>
                    <a:lnB w="12700">
                      <a:solidFill>
                        <a:srgbClr val="E0E0E0"/>
                      </a:solidFill>
                    </a:lnB>
                  </a:tcPr>
                </a:tc>
                <a:tc>
                  <a:txBody>
                    <a:bodyPr/>
                    <a:lstStyle/>
                    <a:p>
                      <a:pPr algn="l"/>
                      <a:r>
                        <a:rPr lang="en-US" sz="1100" dirty="0">
                          <a:solidFill>
                            <a:srgbClr val="333333"/>
                          </a:solidFill>
                        </a:rPr>
                        <a:t>8x R-4D-11 (490 N each)</a:t>
                      </a:r>
                    </a:p>
                  </a:txBody>
                  <a:tcPr marL="68580" marR="68580" marT="34290" marB="34290">
                    <a:lnL w="12700">
                      <a:solidFill>
                        <a:srgbClr val="E0E0E0"/>
                      </a:solidFill>
                    </a:lnL>
                    <a:lnR w="12700">
                      <a:solidFill>
                        <a:srgbClr val="E0E0E0"/>
                      </a:solidFill>
                    </a:lnR>
                    <a:lnT w="12700">
                      <a:solidFill>
                        <a:srgbClr val="E0E0E0"/>
                      </a:solidFill>
                    </a:lnT>
                    <a:lnB w="12700">
                      <a:solidFill>
                        <a:srgbClr val="E0E0E0"/>
                      </a:solidFill>
                    </a:lnB>
                  </a:tcPr>
                </a:tc>
              </a:tr>
              <a:tr h="320040">
                <a:tc>
                  <a:txBody>
                    <a:bodyPr/>
                    <a:lstStyle/>
                    <a:p>
                      <a:pPr algn="l"/>
                      <a:r>
                        <a:rPr lang="en-US" sz="1100" dirty="0">
                          <a:solidFill>
                            <a:srgbClr val="333333"/>
                          </a:solidFill>
                        </a:rPr>
                        <a:t>Heat Shield</a:t>
                      </a:r>
                    </a:p>
                  </a:txBody>
                  <a:tcPr marL="68580" marR="68580" marT="34290" marB="34290">
                    <a:lnL w="12700">
                      <a:solidFill>
                        <a:srgbClr val="E0E0E0"/>
                      </a:solidFill>
                    </a:lnL>
                    <a:lnR w="12700">
                      <a:solidFill>
                        <a:srgbClr val="E0E0E0"/>
                      </a:solidFill>
                    </a:lnR>
                    <a:lnT w="12700">
                      <a:solidFill>
                        <a:srgbClr val="E0E0E0"/>
                      </a:solidFill>
                    </a:lnT>
                    <a:lnB w="12700">
                      <a:solidFill>
                        <a:srgbClr val="E0E0E0"/>
                      </a:solidFill>
                    </a:lnB>
                    <a:solidFill>
                      <a:srgbClr val="F5F5F5"/>
                    </a:solidFill>
                  </a:tcPr>
                </a:tc>
                <a:tc>
                  <a:txBody>
                    <a:bodyPr/>
                    <a:lstStyle/>
                    <a:p>
                      <a:pPr algn="l"/>
                      <a:r>
                        <a:rPr lang="en-US" sz="1100" dirty="0">
                          <a:solidFill>
                            <a:srgbClr val="333333"/>
                          </a:solidFill>
                        </a:rPr>
                        <a:t>AVCOAT ablative — 5 m diameter, largest ever built</a:t>
                      </a:r>
                    </a:p>
                  </a:txBody>
                  <a:tcPr marL="68580" marR="68580" marT="34290" marB="34290">
                    <a:lnL w="12700">
                      <a:solidFill>
                        <a:srgbClr val="E0E0E0"/>
                      </a:solidFill>
                    </a:lnL>
                    <a:lnR w="12700">
                      <a:solidFill>
                        <a:srgbClr val="E0E0E0"/>
                      </a:solidFill>
                    </a:lnR>
                    <a:lnT w="12700">
                      <a:solidFill>
                        <a:srgbClr val="E0E0E0"/>
                      </a:solidFill>
                    </a:lnT>
                    <a:lnB w="12700">
                      <a:solidFill>
                        <a:srgbClr val="E0E0E0"/>
                      </a:solidFill>
                    </a:lnB>
                    <a:solidFill>
                      <a:srgbClr val="F5F5F5"/>
                    </a:solidFill>
                  </a:tcPr>
                </a:tc>
              </a:tr>
              <a:tr h="320040">
                <a:tc>
                  <a:txBody>
                    <a:bodyPr/>
                    <a:lstStyle/>
                    <a:p>
                      <a:pPr algn="l"/>
                      <a:r>
                        <a:rPr lang="en-US" sz="1100" dirty="0">
                          <a:solidFill>
                            <a:srgbClr val="333333"/>
                          </a:solidFill>
                        </a:rPr>
                        <a:t>Re-entry Speed</a:t>
                      </a:r>
                    </a:p>
                  </a:txBody>
                  <a:tcPr marL="68580" marR="68580" marT="34290" marB="34290">
                    <a:lnL w="12700">
                      <a:solidFill>
                        <a:srgbClr val="E0E0E0"/>
                      </a:solidFill>
                    </a:lnL>
                    <a:lnR w="12700">
                      <a:solidFill>
                        <a:srgbClr val="E0E0E0"/>
                      </a:solidFill>
                    </a:lnR>
                    <a:lnT w="12700">
                      <a:solidFill>
                        <a:srgbClr val="E0E0E0"/>
                      </a:solidFill>
                    </a:lnT>
                    <a:lnB w="12700">
                      <a:solidFill>
                        <a:srgbClr val="E0E0E0"/>
                      </a:solidFill>
                    </a:lnB>
                  </a:tcPr>
                </a:tc>
                <a:tc>
                  <a:txBody>
                    <a:bodyPr/>
                    <a:lstStyle/>
                    <a:p>
                      <a:pPr algn="l"/>
                      <a:r>
                        <a:rPr lang="en-US" sz="1100" dirty="0">
                          <a:solidFill>
                            <a:srgbClr val="333333"/>
                          </a:solidFill>
                        </a:rPr>
                        <a:t>~40,000 km/h (Mach 32)</a:t>
                      </a:r>
                    </a:p>
                  </a:txBody>
                  <a:tcPr marL="68580" marR="68580" marT="34290" marB="34290">
                    <a:lnL w="12700">
                      <a:solidFill>
                        <a:srgbClr val="E0E0E0"/>
                      </a:solidFill>
                    </a:lnL>
                    <a:lnR w="12700">
                      <a:solidFill>
                        <a:srgbClr val="E0E0E0"/>
                      </a:solidFill>
                    </a:lnR>
                    <a:lnT w="12700">
                      <a:solidFill>
                        <a:srgbClr val="E0E0E0"/>
                      </a:solidFill>
                    </a:lnT>
                    <a:lnB w="12700">
                      <a:solidFill>
                        <a:srgbClr val="E0E0E0"/>
                      </a:solidFill>
                    </a:lnB>
                  </a:tcPr>
                </a:tc>
              </a:tr>
              <a:tr h="320040">
                <a:tc>
                  <a:txBody>
                    <a:bodyPr/>
                    <a:lstStyle/>
                    <a:p>
                      <a:pPr algn="l"/>
                      <a:r>
                        <a:rPr lang="en-US" sz="1100" dirty="0">
                          <a:solidFill>
                            <a:srgbClr val="333333"/>
                          </a:solidFill>
                        </a:rPr>
                        <a:t>Mission Duration</a:t>
                      </a:r>
                    </a:p>
                  </a:txBody>
                  <a:tcPr marL="68580" marR="68580" marT="34290" marB="34290">
                    <a:lnL w="12700">
                      <a:solidFill>
                        <a:srgbClr val="E0E0E0"/>
                      </a:solidFill>
                    </a:lnL>
                    <a:lnR w="12700">
                      <a:solidFill>
                        <a:srgbClr val="E0E0E0"/>
                      </a:solidFill>
                    </a:lnR>
                    <a:lnT w="12700">
                      <a:solidFill>
                        <a:srgbClr val="E0E0E0"/>
                      </a:solidFill>
                    </a:lnT>
                    <a:lnB w="12700">
                      <a:solidFill>
                        <a:srgbClr val="E0E0E0"/>
                      </a:solidFill>
                    </a:lnB>
                    <a:solidFill>
                      <a:srgbClr val="F5F5F5"/>
                    </a:solidFill>
                  </a:tcPr>
                </a:tc>
                <a:tc>
                  <a:txBody>
                    <a:bodyPr/>
                    <a:lstStyle/>
                    <a:p>
                      <a:pPr algn="l"/>
                      <a:r>
                        <a:rPr lang="en-US" sz="1100" dirty="0">
                          <a:solidFill>
                            <a:srgbClr val="333333"/>
                          </a:solidFill>
                        </a:rPr>
                        <a:t>Up to 21 days (6 crew days active)</a:t>
                      </a:r>
                    </a:p>
                  </a:txBody>
                  <a:tcPr marL="68580" marR="68580" marT="34290" marB="34290">
                    <a:lnL w="12700">
                      <a:solidFill>
                        <a:srgbClr val="E0E0E0"/>
                      </a:solidFill>
                    </a:lnL>
                    <a:lnR w="12700">
                      <a:solidFill>
                        <a:srgbClr val="E0E0E0"/>
                      </a:solidFill>
                    </a:lnR>
                    <a:lnT w="12700">
                      <a:solidFill>
                        <a:srgbClr val="E0E0E0"/>
                      </a:solidFill>
                    </a:lnT>
                    <a:lnB w="12700">
                      <a:solidFill>
                        <a:srgbClr val="E0E0E0"/>
                      </a:solidFill>
                    </a:lnB>
                    <a:solidFill>
                      <a:srgbClr val="F5F5F5"/>
                    </a:solidFill>
                  </a:tcPr>
                </a:tc>
              </a:tr>
              <a:tr h="320040">
                <a:tc>
                  <a:txBody>
                    <a:bodyPr/>
                    <a:lstStyle/>
                    <a:p>
                      <a:pPr algn="l"/>
                      <a:r>
                        <a:rPr lang="en-US" sz="1100" dirty="0">
                          <a:solidFill>
                            <a:srgbClr val="333333"/>
                          </a:solidFill>
                        </a:rPr>
                        <a:t>Launch Abort System</a:t>
                      </a:r>
                    </a:p>
                  </a:txBody>
                  <a:tcPr marL="68580" marR="68580" marT="34290" marB="34290">
                    <a:lnL w="12700">
                      <a:solidFill>
                        <a:srgbClr val="E0E0E0"/>
                      </a:solidFill>
                    </a:lnL>
                    <a:lnR w="12700">
                      <a:solidFill>
                        <a:srgbClr val="E0E0E0"/>
                      </a:solidFill>
                    </a:lnR>
                    <a:lnT w="12700">
                      <a:solidFill>
                        <a:srgbClr val="E0E0E0"/>
                      </a:solidFill>
                    </a:lnT>
                    <a:lnB w="12700">
                      <a:solidFill>
                        <a:srgbClr val="E0E0E0"/>
                      </a:solidFill>
                    </a:lnB>
                  </a:tcPr>
                </a:tc>
                <a:tc>
                  <a:txBody>
                    <a:bodyPr/>
                    <a:lstStyle/>
                    <a:p>
                      <a:pPr algn="l"/>
                      <a:r>
                        <a:rPr lang="en-US" sz="1100" dirty="0">
                          <a:solidFill>
                            <a:srgbClr val="333333"/>
                          </a:solidFill>
                        </a:rPr>
                        <a:t>3-motor LAS (abort, attitude, jettison)</a:t>
                      </a:r>
                    </a:p>
                  </a:txBody>
                  <a:tcPr marL="68580" marR="68580" marT="34290" marB="34290">
                    <a:lnL w="12700">
                      <a:solidFill>
                        <a:srgbClr val="E0E0E0"/>
                      </a:solidFill>
                    </a:lnL>
                    <a:lnR w="12700">
                      <a:solidFill>
                        <a:srgbClr val="E0E0E0"/>
                      </a:solidFill>
                    </a:lnR>
                    <a:lnT w="12700">
                      <a:solidFill>
                        <a:srgbClr val="E0E0E0"/>
                      </a:solidFill>
                    </a:lnT>
                    <a:lnB w="12700">
                      <a:solidFill>
                        <a:srgbClr val="E0E0E0"/>
                      </a:solidFill>
                    </a:lnB>
                  </a:tcPr>
                </a:tc>
              </a:tr>
              <a:tr h="320040">
                <a:tc>
                  <a:txBody>
                    <a:bodyPr/>
                    <a:lstStyle/>
                    <a:p>
                      <a:pPr algn="l"/>
                      <a:r>
                        <a:rPr lang="en-US" sz="1100" dirty="0">
                          <a:solidFill>
                            <a:srgbClr val="333333"/>
                          </a:solidFill>
                        </a:rPr>
                        <a:t>Life Support</a:t>
                      </a:r>
                    </a:p>
                  </a:txBody>
                  <a:tcPr marL="68580" marR="68580" marT="34290" marB="34290">
                    <a:lnL w="12700">
                      <a:solidFill>
                        <a:srgbClr val="E0E0E0"/>
                      </a:solidFill>
                    </a:lnL>
                    <a:lnR w="12700">
                      <a:solidFill>
                        <a:srgbClr val="E0E0E0"/>
                      </a:solidFill>
                    </a:lnR>
                    <a:lnT w="12700">
                      <a:solidFill>
                        <a:srgbClr val="E0E0E0"/>
                      </a:solidFill>
                    </a:lnT>
                    <a:lnB w="12700">
                      <a:solidFill>
                        <a:srgbClr val="E0E0E0"/>
                      </a:solidFill>
                    </a:lnB>
                    <a:solidFill>
                      <a:srgbClr val="F5F5F5"/>
                    </a:solidFill>
                  </a:tcPr>
                </a:tc>
                <a:tc>
                  <a:txBody>
                    <a:bodyPr/>
                    <a:lstStyle/>
                    <a:p>
                      <a:pPr algn="l"/>
                      <a:r>
                        <a:rPr lang="en-US" sz="1100" dirty="0">
                          <a:solidFill>
                            <a:srgbClr val="333333"/>
                          </a:solidFill>
                        </a:rPr>
                        <a:t>ECLSS — active CO₂ removal, O₂ generation</a:t>
                      </a:r>
                    </a:p>
                  </a:txBody>
                  <a:tcPr marL="68580" marR="68580" marT="34290" marB="34290">
                    <a:lnL w="12700">
                      <a:solidFill>
                        <a:srgbClr val="E0E0E0"/>
                      </a:solidFill>
                    </a:lnL>
                    <a:lnR w="12700">
                      <a:solidFill>
                        <a:srgbClr val="E0E0E0"/>
                      </a:solidFill>
                    </a:lnR>
                    <a:lnT w="12700">
                      <a:solidFill>
                        <a:srgbClr val="E0E0E0"/>
                      </a:solidFill>
                    </a:lnT>
                    <a:lnB w="12700">
                      <a:solidFill>
                        <a:srgbClr val="E0E0E0"/>
                      </a:solidFill>
                    </a:lnB>
                    <a:solidFill>
                      <a:srgbClr val="F5F5F5"/>
                    </a:solidFill>
                  </a:tcPr>
                </a:tc>
              </a:tr>
            </a:tbl>
          </a:graphicData>
        </a:graphic>
      </p:graphicFrame>
      <p:sp>
        <p:nvSpPr>
          <p:cNvPr id="63" name="TextBox 63"/>
          <p:cNvSpPr txBox="1"/>
          <p:nvPr/>
        </p:nvSpPr>
        <p:spPr>
          <a:xfrm>
            <a:off x="6400800" y="1371600"/>
            <a:ext cx="2377440" cy="1371600"/>
          </a:xfrm>
          <a:prstGeom prst="roundRect">
            <a:avLst/>
          </a:prstGeom>
          <a:solidFill>
            <a:srgbClr val="161B22"/>
          </a:solidFill>
        </p:spPr>
        <p:txBody>
          <a:bodyPr wrap="square" anchor="ctr" lIns="137160" tIns="137160" rIns="137160" bIns="137160"/>
          <a:lstStyle/>
          <a:p>
            <a:pPr algn="ctr"/>
            <a:r>
              <a:rPr lang="en-US" dirty="0" sz="3000" b="1">
                <a:solidFill>
                  <a:srgbClr val="FFFFFF"/>
                </a:solidFill>
              </a:rPr>
              <a:t>5.02m</a:t>
            </a:r>
          </a:p>
          <a:p>
            <a:pPr algn="ctr"/>
            <a:r>
              <a:rPr lang="en-US" dirty="0" sz="1400">
                <a:solidFill>
                  <a:srgbClr val="FFFFFF"/>
                </a:solidFill>
              </a:rPr>
              <a:t>CAPSULE DIAMETER</a:t>
            </a:r>
          </a:p>
        </p:txBody>
      </p:sp>
      <p:sp>
        <p:nvSpPr>
          <p:cNvPr id="64" name="TextBox 64"/>
          <p:cNvSpPr txBox="1"/>
          <p:nvPr/>
        </p:nvSpPr>
        <p:spPr>
          <a:xfrm>
            <a:off x="8961120" y="1371600"/>
            <a:ext cx="2377440" cy="1371600"/>
          </a:xfrm>
          <a:prstGeom prst="roundRect">
            <a:avLst/>
          </a:prstGeom>
          <a:solidFill>
            <a:srgbClr val="161B22"/>
          </a:solidFill>
        </p:spPr>
        <p:txBody>
          <a:bodyPr wrap="square" anchor="ctr" lIns="137160" tIns="137160" rIns="137160" bIns="137160"/>
          <a:lstStyle/>
          <a:p>
            <a:pPr algn="ctr"/>
            <a:r>
              <a:rPr lang="en-US" dirty="0" sz="3000" b="1">
                <a:solidFill>
                  <a:srgbClr val="FFFFFF"/>
                </a:solidFill>
              </a:rPr>
              <a:t>19m</a:t>
            </a:r>
          </a:p>
          <a:p>
            <a:pPr algn="ctr"/>
            <a:r>
              <a:rPr lang="en-US" dirty="0" sz="1400">
                <a:solidFill>
                  <a:srgbClr val="FFFFFF"/>
                </a:solidFill>
              </a:rPr>
              <a:t>SOLAR ARRAY SPAN</a:t>
            </a:r>
          </a:p>
        </p:txBody>
      </p:sp>
      <p:sp>
        <p:nvSpPr>
          <p:cNvPr id="65" name="TextBox 65"/>
          <p:cNvSpPr txBox="1"/>
          <p:nvPr/>
        </p:nvSpPr>
        <p:spPr>
          <a:xfrm>
            <a:off x="6400800" y="2926080"/>
            <a:ext cx="2377440" cy="1371600"/>
          </a:xfrm>
          <a:prstGeom prst="roundRect">
            <a:avLst/>
          </a:prstGeom>
          <a:solidFill>
            <a:srgbClr val="161B22"/>
          </a:solidFill>
        </p:spPr>
        <p:txBody>
          <a:bodyPr wrap="square" anchor="ctr" lIns="137160" tIns="137160" rIns="137160" bIns="137160"/>
          <a:lstStyle/>
          <a:p>
            <a:pPr algn="ctr"/>
            <a:r>
              <a:rPr lang="en-US" dirty="0" sz="3000" b="1">
                <a:solidFill>
                  <a:srgbClr val="FFFFFF"/>
                </a:solidFill>
              </a:rPr>
              <a:t>5m</a:t>
            </a:r>
          </a:p>
          <a:p>
            <a:pPr algn="ctr"/>
            <a:r>
              <a:rPr lang="en-US" dirty="0" sz="1400">
                <a:solidFill>
                  <a:srgbClr val="FFFFFF"/>
                </a:solidFill>
              </a:rPr>
              <a:t>HEAT SHIELD DIA.</a:t>
            </a:r>
          </a:p>
        </p:txBody>
      </p:sp>
      <p:sp>
        <p:nvSpPr>
          <p:cNvPr id="66" name="TextBox 66"/>
          <p:cNvSpPr txBox="1"/>
          <p:nvPr/>
        </p:nvSpPr>
        <p:spPr>
          <a:xfrm>
            <a:off x="8961120" y="2926080"/>
            <a:ext cx="2377440" cy="1371600"/>
          </a:xfrm>
          <a:prstGeom prst="roundRect">
            <a:avLst/>
          </a:prstGeom>
          <a:solidFill>
            <a:srgbClr val="161B22"/>
          </a:solidFill>
        </p:spPr>
        <p:txBody>
          <a:bodyPr wrap="square" anchor="ctr" lIns="137160" tIns="137160" rIns="137160" bIns="137160"/>
          <a:lstStyle/>
          <a:p>
            <a:pPr algn="ctr"/>
            <a:r>
              <a:rPr lang="en-US" dirty="0" sz="2600" b="1">
                <a:solidFill>
                  <a:srgbClr val="FFFFFF"/>
                </a:solidFill>
              </a:rPr>
              <a:t>Mach 32</a:t>
            </a:r>
          </a:p>
          <a:p>
            <a:pPr algn="ctr"/>
            <a:r>
              <a:rPr lang="en-US" dirty="0" sz="1400">
                <a:solidFill>
                  <a:srgbClr val="FFFFFF"/>
                </a:solidFill>
              </a:rPr>
              <a:t>RE-ENTRY SPEED</a:t>
            </a:r>
          </a:p>
        </p:txBody>
      </p:sp>
      <p:sp>
        <p:nvSpPr>
          <p:cNvPr id="67" name="TextBox 67"/>
          <p:cNvSpPr txBox="1"/>
          <p:nvPr/>
        </p:nvSpPr>
        <p:spPr>
          <a:xfrm>
            <a:off x="6400800" y="4572000"/>
            <a:ext cx="4937760" cy="1645920"/>
          </a:xfrm>
          <a:prstGeom prst="rect">
            <a:avLst/>
          </a:prstGeom>
          <a:solidFill>
            <a:srgbClr val="161B22"/>
          </a:solidFill>
        </p:spPr>
        <p:txBody>
          <a:bodyPr wrap="square" anchor="t" lIns="137160" tIns="137160" rIns="137160" bIns="137160"/>
          <a:lstStyle/>
          <a:p>
            <a:pPr algn="l">
              <a:lnSpc>
                <a:spcPts val="1800"/>
              </a:lnSpc>
            </a:pPr>
            <a:r>
              <a:rPr lang="en-US" dirty="0" sz="1150">
                <a:solidFill>
                  <a:srgbClr val="E6EDF3"/>
                </a:solidFill>
              </a:rPr>
              <a:t>Built by Lockheed Martin with ESA's European Service Module, Orion is designed for deep space. Its AVCOAT heat shield — the largest ever built — must withstand temperatures of ~2,760°C (5,000°F) during lunar return re-entry at 40,000 km/h.</a:t>
            </a:r>
          </a:p>
        </p:txBody>
      </p:sp>
      <p:sp>
        <p:nvSpPr>
          <p:cNvPr id="145" name="TextBox 145"/>
          <p:cNvSpPr txBox="1"/>
          <p:nvPr/>
        </p:nvSpPr>
        <p:spPr>
          <a:xfrm>
            <a:off x="10972800" y="6400800"/>
            <a:ext cx="731520" cy="365760"/>
          </a:xfrm>
          <a:prstGeom prst="rect">
            <a:avLst/>
          </a:prstGeom>
          <a:noFill/>
        </p:spPr>
        <p:txBody>
          <a:bodyPr wrap="square" anchor="t" lIns="137160" tIns="137160" rIns="137160" bIns="137160"/>
          <a:lstStyle/>
          <a:p>
            <a:pPr algn="r"/>
            <a:r>
              <a:rPr lang="en-US" dirty="0" sz="1000">
                <a:solidFill>
                  <a:srgbClr val="FFFFFF"/>
                </a:solidFill>
              </a:rPr>
              <a:t>8</a:t>
            </a:r>
          </a:p>
        </p:txBody>
      </p:sp>
      <p:sp>
        <p:nvSpPr>
          <p:cNvPr id="161" name="TextBox 161"/>
          <p:cNvSpPr txBox="1"/>
          <p:nvPr/>
        </p:nvSpPr>
        <p:spPr>
          <a:xfrm>
            <a:off x="457200" y="6400800"/>
            <a:ext cx="7315200" cy="365760"/>
          </a:xfrm>
          <a:prstGeom prst="rect">
            <a:avLst/>
          </a:prstGeom>
          <a:noFill/>
        </p:spPr>
        <p:txBody>
          <a:bodyPr wrap="square" anchor="t" lIns="137160" tIns="137160" rIns="137160" bIns="137160"/>
          <a:lstStyle/>
          <a:p>
            <a:pPr algn="l"/>
            <a:r>
              <a:rPr lang="en-US" dirty="0" sz="800">
                <a:solidFill>
                  <a:srgbClr val="FFFFFF"/>
                </a:solidFill>
              </a:rPr>
              <a:t>NASA Artemis II Mission Briefing  |  April 2026</a:t>
            </a:r>
          </a:p>
        </p:txBody>
      </p:sp>
    </p:spTree>
  </p:cSld>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68" name="TextBox 68"/>
          <p:cNvSpPr txBox="1"/>
          <p:nvPr/>
        </p:nvSpPr>
        <p:spPr>
          <a:xfrm>
            <a:off x="457200" y="274320"/>
            <a:ext cx="10972800" cy="731520"/>
          </a:xfrm>
          <a:prstGeom prst="rect">
            <a:avLst/>
          </a:prstGeom>
          <a:noFill/>
        </p:spPr>
        <p:txBody>
          <a:bodyPr wrap="square" anchor="t" lIns="137160" tIns="137160" rIns="137160" bIns="137160"/>
          <a:lstStyle/>
          <a:p>
            <a:pPr algn="l"/>
            <a:r>
              <a:rPr lang="en-US" dirty="0" sz="2800" b="1">
                <a:solidFill>
                  <a:srgbClr val="E6EDF3"/>
                </a:solidFill>
              </a:rPr>
              <a:t>MISSION FLIGHT PLAN</a:t>
            </a:r>
          </a:p>
        </p:txBody>
      </p:sp>
      <p:sp>
        <p:nvSpPr>
          <p:cNvPr id="69" name="Rectangle 69"/>
          <p:cNvSpPr/>
          <p:nvPr/>
        </p:nvSpPr>
        <p:spPr>
          <a:xfrm>
            <a:off x="457200" y="960120"/>
            <a:ext cx="1828800" cy="45720"/>
          </a:xfrm>
          <a:prstGeom prst="rect">
            <a:avLst/>
          </a:prstGeom>
          <a:solidFill>
            <a:srgbClr val="58A6FF"/>
          </a:solidFill>
        </p:spPr>
      </p:sp>
      <p:sp>
        <p:nvSpPr>
          <p:cNvPr id="70" name="Shape 70"/>
          <p:cNvSpPr/>
          <p:nvPr/>
        </p:nvSpPr>
        <p:spPr>
          <a:xfrm>
            <a:off x="950976" y="2011680"/>
            <a:ext cx="457200" cy="457200"/>
          </a:xfrm>
          <a:prstGeom prst="ellipse">
            <a:avLst/>
          </a:prstGeom>
          <a:solidFill>
            <a:srgbClr val="58A6FF"/>
          </a:solidFill>
        </p:spPr>
        <p:txBody>
          <a:bodyPr wrap="square" anchor="ctr" lIns="137160" tIns="137160" rIns="137160" bIns="137160"/>
          <a:lstStyle/>
          <a:p>
            <a:pPr algn="ctr"/>
            <a:r>
              <a:rPr lang="en-US" dirty="0" sz="1400">
                <a:solidFill>
                  <a:srgbClr val="333333"/>
                </a:solidFill>
              </a:rPr>
              <a:t>1</a:t>
            </a:r>
          </a:p>
        </p:txBody>
      </p:sp>
      <p:sp>
        <p:nvSpPr>
          <p:cNvPr id="71" name="Rectangle 71"/>
          <p:cNvSpPr/>
          <p:nvPr/>
        </p:nvSpPr>
        <p:spPr>
          <a:xfrm>
            <a:off x="379476" y="2560320"/>
            <a:ext cx="1600200" cy="1645920"/>
          </a:xfrm>
          <a:prstGeom prst="roundRect">
            <a:avLst/>
          </a:prstGeom>
          <a:solidFill>
            <a:srgbClr val="1A1A2E"/>
          </a:solidFill>
        </p:spPr>
      </p:sp>
      <p:sp>
        <p:nvSpPr>
          <p:cNvPr id="72" name="TextBox 72"/>
          <p:cNvSpPr txBox="1"/>
          <p:nvPr/>
        </p:nvSpPr>
        <p:spPr>
          <a:xfrm>
            <a:off x="379476" y="2834640"/>
            <a:ext cx="1600200" cy="457200"/>
          </a:xfrm>
          <a:prstGeom prst="rect">
            <a:avLst/>
          </a:prstGeom>
          <a:noFill/>
        </p:spPr>
        <p:txBody>
          <a:bodyPr wrap="square" anchor="t" lIns="137160" tIns="137160" rIns="137160" bIns="137160"/>
          <a:lstStyle/>
          <a:p>
            <a:pPr algn="ctr"/>
            <a:r>
              <a:rPr lang="en-US" dirty="0" sz="1200" b="1">
                <a:solidFill>
                  <a:srgbClr val="E6EDF3"/>
                </a:solidFill>
              </a:rPr>
              <a:t>Launch</a:t>
            </a:r>
          </a:p>
        </p:txBody>
      </p:sp>
      <p:sp>
        <p:nvSpPr>
          <p:cNvPr id="73" name="TextBox 73"/>
          <p:cNvSpPr txBox="1"/>
          <p:nvPr/>
        </p:nvSpPr>
        <p:spPr>
          <a:xfrm>
            <a:off x="379476" y="4297680"/>
            <a:ext cx="1600200" cy="731520"/>
          </a:xfrm>
          <a:prstGeom prst="rect">
            <a:avLst/>
          </a:prstGeom>
          <a:noFill/>
        </p:spPr>
        <p:txBody>
          <a:bodyPr wrap="square" anchor="t" lIns="137160" tIns="137160" rIns="137160" bIns="137160"/>
          <a:lstStyle/>
          <a:p>
            <a:pPr algn="ctr"/>
            <a:r>
              <a:rPr lang="en-US" dirty="0" sz="900">
                <a:solidFill>
                  <a:srgbClr val="8B949E"/>
                </a:solidFill>
              </a:rPr>
              <a:t>SLS lifts off from Pad 39B, KSC</a:t>
            </a:r>
          </a:p>
        </p:txBody>
      </p:sp>
      <p:sp>
        <p:nvSpPr>
          <p:cNvPr id="74" name="Shape 74"/>
          <p:cNvSpPr/>
          <p:nvPr/>
        </p:nvSpPr>
        <p:spPr>
          <a:xfrm>
            <a:off x="2116836" y="3246120"/>
            <a:ext cx="274320" cy="274320"/>
          </a:xfrm>
          <a:prstGeom prst="rightArrow">
            <a:avLst/>
          </a:prstGeom>
          <a:solidFill>
            <a:srgbClr val="8B949E"/>
          </a:solidFill>
        </p:spPr>
      </p:sp>
      <p:sp>
        <p:nvSpPr>
          <p:cNvPr id="75" name="Shape 75"/>
          <p:cNvSpPr/>
          <p:nvPr/>
        </p:nvSpPr>
        <p:spPr>
          <a:xfrm>
            <a:off x="2916936" y="2011680"/>
            <a:ext cx="457200" cy="457200"/>
          </a:xfrm>
          <a:prstGeom prst="ellipse">
            <a:avLst/>
          </a:prstGeom>
          <a:solidFill>
            <a:srgbClr val="58A6FF"/>
          </a:solidFill>
        </p:spPr>
        <p:txBody>
          <a:bodyPr wrap="square" anchor="ctr" lIns="137160" tIns="137160" rIns="137160" bIns="137160"/>
          <a:lstStyle/>
          <a:p>
            <a:pPr algn="ctr"/>
            <a:r>
              <a:rPr lang="en-US" dirty="0" sz="1400">
                <a:solidFill>
                  <a:srgbClr val="333333"/>
                </a:solidFill>
              </a:rPr>
              <a:t>2</a:t>
            </a:r>
          </a:p>
        </p:txBody>
      </p:sp>
      <p:sp>
        <p:nvSpPr>
          <p:cNvPr id="76" name="Rectangle 76"/>
          <p:cNvSpPr/>
          <p:nvPr/>
        </p:nvSpPr>
        <p:spPr>
          <a:xfrm>
            <a:off x="2345436" y="2560320"/>
            <a:ext cx="1600200" cy="1645920"/>
          </a:xfrm>
          <a:prstGeom prst="roundRect">
            <a:avLst/>
          </a:prstGeom>
          <a:solidFill>
            <a:srgbClr val="1A1A2E"/>
          </a:solidFill>
        </p:spPr>
      </p:sp>
      <p:sp>
        <p:nvSpPr>
          <p:cNvPr id="77" name="TextBox 77"/>
          <p:cNvSpPr txBox="1"/>
          <p:nvPr/>
        </p:nvSpPr>
        <p:spPr>
          <a:xfrm>
            <a:off x="2345436" y="2834640"/>
            <a:ext cx="1600200" cy="457200"/>
          </a:xfrm>
          <a:prstGeom prst="rect">
            <a:avLst/>
          </a:prstGeom>
          <a:noFill/>
        </p:spPr>
        <p:txBody>
          <a:bodyPr wrap="square" anchor="t" lIns="137160" tIns="137160" rIns="137160" bIns="137160"/>
          <a:lstStyle/>
          <a:p>
            <a:pPr algn="ctr"/>
            <a:r>
              <a:rPr lang="en-US" dirty="0" sz="1200" b="1">
                <a:solidFill>
                  <a:srgbClr val="E6EDF3"/>
                </a:solidFill>
              </a:rPr>
              <a:t>Earth Orbit</a:t>
            </a:r>
          </a:p>
        </p:txBody>
      </p:sp>
      <p:sp>
        <p:nvSpPr>
          <p:cNvPr id="78" name="TextBox 78"/>
          <p:cNvSpPr txBox="1"/>
          <p:nvPr/>
        </p:nvSpPr>
        <p:spPr>
          <a:xfrm>
            <a:off x="2345436" y="4297680"/>
            <a:ext cx="1600200" cy="731520"/>
          </a:xfrm>
          <a:prstGeom prst="rect">
            <a:avLst/>
          </a:prstGeom>
          <a:noFill/>
        </p:spPr>
        <p:txBody>
          <a:bodyPr wrap="square" anchor="t" lIns="137160" tIns="137160" rIns="137160" bIns="137160"/>
          <a:lstStyle/>
          <a:p>
            <a:pPr algn="ctr"/>
            <a:r>
              <a:rPr lang="en-US" dirty="0" sz="900">
                <a:solidFill>
                  <a:srgbClr val="8B949E"/>
                </a:solidFill>
              </a:rPr>
              <a:t>ICPS performs trans-lunar injection burn</a:t>
            </a:r>
          </a:p>
        </p:txBody>
      </p:sp>
      <p:sp>
        <p:nvSpPr>
          <p:cNvPr id="79" name="Shape 79"/>
          <p:cNvSpPr/>
          <p:nvPr/>
        </p:nvSpPr>
        <p:spPr>
          <a:xfrm>
            <a:off x="4082796" y="3246120"/>
            <a:ext cx="274320" cy="274320"/>
          </a:xfrm>
          <a:prstGeom prst="rightArrow">
            <a:avLst/>
          </a:prstGeom>
          <a:solidFill>
            <a:srgbClr val="8B949E"/>
          </a:solidFill>
        </p:spPr>
      </p:sp>
      <p:sp>
        <p:nvSpPr>
          <p:cNvPr id="80" name="Shape 80"/>
          <p:cNvSpPr/>
          <p:nvPr/>
        </p:nvSpPr>
        <p:spPr>
          <a:xfrm>
            <a:off x="4882896" y="2011680"/>
            <a:ext cx="457200" cy="457200"/>
          </a:xfrm>
          <a:prstGeom prst="ellipse">
            <a:avLst/>
          </a:prstGeom>
          <a:solidFill>
            <a:srgbClr val="3FB950"/>
          </a:solidFill>
        </p:spPr>
        <p:txBody>
          <a:bodyPr wrap="square" anchor="ctr" lIns="137160" tIns="137160" rIns="137160" bIns="137160"/>
          <a:lstStyle/>
          <a:p>
            <a:pPr algn="ctr"/>
            <a:r>
              <a:rPr lang="en-US" dirty="0" sz="1400">
                <a:solidFill>
                  <a:srgbClr val="333333"/>
                </a:solidFill>
              </a:rPr>
              <a:t>3</a:t>
            </a:r>
          </a:p>
        </p:txBody>
      </p:sp>
      <p:sp>
        <p:nvSpPr>
          <p:cNvPr id="81" name="Rectangle 81"/>
          <p:cNvSpPr/>
          <p:nvPr/>
        </p:nvSpPr>
        <p:spPr>
          <a:xfrm>
            <a:off x="4311396" y="2560320"/>
            <a:ext cx="1600200" cy="1645920"/>
          </a:xfrm>
          <a:prstGeom prst="roundRect">
            <a:avLst/>
          </a:prstGeom>
          <a:solidFill>
            <a:srgbClr val="1A1A2E"/>
          </a:solidFill>
        </p:spPr>
      </p:sp>
      <p:sp>
        <p:nvSpPr>
          <p:cNvPr id="82" name="TextBox 82"/>
          <p:cNvSpPr txBox="1"/>
          <p:nvPr/>
        </p:nvSpPr>
        <p:spPr>
          <a:xfrm>
            <a:off x="4311396" y="2834640"/>
            <a:ext cx="1600200" cy="457200"/>
          </a:xfrm>
          <a:prstGeom prst="rect">
            <a:avLst/>
          </a:prstGeom>
          <a:noFill/>
        </p:spPr>
        <p:txBody>
          <a:bodyPr wrap="square" anchor="t" lIns="137160" tIns="137160" rIns="137160" bIns="137160"/>
          <a:lstStyle/>
          <a:p>
            <a:pPr algn="ctr"/>
            <a:r>
              <a:rPr lang="en-US" dirty="0" sz="1200" b="1">
                <a:solidFill>
                  <a:srgbClr val="E6EDF3"/>
                </a:solidFill>
              </a:rPr>
              <a:t>Outbound Coast</a:t>
            </a:r>
          </a:p>
        </p:txBody>
      </p:sp>
      <p:sp>
        <p:nvSpPr>
          <p:cNvPr id="83" name="TextBox 83"/>
          <p:cNvSpPr txBox="1"/>
          <p:nvPr/>
        </p:nvSpPr>
        <p:spPr>
          <a:xfrm>
            <a:off x="4311396" y="4297680"/>
            <a:ext cx="1600200" cy="731520"/>
          </a:xfrm>
          <a:prstGeom prst="rect">
            <a:avLst/>
          </a:prstGeom>
          <a:noFill/>
        </p:spPr>
        <p:txBody>
          <a:bodyPr wrap="square" anchor="t" lIns="137160" tIns="137160" rIns="137160" bIns="137160"/>
          <a:lstStyle/>
          <a:p>
            <a:pPr algn="ctr"/>
            <a:r>
              <a:rPr lang="en-US" dirty="0" sz="900">
                <a:solidFill>
                  <a:srgbClr val="8B949E"/>
                </a:solidFill>
              </a:rPr>
              <a:t>4-day transit to the Moon</a:t>
            </a:r>
          </a:p>
        </p:txBody>
      </p:sp>
      <p:sp>
        <p:nvSpPr>
          <p:cNvPr id="84" name="Shape 84"/>
          <p:cNvSpPr/>
          <p:nvPr/>
        </p:nvSpPr>
        <p:spPr>
          <a:xfrm>
            <a:off x="6048756" y="3246120"/>
            <a:ext cx="274320" cy="274320"/>
          </a:xfrm>
          <a:prstGeom prst="rightArrow">
            <a:avLst/>
          </a:prstGeom>
          <a:solidFill>
            <a:srgbClr val="8B949E"/>
          </a:solidFill>
        </p:spPr>
      </p:sp>
      <p:sp>
        <p:nvSpPr>
          <p:cNvPr id="85" name="Shape 85"/>
          <p:cNvSpPr/>
          <p:nvPr/>
        </p:nvSpPr>
        <p:spPr>
          <a:xfrm>
            <a:off x="6848856" y="2011680"/>
            <a:ext cx="457200" cy="457200"/>
          </a:xfrm>
          <a:prstGeom prst="ellipse">
            <a:avLst/>
          </a:prstGeom>
          <a:solidFill>
            <a:srgbClr val="D29922"/>
          </a:solidFill>
        </p:spPr>
        <p:txBody>
          <a:bodyPr wrap="square" anchor="ctr" lIns="137160" tIns="137160" rIns="137160" bIns="137160"/>
          <a:lstStyle/>
          <a:p>
            <a:pPr algn="ctr"/>
            <a:r>
              <a:rPr lang="en-US" dirty="0" sz="1400">
                <a:solidFill>
                  <a:srgbClr val="333333"/>
                </a:solidFill>
              </a:rPr>
              <a:t>4</a:t>
            </a:r>
          </a:p>
        </p:txBody>
      </p:sp>
      <p:sp>
        <p:nvSpPr>
          <p:cNvPr id="86" name="Rectangle 86"/>
          <p:cNvSpPr/>
          <p:nvPr/>
        </p:nvSpPr>
        <p:spPr>
          <a:xfrm>
            <a:off x="6277356" y="2560320"/>
            <a:ext cx="1600200" cy="1645920"/>
          </a:xfrm>
          <a:prstGeom prst="roundRect">
            <a:avLst/>
          </a:prstGeom>
          <a:solidFill>
            <a:srgbClr val="1A1A2E"/>
          </a:solidFill>
        </p:spPr>
      </p:sp>
      <p:sp>
        <p:nvSpPr>
          <p:cNvPr id="87" name="TextBox 87"/>
          <p:cNvSpPr txBox="1"/>
          <p:nvPr/>
        </p:nvSpPr>
        <p:spPr>
          <a:xfrm>
            <a:off x="6277356" y="2834640"/>
            <a:ext cx="1600200" cy="457200"/>
          </a:xfrm>
          <a:prstGeom prst="rect">
            <a:avLst/>
          </a:prstGeom>
          <a:noFill/>
        </p:spPr>
        <p:txBody>
          <a:bodyPr wrap="square" anchor="t" lIns="137160" tIns="137160" rIns="137160" bIns="137160"/>
          <a:lstStyle/>
          <a:p>
            <a:pPr algn="ctr"/>
            <a:r>
              <a:rPr lang="en-US" dirty="0" sz="1200" b="1">
                <a:solidFill>
                  <a:srgbClr val="E6EDF3"/>
                </a:solidFill>
              </a:rPr>
              <a:t>Lunar Flyby</a:t>
            </a:r>
          </a:p>
        </p:txBody>
      </p:sp>
      <p:sp>
        <p:nvSpPr>
          <p:cNvPr id="88" name="TextBox 88"/>
          <p:cNvSpPr txBox="1"/>
          <p:nvPr/>
        </p:nvSpPr>
        <p:spPr>
          <a:xfrm>
            <a:off x="6277356" y="4297680"/>
            <a:ext cx="1600200" cy="731520"/>
          </a:xfrm>
          <a:prstGeom prst="rect">
            <a:avLst/>
          </a:prstGeom>
          <a:noFill/>
        </p:spPr>
        <p:txBody>
          <a:bodyPr wrap="square" anchor="t" lIns="137160" tIns="137160" rIns="137160" bIns="137160"/>
          <a:lstStyle/>
          <a:p>
            <a:pPr algn="ctr"/>
            <a:r>
              <a:rPr lang="en-US" dirty="0" sz="900">
                <a:solidFill>
                  <a:srgbClr val="8B949E"/>
                </a:solidFill>
              </a:rPr>
              <a:t>Free-return trajectory ~100 km altitude</a:t>
            </a:r>
          </a:p>
        </p:txBody>
      </p:sp>
      <p:sp>
        <p:nvSpPr>
          <p:cNvPr id="89" name="Shape 89"/>
          <p:cNvSpPr/>
          <p:nvPr/>
        </p:nvSpPr>
        <p:spPr>
          <a:xfrm>
            <a:off x="8014716" y="3246120"/>
            <a:ext cx="274320" cy="274320"/>
          </a:xfrm>
          <a:prstGeom prst="rightArrow">
            <a:avLst/>
          </a:prstGeom>
          <a:solidFill>
            <a:srgbClr val="8B949E"/>
          </a:solidFill>
        </p:spPr>
      </p:sp>
      <p:sp>
        <p:nvSpPr>
          <p:cNvPr id="90" name="Shape 90"/>
          <p:cNvSpPr/>
          <p:nvPr/>
        </p:nvSpPr>
        <p:spPr>
          <a:xfrm>
            <a:off x="8814816" y="2011680"/>
            <a:ext cx="457200" cy="457200"/>
          </a:xfrm>
          <a:prstGeom prst="ellipse">
            <a:avLst/>
          </a:prstGeom>
          <a:solidFill>
            <a:srgbClr val="3FB950"/>
          </a:solidFill>
        </p:spPr>
        <p:txBody>
          <a:bodyPr wrap="square" anchor="ctr" lIns="137160" tIns="137160" rIns="137160" bIns="137160"/>
          <a:lstStyle/>
          <a:p>
            <a:pPr algn="ctr"/>
            <a:r>
              <a:rPr lang="en-US" dirty="0" sz="1400">
                <a:solidFill>
                  <a:srgbClr val="333333"/>
                </a:solidFill>
              </a:rPr>
              <a:t>5</a:t>
            </a:r>
          </a:p>
        </p:txBody>
      </p:sp>
      <p:sp>
        <p:nvSpPr>
          <p:cNvPr id="91" name="Rectangle 91"/>
          <p:cNvSpPr/>
          <p:nvPr/>
        </p:nvSpPr>
        <p:spPr>
          <a:xfrm>
            <a:off x="8243316" y="2560320"/>
            <a:ext cx="1600200" cy="1645920"/>
          </a:xfrm>
          <a:prstGeom prst="roundRect">
            <a:avLst/>
          </a:prstGeom>
          <a:solidFill>
            <a:srgbClr val="1A1A2E"/>
          </a:solidFill>
        </p:spPr>
      </p:sp>
      <p:sp>
        <p:nvSpPr>
          <p:cNvPr id="92" name="TextBox 92"/>
          <p:cNvSpPr txBox="1"/>
          <p:nvPr/>
        </p:nvSpPr>
        <p:spPr>
          <a:xfrm>
            <a:off x="8243316" y="2834640"/>
            <a:ext cx="1600200" cy="457200"/>
          </a:xfrm>
          <a:prstGeom prst="rect">
            <a:avLst/>
          </a:prstGeom>
          <a:noFill/>
        </p:spPr>
        <p:txBody>
          <a:bodyPr wrap="square" anchor="t" lIns="137160" tIns="137160" rIns="137160" bIns="137160"/>
          <a:lstStyle/>
          <a:p>
            <a:pPr algn="ctr"/>
            <a:r>
              <a:rPr lang="en-US" dirty="0" sz="1200" b="1">
                <a:solidFill>
                  <a:srgbClr val="E6EDF3"/>
                </a:solidFill>
              </a:rPr>
              <a:t>Return Coast</a:t>
            </a:r>
          </a:p>
        </p:txBody>
      </p:sp>
      <p:sp>
        <p:nvSpPr>
          <p:cNvPr id="93" name="TextBox 93"/>
          <p:cNvSpPr txBox="1"/>
          <p:nvPr/>
        </p:nvSpPr>
        <p:spPr>
          <a:xfrm>
            <a:off x="8243316" y="4297680"/>
            <a:ext cx="1600200" cy="731520"/>
          </a:xfrm>
          <a:prstGeom prst="rect">
            <a:avLst/>
          </a:prstGeom>
          <a:noFill/>
        </p:spPr>
        <p:txBody>
          <a:bodyPr wrap="square" anchor="t" lIns="137160" tIns="137160" rIns="137160" bIns="137160"/>
          <a:lstStyle/>
          <a:p>
            <a:pPr algn="ctr"/>
            <a:r>
              <a:rPr lang="en-US" dirty="0" sz="900">
                <a:solidFill>
                  <a:srgbClr val="8B949E"/>
                </a:solidFill>
              </a:rPr>
              <a:t>Gravity-assisted return to Earth</a:t>
            </a:r>
          </a:p>
        </p:txBody>
      </p:sp>
      <p:sp>
        <p:nvSpPr>
          <p:cNvPr id="94" name="Shape 94"/>
          <p:cNvSpPr/>
          <p:nvPr/>
        </p:nvSpPr>
        <p:spPr>
          <a:xfrm>
            <a:off x="9980676" y="3246120"/>
            <a:ext cx="274320" cy="274320"/>
          </a:xfrm>
          <a:prstGeom prst="rightArrow">
            <a:avLst/>
          </a:prstGeom>
          <a:solidFill>
            <a:srgbClr val="8B949E"/>
          </a:solidFill>
        </p:spPr>
      </p:sp>
      <p:sp>
        <p:nvSpPr>
          <p:cNvPr id="95" name="Shape 95"/>
          <p:cNvSpPr/>
          <p:nvPr/>
        </p:nvSpPr>
        <p:spPr>
          <a:xfrm>
            <a:off x="10780776" y="2011680"/>
            <a:ext cx="457200" cy="457200"/>
          </a:xfrm>
          <a:prstGeom prst="ellipse">
            <a:avLst/>
          </a:prstGeom>
          <a:solidFill>
            <a:srgbClr val="F85149"/>
          </a:solidFill>
        </p:spPr>
        <p:txBody>
          <a:bodyPr wrap="square" anchor="ctr" lIns="137160" tIns="137160" rIns="137160" bIns="137160"/>
          <a:lstStyle/>
          <a:p>
            <a:pPr algn="ctr"/>
            <a:r>
              <a:rPr lang="en-US" dirty="0" sz="1400">
                <a:solidFill>
                  <a:srgbClr val="333333"/>
                </a:solidFill>
              </a:rPr>
              <a:t>6</a:t>
            </a:r>
          </a:p>
        </p:txBody>
      </p:sp>
      <p:sp>
        <p:nvSpPr>
          <p:cNvPr id="96" name="Rectangle 96"/>
          <p:cNvSpPr/>
          <p:nvPr/>
        </p:nvSpPr>
        <p:spPr>
          <a:xfrm>
            <a:off x="10209276" y="2560320"/>
            <a:ext cx="1600200" cy="1645920"/>
          </a:xfrm>
          <a:prstGeom prst="roundRect">
            <a:avLst/>
          </a:prstGeom>
          <a:solidFill>
            <a:srgbClr val="1A1A2E"/>
          </a:solidFill>
        </p:spPr>
      </p:sp>
      <p:sp>
        <p:nvSpPr>
          <p:cNvPr id="97" name="TextBox 97"/>
          <p:cNvSpPr txBox="1"/>
          <p:nvPr/>
        </p:nvSpPr>
        <p:spPr>
          <a:xfrm>
            <a:off x="10209276" y="2834640"/>
            <a:ext cx="1600200" cy="457200"/>
          </a:xfrm>
          <a:prstGeom prst="rect">
            <a:avLst/>
          </a:prstGeom>
          <a:noFill/>
        </p:spPr>
        <p:txBody>
          <a:bodyPr wrap="square" anchor="t" lIns="137160" tIns="137160" rIns="137160" bIns="137160"/>
          <a:lstStyle/>
          <a:p>
            <a:pPr algn="ctr"/>
            <a:r>
              <a:rPr lang="en-US" dirty="0" sz="1200" b="1">
                <a:solidFill>
                  <a:srgbClr val="E6EDF3"/>
                </a:solidFill>
              </a:rPr>
              <a:t>Re-entry</a:t>
            </a:r>
          </a:p>
        </p:txBody>
      </p:sp>
      <p:sp>
        <p:nvSpPr>
          <p:cNvPr id="98" name="TextBox 98"/>
          <p:cNvSpPr txBox="1"/>
          <p:nvPr/>
        </p:nvSpPr>
        <p:spPr>
          <a:xfrm>
            <a:off x="10209276" y="4297680"/>
            <a:ext cx="1600200" cy="731520"/>
          </a:xfrm>
          <a:prstGeom prst="rect">
            <a:avLst/>
          </a:prstGeom>
          <a:noFill/>
        </p:spPr>
        <p:txBody>
          <a:bodyPr wrap="square" anchor="t" lIns="137160" tIns="137160" rIns="137160" bIns="137160"/>
          <a:lstStyle/>
          <a:p>
            <a:pPr algn="ctr"/>
            <a:r>
              <a:rPr lang="en-US" dirty="0" sz="900">
                <a:solidFill>
                  <a:srgbClr val="8B949E"/>
                </a:solidFill>
              </a:rPr>
              <a:t>Orion enters at ~40,000 km/h</a:t>
            </a:r>
          </a:p>
        </p:txBody>
      </p:sp>
      <p:sp>
        <p:nvSpPr>
          <p:cNvPr id="146" name="TextBox 146"/>
          <p:cNvSpPr txBox="1"/>
          <p:nvPr/>
        </p:nvSpPr>
        <p:spPr>
          <a:xfrm>
            <a:off x="10972800" y="6400800"/>
            <a:ext cx="731520" cy="365760"/>
          </a:xfrm>
          <a:prstGeom prst="rect">
            <a:avLst/>
          </a:prstGeom>
          <a:noFill/>
        </p:spPr>
        <p:txBody>
          <a:bodyPr wrap="square" anchor="t" lIns="137160" tIns="137160" rIns="137160" bIns="137160"/>
          <a:lstStyle/>
          <a:p>
            <a:pPr algn="r"/>
            <a:r>
              <a:rPr lang="en-US" dirty="0" sz="1000">
                <a:solidFill>
                  <a:srgbClr val="FFFFFF"/>
                </a:solidFill>
              </a:rPr>
              <a:t>9</a:t>
            </a:r>
          </a:p>
        </p:txBody>
      </p:sp>
      <p:sp>
        <p:nvSpPr>
          <p:cNvPr id="162" name="TextBox 162"/>
          <p:cNvSpPr txBox="1"/>
          <p:nvPr/>
        </p:nvSpPr>
        <p:spPr>
          <a:xfrm>
            <a:off x="457200" y="6400800"/>
            <a:ext cx="7315200" cy="365760"/>
          </a:xfrm>
          <a:prstGeom prst="rect">
            <a:avLst/>
          </a:prstGeom>
          <a:noFill/>
        </p:spPr>
        <p:txBody>
          <a:bodyPr wrap="square" anchor="t" lIns="137160" tIns="137160" rIns="137160" bIns="137160"/>
          <a:lstStyle/>
          <a:p>
            <a:pPr algn="l"/>
            <a:r>
              <a:rPr lang="en-US" dirty="0" sz="800">
                <a:solidFill>
                  <a:srgbClr val="FFFFFF"/>
                </a:solidFill>
              </a:rPr>
              <a:t>NASA Artemis II Mission Briefing  |  April 2026</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99" name="TextBox 99"/>
          <p:cNvSpPr txBox="1"/>
          <p:nvPr/>
        </p:nvSpPr>
        <p:spPr>
          <a:xfrm>
            <a:off x="457200" y="457200"/>
            <a:ext cx="10972800" cy="731520"/>
          </a:xfrm>
          <a:prstGeom prst="rect">
            <a:avLst/>
          </a:prstGeom>
          <a:noFill/>
        </p:spPr>
        <p:txBody>
          <a:bodyPr wrap="square" anchor="t" lIns="137160" tIns="137160" rIns="137160" bIns="137160"/>
          <a:lstStyle/>
          <a:p>
            <a:pPr algn="l"/>
            <a:r>
              <a:rPr lang="en-US" dirty="0" sz="2800" b="1">
                <a:solidFill>
                  <a:srgbClr val="E6EDF3"/>
                </a:solidFill>
              </a:rPr>
              <a:t>ARTEMIS II BY THE NUMBERS</a:t>
            </a:r>
          </a:p>
        </p:txBody>
      </p:sp>
      <p:sp>
        <p:nvSpPr>
          <p:cNvPr id="100" name="TextBox 100"/>
          <p:cNvSpPr txBox="1"/>
          <p:nvPr/>
        </p:nvSpPr>
        <p:spPr>
          <a:xfrm>
            <a:off x="731520" y="2011680"/>
            <a:ext cx="2476424" cy="1371600"/>
          </a:xfrm>
          <a:prstGeom prst="rect">
            <a:avLst/>
          </a:prstGeom>
          <a:noFill/>
        </p:spPr>
        <p:txBody>
          <a:bodyPr wrap="square" anchor="t" lIns="137160" tIns="137160" rIns="137160" bIns="137160"/>
          <a:lstStyle/>
          <a:p>
            <a:pPr algn="ctr"/>
            <a:r>
              <a:rPr lang="en-US" dirty="0" sz="4800" b="1">
                <a:solidFill>
                  <a:srgbClr val="58A6FF"/>
                </a:solidFill>
              </a:rPr>
              <a:t>~10 Days</a:t>
            </a:r>
          </a:p>
        </p:txBody>
      </p:sp>
      <p:sp>
        <p:nvSpPr>
          <p:cNvPr id="101" name="TextBox 101"/>
          <p:cNvSpPr txBox="1"/>
          <p:nvPr/>
        </p:nvSpPr>
        <p:spPr>
          <a:xfrm>
            <a:off x="731520" y="3383280"/>
            <a:ext cx="2476424" cy="548640"/>
          </a:xfrm>
          <a:prstGeom prst="rect">
            <a:avLst/>
          </a:prstGeom>
          <a:noFill/>
        </p:spPr>
        <p:txBody>
          <a:bodyPr wrap="square" anchor="t" lIns="137160" tIns="137160" rIns="137160" bIns="137160"/>
          <a:lstStyle/>
          <a:p>
            <a:pPr algn="ctr"/>
            <a:r>
              <a:rPr lang="en-US" dirty="0" sz="1600">
                <a:solidFill>
                  <a:srgbClr val="8B949E"/>
                </a:solidFill>
              </a:rPr>
              <a:t>Mission Duration</a:t>
            </a:r>
          </a:p>
        </p:txBody>
      </p:sp>
      <p:sp>
        <p:nvSpPr>
          <p:cNvPr id="102" name="Rectangle 102"/>
          <p:cNvSpPr/>
          <p:nvPr/>
        </p:nvSpPr>
        <p:spPr>
          <a:xfrm>
            <a:off x="3345104" y="2286000"/>
            <a:ext cx="18288" cy="1828800"/>
          </a:xfrm>
          <a:prstGeom prst="rect">
            <a:avLst/>
          </a:prstGeom>
          <a:solidFill>
            <a:srgbClr val="8B949E"/>
          </a:solidFill>
        </p:spPr>
      </p:sp>
      <p:sp>
        <p:nvSpPr>
          <p:cNvPr id="103" name="TextBox 103"/>
          <p:cNvSpPr txBox="1"/>
          <p:nvPr/>
        </p:nvSpPr>
        <p:spPr>
          <a:xfrm>
            <a:off x="3482264" y="2011680"/>
            <a:ext cx="2476424" cy="1371600"/>
          </a:xfrm>
          <a:prstGeom prst="rect">
            <a:avLst/>
          </a:prstGeom>
          <a:noFill/>
        </p:spPr>
        <p:txBody>
          <a:bodyPr wrap="square" anchor="t" lIns="137160" tIns="137160" rIns="137160" bIns="137160"/>
          <a:lstStyle/>
          <a:p>
            <a:pPr algn="ctr"/>
            <a:r>
              <a:rPr lang="en-US" dirty="0" sz="4800" b="1">
                <a:solidFill>
                  <a:srgbClr val="58A6FF"/>
                </a:solidFill>
              </a:rPr>
              <a:t>370,000 km</a:t>
            </a:r>
          </a:p>
        </p:txBody>
      </p:sp>
      <p:sp>
        <p:nvSpPr>
          <p:cNvPr id="104" name="TextBox 104"/>
          <p:cNvSpPr txBox="1"/>
          <p:nvPr/>
        </p:nvSpPr>
        <p:spPr>
          <a:xfrm>
            <a:off x="3482264" y="3383280"/>
            <a:ext cx="2476424" cy="548640"/>
          </a:xfrm>
          <a:prstGeom prst="rect">
            <a:avLst/>
          </a:prstGeom>
          <a:noFill/>
        </p:spPr>
        <p:txBody>
          <a:bodyPr wrap="square" anchor="t" lIns="137160" tIns="137160" rIns="137160" bIns="137160"/>
          <a:lstStyle/>
          <a:p>
            <a:pPr algn="ctr"/>
            <a:r>
              <a:rPr lang="en-US" dirty="0" sz="1600">
                <a:solidFill>
                  <a:srgbClr val="8B949E"/>
                </a:solidFill>
              </a:rPr>
              <a:t>Maximum Distance from Earth</a:t>
            </a:r>
          </a:p>
        </p:txBody>
      </p:sp>
      <p:sp>
        <p:nvSpPr>
          <p:cNvPr id="105" name="Rectangle 105"/>
          <p:cNvSpPr/>
          <p:nvPr/>
        </p:nvSpPr>
        <p:spPr>
          <a:xfrm>
            <a:off x="6095848" y="2286000"/>
            <a:ext cx="18288" cy="1828800"/>
          </a:xfrm>
          <a:prstGeom prst="rect">
            <a:avLst/>
          </a:prstGeom>
          <a:solidFill>
            <a:srgbClr val="8B949E"/>
          </a:solidFill>
        </p:spPr>
      </p:sp>
      <p:sp>
        <p:nvSpPr>
          <p:cNvPr id="106" name="TextBox 106"/>
          <p:cNvSpPr txBox="1"/>
          <p:nvPr/>
        </p:nvSpPr>
        <p:spPr>
          <a:xfrm>
            <a:off x="6233008" y="2011680"/>
            <a:ext cx="2476424" cy="1371600"/>
          </a:xfrm>
          <a:prstGeom prst="rect">
            <a:avLst/>
          </a:prstGeom>
          <a:noFill/>
        </p:spPr>
        <p:txBody>
          <a:bodyPr wrap="square" anchor="t" lIns="137160" tIns="137160" rIns="137160" bIns="137160"/>
          <a:lstStyle/>
          <a:p>
            <a:pPr algn="ctr"/>
            <a:r>
              <a:rPr lang="en-US" dirty="0" sz="4800" b="1">
                <a:solidFill>
                  <a:srgbClr val="58A6FF"/>
                </a:solidFill>
              </a:rPr>
              <a:t>~100 km</a:t>
            </a:r>
          </a:p>
        </p:txBody>
      </p:sp>
      <p:sp>
        <p:nvSpPr>
          <p:cNvPr id="107" name="TextBox 107"/>
          <p:cNvSpPr txBox="1"/>
          <p:nvPr/>
        </p:nvSpPr>
        <p:spPr>
          <a:xfrm>
            <a:off x="6233008" y="3383280"/>
            <a:ext cx="2476424" cy="548640"/>
          </a:xfrm>
          <a:prstGeom prst="rect">
            <a:avLst/>
          </a:prstGeom>
          <a:noFill/>
        </p:spPr>
        <p:txBody>
          <a:bodyPr wrap="square" anchor="t" lIns="137160" tIns="137160" rIns="137160" bIns="137160"/>
          <a:lstStyle/>
          <a:p>
            <a:pPr algn="ctr"/>
            <a:r>
              <a:rPr lang="en-US" dirty="0" sz="1600">
                <a:solidFill>
                  <a:srgbClr val="8B949E"/>
                </a:solidFill>
              </a:rPr>
              <a:t>Closest Lunar Approach</a:t>
            </a:r>
          </a:p>
        </p:txBody>
      </p:sp>
      <p:sp>
        <p:nvSpPr>
          <p:cNvPr id="108" name="Rectangle 108"/>
          <p:cNvSpPr/>
          <p:nvPr/>
        </p:nvSpPr>
        <p:spPr>
          <a:xfrm>
            <a:off x="8846591" y="2286000"/>
            <a:ext cx="18288" cy="1828800"/>
          </a:xfrm>
          <a:prstGeom prst="rect">
            <a:avLst/>
          </a:prstGeom>
          <a:solidFill>
            <a:srgbClr val="8B949E"/>
          </a:solidFill>
        </p:spPr>
      </p:sp>
      <p:sp>
        <p:nvSpPr>
          <p:cNvPr id="109" name="TextBox 109"/>
          <p:cNvSpPr txBox="1"/>
          <p:nvPr/>
        </p:nvSpPr>
        <p:spPr>
          <a:xfrm>
            <a:off x="8983751" y="2011680"/>
            <a:ext cx="2476424" cy="1371600"/>
          </a:xfrm>
          <a:prstGeom prst="rect">
            <a:avLst/>
          </a:prstGeom>
          <a:noFill/>
        </p:spPr>
        <p:txBody>
          <a:bodyPr wrap="square" anchor="t" lIns="137160" tIns="137160" rIns="137160" bIns="137160"/>
          <a:lstStyle/>
          <a:p>
            <a:pPr algn="ctr"/>
            <a:r>
              <a:rPr lang="en-US" dirty="0" sz="4800" b="1">
                <a:solidFill>
                  <a:srgbClr val="58A6FF"/>
                </a:solidFill>
              </a:rPr>
              <a:t>40,000 km/h</a:t>
            </a:r>
          </a:p>
        </p:txBody>
      </p:sp>
      <p:sp>
        <p:nvSpPr>
          <p:cNvPr id="110" name="TextBox 110"/>
          <p:cNvSpPr txBox="1"/>
          <p:nvPr/>
        </p:nvSpPr>
        <p:spPr>
          <a:xfrm>
            <a:off x="8983751" y="3383280"/>
            <a:ext cx="2476424" cy="548640"/>
          </a:xfrm>
          <a:prstGeom prst="rect">
            <a:avLst/>
          </a:prstGeom>
          <a:noFill/>
        </p:spPr>
        <p:txBody>
          <a:bodyPr wrap="square" anchor="t" lIns="137160" tIns="137160" rIns="137160" bIns="137160"/>
          <a:lstStyle/>
          <a:p>
            <a:pPr algn="ctr"/>
            <a:r>
              <a:rPr lang="en-US" dirty="0" sz="1600">
                <a:solidFill>
                  <a:srgbClr val="8B949E"/>
                </a:solidFill>
              </a:rPr>
              <a:t>Re-entry Speed</a:t>
            </a:r>
          </a:p>
        </p:txBody>
      </p:sp>
      <p:sp>
        <p:nvSpPr>
          <p:cNvPr id="147" name="TextBox 147"/>
          <p:cNvSpPr txBox="1"/>
          <p:nvPr/>
        </p:nvSpPr>
        <p:spPr>
          <a:xfrm>
            <a:off x="10972800" y="6400800"/>
            <a:ext cx="731520" cy="365760"/>
          </a:xfrm>
          <a:prstGeom prst="rect">
            <a:avLst/>
          </a:prstGeom>
          <a:noFill/>
        </p:spPr>
        <p:txBody>
          <a:bodyPr wrap="square" anchor="t" lIns="137160" tIns="137160" rIns="137160" bIns="137160"/>
          <a:lstStyle/>
          <a:p>
            <a:pPr algn="r"/>
            <a:r>
              <a:rPr lang="en-US" dirty="0" sz="1000">
                <a:solidFill>
                  <a:srgbClr val="FFFFFF"/>
                </a:solidFill>
              </a:rPr>
              <a:t>10</a:t>
            </a:r>
          </a:p>
        </p:txBody>
      </p:sp>
      <p:sp>
        <p:nvSpPr>
          <p:cNvPr id="163" name="TextBox 163"/>
          <p:cNvSpPr txBox="1"/>
          <p:nvPr/>
        </p:nvSpPr>
        <p:spPr>
          <a:xfrm>
            <a:off x="457200" y="6400800"/>
            <a:ext cx="7315200" cy="365760"/>
          </a:xfrm>
          <a:prstGeom prst="rect">
            <a:avLst/>
          </a:prstGeom>
          <a:noFill/>
        </p:spPr>
        <p:txBody>
          <a:bodyPr wrap="square" anchor="t" lIns="137160" tIns="137160" rIns="137160" bIns="137160"/>
          <a:lstStyle/>
          <a:p>
            <a:pPr algn="l"/>
            <a:r>
              <a:rPr lang="en-US" dirty="0" sz="800">
                <a:solidFill>
                  <a:srgbClr val="FFFFFF"/>
                </a:solidFill>
              </a:rPr>
              <a:t>NASA Artemis II Mission Briefing  |  April 2026</a:t>
            </a:r>
          </a:p>
        </p:txBody>
      </p:sp>
    </p:spTree>
  </p:cSld>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111" name="TextBox 111"/>
          <p:cNvSpPr txBox="1"/>
          <p:nvPr/>
        </p:nvSpPr>
        <p:spPr>
          <a:xfrm>
            <a:off x="457200" y="2148840"/>
            <a:ext cx="7315200" cy="1828800"/>
          </a:xfrm>
          <a:prstGeom prst="rect">
            <a:avLst/>
          </a:prstGeom>
          <a:noFill/>
        </p:spPr>
        <p:txBody>
          <a:bodyPr wrap="square" anchor="t" lIns="137160" tIns="137160" rIns="137160" bIns="137160"/>
          <a:lstStyle/>
          <a:p>
            <a:pPr algn="r"/>
            <a:r>
              <a:rPr lang="en-US" dirty="0" sz="9600" b="1">
                <a:solidFill>
                  <a:srgbClr val="58A6FF"/>
                </a:solidFill>
              </a:rPr>
              <a:t>8.8M</a:t>
            </a:r>
          </a:p>
        </p:txBody>
      </p:sp>
      <p:sp>
        <p:nvSpPr>
          <p:cNvPr id="112" name="TextBox 112"/>
          <p:cNvSpPr txBox="1"/>
          <p:nvPr/>
        </p:nvSpPr>
        <p:spPr>
          <a:xfrm>
            <a:off x="7955280" y="2880360"/>
            <a:ext cx="3657600" cy="1097280"/>
          </a:xfrm>
          <a:prstGeom prst="rect">
            <a:avLst/>
          </a:prstGeom>
          <a:noFill/>
        </p:spPr>
        <p:txBody>
          <a:bodyPr wrap="square" anchor="t" lIns="137160" tIns="137160" rIns="137160" bIns="137160"/>
          <a:lstStyle/>
          <a:p>
            <a:pPr algn="l"/>
            <a:r>
              <a:rPr lang="en-US" dirty="0" sz="3600" b="1">
                <a:solidFill>
                  <a:srgbClr val="58A6FF"/>
                </a:solidFill>
              </a:rPr>
              <a:t>LBF</a:t>
            </a:r>
          </a:p>
        </p:txBody>
      </p:sp>
      <p:sp>
        <p:nvSpPr>
          <p:cNvPr id="113" name="TextBox 113"/>
          <p:cNvSpPr txBox="1"/>
          <p:nvPr/>
        </p:nvSpPr>
        <p:spPr>
          <a:xfrm>
            <a:off x="457200" y="4160520"/>
            <a:ext cx="11274552" cy="548640"/>
          </a:xfrm>
          <a:prstGeom prst="rect">
            <a:avLst/>
          </a:prstGeom>
          <a:noFill/>
        </p:spPr>
        <p:txBody>
          <a:bodyPr wrap="square" anchor="t" lIns="137160" tIns="137160" rIns="137160" bIns="137160"/>
          <a:lstStyle/>
          <a:p>
            <a:pPr algn="ctr"/>
            <a:r>
              <a:rPr lang="en-US" dirty="0" sz="1600">
                <a:solidFill>
                  <a:srgbClr val="8B949E"/>
                </a:solidFill>
              </a:rPr>
              <a:t>Liftoff thrust — 15% more than Saturn V</a:t>
            </a:r>
          </a:p>
        </p:txBody>
      </p:sp>
      <p:sp>
        <p:nvSpPr>
          <p:cNvPr id="148" name="TextBox 148"/>
          <p:cNvSpPr txBox="1"/>
          <p:nvPr/>
        </p:nvSpPr>
        <p:spPr>
          <a:xfrm>
            <a:off x="10972800" y="6400800"/>
            <a:ext cx="731520" cy="365760"/>
          </a:xfrm>
          <a:prstGeom prst="rect">
            <a:avLst/>
          </a:prstGeom>
          <a:noFill/>
        </p:spPr>
        <p:txBody>
          <a:bodyPr wrap="square" anchor="t" lIns="137160" tIns="137160" rIns="137160" bIns="137160"/>
          <a:lstStyle/>
          <a:p>
            <a:pPr algn="r"/>
            <a:r>
              <a:rPr lang="en-US" dirty="0" sz="1000">
                <a:solidFill>
                  <a:srgbClr val="FFFFFF"/>
                </a:solidFill>
              </a:rPr>
              <a:t>11</a:t>
            </a:r>
          </a:p>
        </p:txBody>
      </p:sp>
      <p:sp>
        <p:nvSpPr>
          <p:cNvPr id="164" name="TextBox 164"/>
          <p:cNvSpPr txBox="1"/>
          <p:nvPr/>
        </p:nvSpPr>
        <p:spPr>
          <a:xfrm>
            <a:off x="457200" y="6400800"/>
            <a:ext cx="7315200" cy="365760"/>
          </a:xfrm>
          <a:prstGeom prst="rect">
            <a:avLst/>
          </a:prstGeom>
          <a:noFill/>
        </p:spPr>
        <p:txBody>
          <a:bodyPr wrap="square" anchor="t" lIns="137160" tIns="137160" rIns="137160" bIns="137160"/>
          <a:lstStyle/>
          <a:p>
            <a:pPr algn="l"/>
            <a:r>
              <a:rPr lang="en-US" dirty="0" sz="800">
                <a:solidFill>
                  <a:srgbClr val="FFFFFF"/>
                </a:solidFill>
              </a:rPr>
              <a:t>NASA Artemis II Mission Briefing  |  April 2026</a:t>
            </a:r>
          </a:p>
        </p:txBody>
      </p:sp>
    </p:spTree>
  </p:cSld>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114" name="Rectangle 114"/>
          <p:cNvSpPr/>
          <p:nvPr/>
        </p:nvSpPr>
        <p:spPr>
          <a:xfrm>
            <a:off x="0" y="0"/>
            <a:ext cx="12191695" cy="1005840"/>
          </a:xfrm>
          <a:prstGeom prst="rect">
            <a:avLst/>
          </a:prstGeom>
          <a:solidFill>
            <a:srgbClr val="161B22"/>
          </a:solidFill>
        </p:spPr>
      </p:sp>
      <p:sp>
        <p:nvSpPr>
          <p:cNvPr id="115" name="TextBox 115"/>
          <p:cNvSpPr txBox="1"/>
          <p:nvPr/>
        </p:nvSpPr>
        <p:spPr>
          <a:xfrm>
            <a:off x="548640" y="137160"/>
            <a:ext cx="9144000" cy="731520"/>
          </a:xfrm>
          <a:prstGeom prst="rect">
            <a:avLst/>
          </a:prstGeom>
          <a:noFill/>
        </p:spPr>
        <p:txBody>
          <a:bodyPr wrap="square" anchor="t" lIns="137160" tIns="137160" rIns="137160" bIns="137160"/>
          <a:lstStyle/>
          <a:p>
            <a:pPr algn="l"/>
            <a:r>
              <a:rPr lang="en-US" dirty="0" sz="3000" b="1">
                <a:solidFill>
                  <a:srgbClr val="E6EDF3"/>
                </a:solidFill>
              </a:rPr>
              <a:t>ARTEMIS PROGRAM MILESTONES</a:t>
            </a:r>
          </a:p>
        </p:txBody>
      </p:sp>
      <p:cxnSp>
        <p:nvCxnSpPr>
          <p:cNvPr id="116" name="Line 116"/>
          <p:cNvCxnSpPr/>
          <p:nvPr/>
        </p:nvCxnSpPr>
        <p:spPr>
          <a:xfrm>
            <a:off x="548640" y="1005840"/>
            <a:ext cx="11091672" cy="1"/>
          </a:xfrm>
          <a:prstGeom prst="line">
            <a:avLst/>
          </a:prstGeom>
          <a:ln w="25400">
            <a:solidFill>
              <a:srgbClr val="D29922"/>
            </a:solidFill>
          </a:ln>
        </p:spPr>
      </p:cxnSp>
      <p:graphicFrame>
        <p:nvGraphicFramePr>
          <p:cNvPr id="117" name="Table"/>
          <p:cNvGraphicFramePr>
            <a:graphicFrameLocks noGrp="1"/>
          </p:cNvGraphicFramePr>
          <p:nvPr/>
        </p:nvGraphicFramePr>
        <p:xfrm>
          <a:off x="457200" y="1371600"/>
          <a:ext cx="11247120" cy="640080"/>
        </p:xfrm>
        <a:graphic>
          <a:graphicData uri="http://schemas.openxmlformats.org/drawingml/2006/table">
            <a:tbl>
              <a:tblPr firstRow="1" bandRow="0"/>
              <a:tblGrid>
                <a:gridCol w="2811780"/>
                <a:gridCol w="2811780"/>
                <a:gridCol w="2811780"/>
                <a:gridCol w="2811780"/>
              </a:tblGrid>
              <a:tr h="320040">
                <a:tc>
                  <a:txBody>
                    <a:bodyPr/>
                    <a:lstStyle/>
                    <a:p>
                      <a:pPr algn="ctr"/>
                      <a:r>
                        <a:rPr lang="en-US" sz="1100" b="1" dirty="0">
                          <a:solidFill>
                            <a:srgbClr val="FFFFFF"/>
                          </a:solidFill>
                        </a:rPr>
                        <a:t>Artemis I</a:t>
                      </a:r>
                    </a:p>
                  </a:txBody>
                  <a:tcPr marL="68580" marR="68580" marT="34290" marB="34290">
                    <a:lnL w="12700">
                      <a:solidFill>
                        <a:srgbClr val="CCCCCC"/>
                      </a:solidFill>
                    </a:lnL>
                    <a:lnR w="12700">
                      <a:solidFill>
                        <a:srgbClr val="CCCCCC"/>
                      </a:solidFill>
                    </a:lnR>
                    <a:lnT w="12700">
                      <a:solidFill>
                        <a:srgbClr val="CCCCCC"/>
                      </a:solidFill>
                    </a:lnT>
                    <a:lnB w="12700">
                      <a:solidFill>
                        <a:srgbClr val="CCCCCC"/>
                      </a:solidFill>
                    </a:lnB>
                    <a:solidFill>
                      <a:srgbClr val="2196F3"/>
                    </a:solidFill>
                  </a:tcPr>
                </a:tc>
                <a:tc>
                  <a:txBody>
                    <a:bodyPr/>
                    <a:lstStyle/>
                    <a:p>
                      <a:pPr algn="ctr"/>
                      <a:r>
                        <a:rPr lang="en-US" sz="1100" b="1" dirty="0">
                          <a:solidFill>
                            <a:srgbClr val="FFFFFF"/>
                          </a:solidFill>
                        </a:rPr>
                        <a:t>Artemis II</a:t>
                      </a:r>
                    </a:p>
                  </a:txBody>
                  <a:tcPr marL="68580" marR="68580" marT="34290" marB="34290">
                    <a:lnL w="12700">
                      <a:solidFill>
                        <a:srgbClr val="CCCCCC"/>
                      </a:solidFill>
                    </a:lnL>
                    <a:lnR w="12700">
                      <a:solidFill>
                        <a:srgbClr val="CCCCCC"/>
                      </a:solidFill>
                    </a:lnR>
                    <a:lnT w="12700">
                      <a:solidFill>
                        <a:srgbClr val="CCCCCC"/>
                      </a:solidFill>
                    </a:lnT>
                    <a:lnB w="12700">
                      <a:solidFill>
                        <a:srgbClr val="CCCCCC"/>
                      </a:solidFill>
                    </a:lnB>
                    <a:solidFill>
                      <a:srgbClr val="2196F3"/>
                    </a:solidFill>
                  </a:tcPr>
                </a:tc>
                <a:tc>
                  <a:txBody>
                    <a:bodyPr/>
                    <a:lstStyle/>
                    <a:p>
                      <a:pPr algn="ctr"/>
                      <a:r>
                        <a:rPr lang="en-US" sz="1100" b="1" dirty="0">
                          <a:solidFill>
                            <a:srgbClr val="FFFFFF"/>
                          </a:solidFill>
                        </a:rPr>
                        <a:t>Artemis III</a:t>
                      </a:r>
                    </a:p>
                  </a:txBody>
                  <a:tcPr marL="68580" marR="68580" marT="34290" marB="34290">
                    <a:lnL w="12700">
                      <a:solidFill>
                        <a:srgbClr val="CCCCCC"/>
                      </a:solidFill>
                    </a:lnL>
                    <a:lnR w="12700">
                      <a:solidFill>
                        <a:srgbClr val="CCCCCC"/>
                      </a:solidFill>
                    </a:lnR>
                    <a:lnT w="12700">
                      <a:solidFill>
                        <a:srgbClr val="CCCCCC"/>
                      </a:solidFill>
                    </a:lnT>
                    <a:lnB w="12700">
                      <a:solidFill>
                        <a:srgbClr val="CCCCCC"/>
                      </a:solidFill>
                    </a:lnB>
                    <a:solidFill>
                      <a:srgbClr val="2196F3"/>
                    </a:solidFill>
                  </a:tcPr>
                </a:tc>
                <a:tc>
                  <a:txBody>
                    <a:bodyPr/>
                    <a:lstStyle/>
                    <a:p>
                      <a:pPr algn="ctr"/>
                      <a:r>
                        <a:rPr lang="en-US" sz="1100" b="1" dirty="0">
                          <a:solidFill>
                            <a:srgbClr val="FFFFFF"/>
                          </a:solidFill>
                        </a:rPr>
                        <a:t>Artemis IV</a:t>
                      </a:r>
                    </a:p>
                  </a:txBody>
                  <a:tcPr marL="68580" marR="68580" marT="34290" marB="34290">
                    <a:lnL w="12700">
                      <a:solidFill>
                        <a:srgbClr val="CCCCCC"/>
                      </a:solidFill>
                    </a:lnL>
                    <a:lnR w="12700">
                      <a:solidFill>
                        <a:srgbClr val="CCCCCC"/>
                      </a:solidFill>
                    </a:lnR>
                    <a:lnT w="12700">
                      <a:solidFill>
                        <a:srgbClr val="CCCCCC"/>
                      </a:solidFill>
                    </a:lnT>
                    <a:lnB w="12700">
                      <a:solidFill>
                        <a:srgbClr val="CCCCCC"/>
                      </a:solidFill>
                    </a:lnB>
                    <a:solidFill>
                      <a:srgbClr val="2196F3"/>
                    </a:solidFill>
                  </a:tcPr>
                </a:tc>
              </a:tr>
              <a:tr h="320040">
                <a:tc>
                  <a:txBody>
                    <a:bodyPr/>
                    <a:lstStyle/>
                    <a:p>
                      <a:pPr algn="l"/>
                      <a:r>
                        <a:rPr lang="en-US" sz="1000" dirty="0">
                          <a:solidFill>
                            <a:srgbClr val="333333"/>
                          </a:solidFill>
                        </a:rPr>
                        <a:t>Uncrewed test flight — Nov 2022</a:t>
                      </a:r>
                    </a:p>
                  </a:txBody>
                  <a:tcPr marL="68580" marR="68580" marT="34290" marB="34290">
                    <a:lnL w="12700">
                      <a:solidFill>
                        <a:srgbClr val="CCCCCC"/>
                      </a:solidFill>
                    </a:lnL>
                    <a:lnR w="12700">
                      <a:solidFill>
                        <a:srgbClr val="CCCCCC"/>
                      </a:solidFill>
                    </a:lnR>
                    <a:lnT w="12700">
                      <a:solidFill>
                        <a:srgbClr val="CCCCCC"/>
                      </a:solidFill>
                    </a:lnT>
                    <a:lnB w="12700">
                      <a:solidFill>
                        <a:srgbClr val="CCCCCC"/>
                      </a:solidFill>
                    </a:lnB>
                  </a:tcPr>
                </a:tc>
                <a:tc>
                  <a:txBody>
                    <a:bodyPr/>
                    <a:lstStyle/>
                    <a:p>
                      <a:pPr algn="l"/>
                      <a:r>
                        <a:rPr lang="en-US" sz="1000" dirty="0">
                          <a:solidFill>
                            <a:srgbClr val="333333"/>
                          </a:solidFill>
                        </a:rPr>
                        <a:t>First crewed lunar flyby — 2025</a:t>
                      </a:r>
                    </a:p>
                  </a:txBody>
                  <a:tcPr marL="68580" marR="68580" marT="34290" marB="34290">
                    <a:lnL w="12700">
                      <a:solidFill>
                        <a:srgbClr val="CCCCCC"/>
                      </a:solidFill>
                    </a:lnL>
                    <a:lnR w="12700">
                      <a:solidFill>
                        <a:srgbClr val="CCCCCC"/>
                      </a:solidFill>
                    </a:lnR>
                    <a:lnT w="12700">
                      <a:solidFill>
                        <a:srgbClr val="CCCCCC"/>
                      </a:solidFill>
                    </a:lnT>
                    <a:lnB w="12700">
                      <a:solidFill>
                        <a:srgbClr val="CCCCCC"/>
                      </a:solidFill>
                    </a:lnB>
                  </a:tcPr>
                </a:tc>
                <a:tc>
                  <a:txBody>
                    <a:bodyPr/>
                    <a:lstStyle/>
                    <a:p>
                      <a:pPr algn="l"/>
                      <a:r>
                        <a:rPr lang="en-US" sz="1000" dirty="0">
                          <a:solidFill>
                            <a:srgbClr val="333333"/>
                          </a:solidFill>
                        </a:rPr>
                        <a:t>First woman on the Moon — 2026+</a:t>
                      </a:r>
                    </a:p>
                  </a:txBody>
                  <a:tcPr marL="68580" marR="68580" marT="34290" marB="34290">
                    <a:lnL w="12700">
                      <a:solidFill>
                        <a:srgbClr val="CCCCCC"/>
                      </a:solidFill>
                    </a:lnL>
                    <a:lnR w="12700">
                      <a:solidFill>
                        <a:srgbClr val="CCCCCC"/>
                      </a:solidFill>
                    </a:lnR>
                    <a:lnT w="12700">
                      <a:solidFill>
                        <a:srgbClr val="CCCCCC"/>
                      </a:solidFill>
                    </a:lnT>
                    <a:lnB w="12700">
                      <a:solidFill>
                        <a:srgbClr val="CCCCCC"/>
                      </a:solidFill>
                    </a:lnB>
                  </a:tcPr>
                </a:tc>
                <a:tc>
                  <a:txBody>
                    <a:bodyPr/>
                    <a:lstStyle/>
                    <a:p>
                      <a:pPr algn="l"/>
                      <a:r>
                        <a:rPr lang="en-US" sz="1000" dirty="0">
                          <a:solidFill>
                            <a:srgbClr val="333333"/>
                          </a:solidFill>
                        </a:rPr>
                        <a:t>Gateway station assembly — 2028+</a:t>
                      </a:r>
                    </a:p>
                  </a:txBody>
                  <a:tcPr marL="68580" marR="68580" marT="34290" marB="34290">
                    <a:lnL w="12700">
                      <a:solidFill>
                        <a:srgbClr val="CCCCCC"/>
                      </a:solidFill>
                    </a:lnL>
                    <a:lnR w="12700">
                      <a:solidFill>
                        <a:srgbClr val="CCCCCC"/>
                      </a:solidFill>
                    </a:lnR>
                    <a:lnT w="12700">
                      <a:solidFill>
                        <a:srgbClr val="CCCCCC"/>
                      </a:solidFill>
                    </a:lnT>
                    <a:lnB w="12700">
                      <a:solidFill>
                        <a:srgbClr val="CCCCCC"/>
                      </a:solidFill>
                    </a:lnB>
                  </a:tcPr>
                </a:tc>
              </a:tr>
            </a:tbl>
          </a:graphicData>
        </a:graphic>
      </p:graphicFrame>
      <p:graphicFrame>
        <p:nvGraphicFramePr>
          <p:cNvPr id="118" name="Table"/>
          <p:cNvGraphicFramePr>
            <a:graphicFrameLocks noGrp="1"/>
          </p:cNvGraphicFramePr>
          <p:nvPr/>
        </p:nvGraphicFramePr>
        <p:xfrm>
          <a:off x="548640" y="3840480"/>
          <a:ext cx="11064240" cy="2880360"/>
        </p:xfrm>
        <a:graphic>
          <a:graphicData uri="http://schemas.openxmlformats.org/drawingml/2006/table">
            <a:tbl>
              <a:tblPr firstRow="1" bandRow="1"/>
              <a:tblGrid>
                <a:gridCol w="3688080"/>
                <a:gridCol w="3688080"/>
                <a:gridCol w="3688080"/>
              </a:tblGrid>
              <a:tr h="320040">
                <a:tc>
                  <a:txBody>
                    <a:bodyPr/>
                    <a:lstStyle/>
                    <a:p>
                      <a:pPr algn="ctr"/>
                      <a:r>
                        <a:rPr lang="en-US" sz="1150" b="1" dirty="0">
                          <a:solidFill>
                            <a:srgbClr val="FFFFFF"/>
                          </a:solidFill>
                        </a:rPr>
                        <a:t>Date</a:t>
                      </a:r>
                    </a:p>
                  </a:txBody>
                  <a:tcPr marL="68580" marR="68580" marT="34290" marB="34290">
                    <a:lnL w="12700">
                      <a:solidFill>
                        <a:srgbClr val="CCCCCC"/>
                      </a:solidFill>
                    </a:lnL>
                    <a:lnR w="12700">
                      <a:solidFill>
                        <a:srgbClr val="CCCCCC"/>
                      </a:solidFill>
                    </a:lnR>
                    <a:lnT w="12700">
                      <a:solidFill>
                        <a:srgbClr val="CCCCCC"/>
                      </a:solidFill>
                    </a:lnT>
                    <a:lnB w="12700">
                      <a:solidFill>
                        <a:srgbClr val="CCCCCC"/>
                      </a:solidFill>
                    </a:lnB>
                    <a:solidFill>
                      <a:srgbClr val="D29922"/>
                    </a:solidFill>
                  </a:tcPr>
                </a:tc>
                <a:tc>
                  <a:txBody>
                    <a:bodyPr/>
                    <a:lstStyle/>
                    <a:p>
                      <a:pPr algn="ctr"/>
                      <a:r>
                        <a:rPr lang="en-US" sz="1150" b="1" dirty="0">
                          <a:solidFill>
                            <a:srgbClr val="FFFFFF"/>
                          </a:solidFill>
                        </a:rPr>
                        <a:t>Milestone</a:t>
                      </a:r>
                    </a:p>
                  </a:txBody>
                  <a:tcPr marL="68580" marR="68580" marT="34290" marB="34290">
                    <a:lnL w="12700">
                      <a:solidFill>
                        <a:srgbClr val="CCCCCC"/>
                      </a:solidFill>
                    </a:lnL>
                    <a:lnR w="12700">
                      <a:solidFill>
                        <a:srgbClr val="CCCCCC"/>
                      </a:solidFill>
                    </a:lnR>
                    <a:lnT w="12700">
                      <a:solidFill>
                        <a:srgbClr val="CCCCCC"/>
                      </a:solidFill>
                    </a:lnT>
                    <a:lnB w="12700">
                      <a:solidFill>
                        <a:srgbClr val="CCCCCC"/>
                      </a:solidFill>
                    </a:lnB>
                    <a:solidFill>
                      <a:srgbClr val="D29922"/>
                    </a:solidFill>
                  </a:tcPr>
                </a:tc>
                <a:tc>
                  <a:txBody>
                    <a:bodyPr/>
                    <a:lstStyle/>
                    <a:p>
                      <a:pPr algn="ctr"/>
                      <a:r>
                        <a:rPr lang="en-US" sz="1150" b="1" dirty="0">
                          <a:solidFill>
                            <a:srgbClr val="FFFFFF"/>
                          </a:solidFill>
                        </a:rPr>
                        <a:t>Status</a:t>
                      </a:r>
                    </a:p>
                  </a:txBody>
                  <a:tcPr marL="68580" marR="68580" marT="34290" marB="34290">
                    <a:lnL w="12700">
                      <a:solidFill>
                        <a:srgbClr val="CCCCCC"/>
                      </a:solidFill>
                    </a:lnL>
                    <a:lnR w="12700">
                      <a:solidFill>
                        <a:srgbClr val="CCCCCC"/>
                      </a:solidFill>
                    </a:lnR>
                    <a:lnT w="12700">
                      <a:solidFill>
                        <a:srgbClr val="CCCCCC"/>
                      </a:solidFill>
                    </a:lnT>
                    <a:lnB w="12700">
                      <a:solidFill>
                        <a:srgbClr val="CCCCCC"/>
                      </a:solidFill>
                    </a:lnB>
                    <a:solidFill>
                      <a:srgbClr val="D29922"/>
                    </a:solidFill>
                  </a:tcPr>
                </a:tc>
              </a:tr>
              <a:tr h="320040">
                <a:tc>
                  <a:txBody>
                    <a:bodyPr/>
                    <a:lstStyle/>
                    <a:p>
                      <a:pPr algn="l"/>
                      <a:r>
                        <a:rPr lang="en-US" sz="1050" dirty="0">
                          <a:solidFill>
                            <a:srgbClr val="333333"/>
                          </a:solidFill>
                        </a:rPr>
                        <a:t>Nov 16, 2022</a:t>
                      </a:r>
                    </a:p>
                  </a:txBody>
                  <a:tcPr marL="68580" marR="68580" marT="34290" marB="34290">
                    <a:lnL w="12700">
                      <a:solidFill>
                        <a:srgbClr val="CCCCCC"/>
                      </a:solidFill>
                    </a:lnL>
                    <a:lnR w="12700">
                      <a:solidFill>
                        <a:srgbClr val="CCCCCC"/>
                      </a:solidFill>
                    </a:lnR>
                    <a:lnT w="12700">
                      <a:solidFill>
                        <a:srgbClr val="CCCCCC"/>
                      </a:solidFill>
                    </a:lnT>
                    <a:lnB w="12700">
                      <a:solidFill>
                        <a:srgbClr val="CCCCCC"/>
                      </a:solidFill>
                    </a:lnB>
                  </a:tcPr>
                </a:tc>
                <a:tc>
                  <a:txBody>
                    <a:bodyPr/>
                    <a:lstStyle/>
                    <a:p>
                      <a:pPr algn="l"/>
                      <a:r>
                        <a:rPr lang="en-US" sz="1050" dirty="0">
                          <a:solidFill>
                            <a:srgbClr val="333333"/>
                          </a:solidFill>
                        </a:rPr>
                        <a:t>Artemis I launch — uncrewed Orion to lunar orbit and back</a:t>
                      </a:r>
                    </a:p>
                  </a:txBody>
                  <a:tcPr marL="68580" marR="68580" marT="34290" marB="34290">
                    <a:lnL w="12700">
                      <a:solidFill>
                        <a:srgbClr val="CCCCCC"/>
                      </a:solidFill>
                    </a:lnL>
                    <a:lnR w="12700">
                      <a:solidFill>
                        <a:srgbClr val="CCCCCC"/>
                      </a:solidFill>
                    </a:lnR>
                    <a:lnT w="12700">
                      <a:solidFill>
                        <a:srgbClr val="CCCCCC"/>
                      </a:solidFill>
                    </a:lnT>
                    <a:lnB w="12700">
                      <a:solidFill>
                        <a:srgbClr val="CCCCCC"/>
                      </a:solidFill>
                    </a:lnB>
                  </a:tcPr>
                </a:tc>
                <a:tc>
                  <a:txBody>
                    <a:bodyPr/>
                    <a:lstStyle/>
                    <a:p>
                      <a:pPr algn="l"/>
                      <a:r>
                        <a:rPr lang="en-US" sz="1050" dirty="0">
                          <a:solidFill>
                            <a:srgbClr val="333333"/>
                          </a:solidFill>
                        </a:rPr>
                        <a:t>✅ Complete</a:t>
                      </a:r>
                    </a:p>
                  </a:txBody>
                  <a:tcPr marL="68580" marR="68580" marT="34290" marB="34290">
                    <a:lnL w="12700">
                      <a:solidFill>
                        <a:srgbClr val="CCCCCC"/>
                      </a:solidFill>
                    </a:lnL>
                    <a:lnR w="12700">
                      <a:solidFill>
                        <a:srgbClr val="CCCCCC"/>
                      </a:solidFill>
                    </a:lnR>
                    <a:lnT w="12700">
                      <a:solidFill>
                        <a:srgbClr val="CCCCCC"/>
                      </a:solidFill>
                    </a:lnT>
                    <a:lnB w="12700">
                      <a:solidFill>
                        <a:srgbClr val="CCCCCC"/>
                      </a:solidFill>
                    </a:lnB>
                  </a:tcPr>
                </a:tc>
              </a:tr>
              <a:tr h="320040">
                <a:tc>
                  <a:txBody>
                    <a:bodyPr/>
                    <a:lstStyle/>
                    <a:p>
                      <a:pPr algn="l"/>
                      <a:r>
                        <a:rPr lang="en-US" sz="1050" dirty="0">
                          <a:solidFill>
                            <a:srgbClr val="333333"/>
                          </a:solidFill>
                        </a:rPr>
                        <a:t>Dec 11, 2022</a:t>
                      </a:r>
                    </a:p>
                  </a:txBody>
                  <a:tcPr marL="68580" marR="68580" marT="34290" marB="34290">
                    <a:lnL w="12700">
                      <a:solidFill>
                        <a:srgbClr val="CCCCCC"/>
                      </a:solidFill>
                    </a:lnL>
                    <a:lnR w="12700">
                      <a:solidFill>
                        <a:srgbClr val="CCCCCC"/>
                      </a:solidFill>
                    </a:lnR>
                    <a:lnT w="12700">
                      <a:solidFill>
                        <a:srgbClr val="CCCCCC"/>
                      </a:solidFill>
                    </a:lnT>
                    <a:lnB w="12700">
                      <a:solidFill>
                        <a:srgbClr val="CCCCCC"/>
                      </a:solidFill>
                    </a:lnB>
                    <a:solidFill>
                      <a:srgbClr val="F5F5F5"/>
                    </a:solidFill>
                  </a:tcPr>
                </a:tc>
                <a:tc>
                  <a:txBody>
                    <a:bodyPr/>
                    <a:lstStyle/>
                    <a:p>
                      <a:pPr algn="l"/>
                      <a:r>
                        <a:rPr lang="en-US" sz="1050" dirty="0">
                          <a:solidFill>
                            <a:srgbClr val="333333"/>
                          </a:solidFill>
                        </a:rPr>
                        <a:t>Artemis I splashdown — Orion returns after 25.5 days</a:t>
                      </a:r>
                    </a:p>
                  </a:txBody>
                  <a:tcPr marL="68580" marR="68580" marT="34290" marB="34290">
                    <a:lnL w="12700">
                      <a:solidFill>
                        <a:srgbClr val="CCCCCC"/>
                      </a:solidFill>
                    </a:lnL>
                    <a:lnR w="12700">
                      <a:solidFill>
                        <a:srgbClr val="CCCCCC"/>
                      </a:solidFill>
                    </a:lnR>
                    <a:lnT w="12700">
                      <a:solidFill>
                        <a:srgbClr val="CCCCCC"/>
                      </a:solidFill>
                    </a:lnT>
                    <a:lnB w="12700">
                      <a:solidFill>
                        <a:srgbClr val="CCCCCC"/>
                      </a:solidFill>
                    </a:lnB>
                    <a:solidFill>
                      <a:srgbClr val="F5F5F5"/>
                    </a:solidFill>
                  </a:tcPr>
                </a:tc>
                <a:tc>
                  <a:txBody>
                    <a:bodyPr/>
                    <a:lstStyle/>
                    <a:p>
                      <a:pPr algn="l"/>
                      <a:r>
                        <a:rPr lang="en-US" sz="1050" dirty="0">
                          <a:solidFill>
                            <a:srgbClr val="333333"/>
                          </a:solidFill>
                        </a:rPr>
                        <a:t>✅ Complete</a:t>
                      </a:r>
                    </a:p>
                  </a:txBody>
                  <a:tcPr marL="68580" marR="68580" marT="34290" marB="34290">
                    <a:lnL w="12700">
                      <a:solidFill>
                        <a:srgbClr val="CCCCCC"/>
                      </a:solidFill>
                    </a:lnL>
                    <a:lnR w="12700">
                      <a:solidFill>
                        <a:srgbClr val="CCCCCC"/>
                      </a:solidFill>
                    </a:lnR>
                    <a:lnT w="12700">
                      <a:solidFill>
                        <a:srgbClr val="CCCCCC"/>
                      </a:solidFill>
                    </a:lnT>
                    <a:lnB w="12700">
                      <a:solidFill>
                        <a:srgbClr val="CCCCCC"/>
                      </a:solidFill>
                    </a:lnB>
                    <a:solidFill>
                      <a:srgbClr val="F5F5F5"/>
                    </a:solidFill>
                  </a:tcPr>
                </a:tc>
              </a:tr>
              <a:tr h="320040">
                <a:tc>
                  <a:txBody>
                    <a:bodyPr/>
                    <a:lstStyle/>
                    <a:p>
                      <a:pPr algn="l"/>
                      <a:r>
                        <a:rPr lang="en-US" sz="1050" dirty="0">
                          <a:solidFill>
                            <a:srgbClr val="333333"/>
                          </a:solidFill>
                        </a:rPr>
                        <a:t>Mar 2024</a:t>
                      </a:r>
                    </a:p>
                  </a:txBody>
                  <a:tcPr marL="68580" marR="68580" marT="34290" marB="34290">
                    <a:lnL w="12700">
                      <a:solidFill>
                        <a:srgbClr val="CCCCCC"/>
                      </a:solidFill>
                    </a:lnL>
                    <a:lnR w="12700">
                      <a:solidFill>
                        <a:srgbClr val="CCCCCC"/>
                      </a:solidFill>
                    </a:lnR>
                    <a:lnT w="12700">
                      <a:solidFill>
                        <a:srgbClr val="CCCCCC"/>
                      </a:solidFill>
                    </a:lnT>
                    <a:lnB w="12700">
                      <a:solidFill>
                        <a:srgbClr val="CCCCCC"/>
                      </a:solidFill>
                    </a:lnB>
                  </a:tcPr>
                </a:tc>
                <a:tc>
                  <a:txBody>
                    <a:bodyPr/>
                    <a:lstStyle/>
                    <a:p>
                      <a:pPr algn="l"/>
                      <a:r>
                        <a:rPr lang="en-US" sz="1050" dirty="0">
                          <a:solidFill>
                            <a:srgbClr val="333333"/>
                          </a:solidFill>
                        </a:rPr>
                        <a:t>SLS core stage for Artemis II arrives at Kennedy Space Center</a:t>
                      </a:r>
                    </a:p>
                  </a:txBody>
                  <a:tcPr marL="68580" marR="68580" marT="34290" marB="34290">
                    <a:lnL w="12700">
                      <a:solidFill>
                        <a:srgbClr val="CCCCCC"/>
                      </a:solidFill>
                    </a:lnL>
                    <a:lnR w="12700">
                      <a:solidFill>
                        <a:srgbClr val="CCCCCC"/>
                      </a:solidFill>
                    </a:lnR>
                    <a:lnT w="12700">
                      <a:solidFill>
                        <a:srgbClr val="CCCCCC"/>
                      </a:solidFill>
                    </a:lnT>
                    <a:lnB w="12700">
                      <a:solidFill>
                        <a:srgbClr val="CCCCCC"/>
                      </a:solidFill>
                    </a:lnB>
                  </a:tcPr>
                </a:tc>
                <a:tc>
                  <a:txBody>
                    <a:bodyPr/>
                    <a:lstStyle/>
                    <a:p>
                      <a:pPr algn="l"/>
                      <a:r>
                        <a:rPr lang="en-US" sz="1050" dirty="0">
                          <a:solidFill>
                            <a:srgbClr val="333333"/>
                          </a:solidFill>
                        </a:rPr>
                        <a:t>✅ Complete</a:t>
                      </a:r>
                    </a:p>
                  </a:txBody>
                  <a:tcPr marL="68580" marR="68580" marT="34290" marB="34290">
                    <a:lnL w="12700">
                      <a:solidFill>
                        <a:srgbClr val="CCCCCC"/>
                      </a:solidFill>
                    </a:lnL>
                    <a:lnR w="12700">
                      <a:solidFill>
                        <a:srgbClr val="CCCCCC"/>
                      </a:solidFill>
                    </a:lnR>
                    <a:lnT w="12700">
                      <a:solidFill>
                        <a:srgbClr val="CCCCCC"/>
                      </a:solidFill>
                    </a:lnT>
                    <a:lnB w="12700">
                      <a:solidFill>
                        <a:srgbClr val="CCCCCC"/>
                      </a:solidFill>
                    </a:lnB>
                  </a:tcPr>
                </a:tc>
              </a:tr>
              <a:tr h="320040">
                <a:tc>
                  <a:txBody>
                    <a:bodyPr/>
                    <a:lstStyle/>
                    <a:p>
                      <a:pPr algn="l"/>
                      <a:r>
                        <a:rPr lang="en-US" sz="1050" dirty="0">
                          <a:solidFill>
                            <a:srgbClr val="333333"/>
                          </a:solidFill>
                        </a:rPr>
                        <a:t>Sep 2024</a:t>
                      </a:r>
                    </a:p>
                  </a:txBody>
                  <a:tcPr marL="68580" marR="68580" marT="34290" marB="34290">
                    <a:lnL w="12700">
                      <a:solidFill>
                        <a:srgbClr val="CCCCCC"/>
                      </a:solidFill>
                    </a:lnL>
                    <a:lnR w="12700">
                      <a:solidFill>
                        <a:srgbClr val="CCCCCC"/>
                      </a:solidFill>
                    </a:lnR>
                    <a:lnT w="12700">
                      <a:solidFill>
                        <a:srgbClr val="CCCCCC"/>
                      </a:solidFill>
                    </a:lnT>
                    <a:lnB w="12700">
                      <a:solidFill>
                        <a:srgbClr val="CCCCCC"/>
                      </a:solidFill>
                    </a:lnB>
                    <a:solidFill>
                      <a:srgbClr val="F5F5F5"/>
                    </a:solidFill>
                  </a:tcPr>
                </a:tc>
                <a:tc>
                  <a:txBody>
                    <a:bodyPr/>
                    <a:lstStyle/>
                    <a:p>
                      <a:pPr algn="l"/>
                      <a:r>
                        <a:rPr lang="en-US" sz="1050" dirty="0">
                          <a:solidFill>
                            <a:srgbClr val="333333"/>
                          </a:solidFill>
                        </a:rPr>
                        <a:t>Full Artemis II stack assembled on Mobile Launcher at VAB</a:t>
                      </a:r>
                    </a:p>
                  </a:txBody>
                  <a:tcPr marL="68580" marR="68580" marT="34290" marB="34290">
                    <a:lnL w="12700">
                      <a:solidFill>
                        <a:srgbClr val="CCCCCC"/>
                      </a:solidFill>
                    </a:lnL>
                    <a:lnR w="12700">
                      <a:solidFill>
                        <a:srgbClr val="CCCCCC"/>
                      </a:solidFill>
                    </a:lnR>
                    <a:lnT w="12700">
                      <a:solidFill>
                        <a:srgbClr val="CCCCCC"/>
                      </a:solidFill>
                    </a:lnT>
                    <a:lnB w="12700">
                      <a:solidFill>
                        <a:srgbClr val="CCCCCC"/>
                      </a:solidFill>
                    </a:lnB>
                    <a:solidFill>
                      <a:srgbClr val="F5F5F5"/>
                    </a:solidFill>
                  </a:tcPr>
                </a:tc>
                <a:tc>
                  <a:txBody>
                    <a:bodyPr/>
                    <a:lstStyle/>
                    <a:p>
                      <a:pPr algn="l"/>
                      <a:r>
                        <a:rPr lang="en-US" sz="1050" dirty="0">
                          <a:solidFill>
                            <a:srgbClr val="333333"/>
                          </a:solidFill>
                        </a:rPr>
                        <a:t>✅ Complete</a:t>
                      </a:r>
                    </a:p>
                  </a:txBody>
                  <a:tcPr marL="68580" marR="68580" marT="34290" marB="34290">
                    <a:lnL w="12700">
                      <a:solidFill>
                        <a:srgbClr val="CCCCCC"/>
                      </a:solidFill>
                    </a:lnL>
                    <a:lnR w="12700">
                      <a:solidFill>
                        <a:srgbClr val="CCCCCC"/>
                      </a:solidFill>
                    </a:lnR>
                    <a:lnT w="12700">
                      <a:solidFill>
                        <a:srgbClr val="CCCCCC"/>
                      </a:solidFill>
                    </a:lnT>
                    <a:lnB w="12700">
                      <a:solidFill>
                        <a:srgbClr val="CCCCCC"/>
                      </a:solidFill>
                    </a:lnB>
                    <a:solidFill>
                      <a:srgbClr val="F5F5F5"/>
                    </a:solidFill>
                  </a:tcPr>
                </a:tc>
              </a:tr>
              <a:tr h="320040">
                <a:tc>
                  <a:txBody>
                    <a:bodyPr/>
                    <a:lstStyle/>
                    <a:p>
                      <a:pPr algn="l"/>
                      <a:r>
                        <a:rPr lang="en-US" sz="1050" dirty="0">
                          <a:solidFill>
                            <a:srgbClr val="333333"/>
                          </a:solidFill>
                        </a:rPr>
                        <a:t>Nov 2024</a:t>
                      </a:r>
                    </a:p>
                  </a:txBody>
                  <a:tcPr marL="68580" marR="68580" marT="34290" marB="34290">
                    <a:lnL w="12700">
                      <a:solidFill>
                        <a:srgbClr val="CCCCCC"/>
                      </a:solidFill>
                    </a:lnL>
                    <a:lnR w="12700">
                      <a:solidFill>
                        <a:srgbClr val="CCCCCC"/>
                      </a:solidFill>
                    </a:lnR>
                    <a:lnT w="12700">
                      <a:solidFill>
                        <a:srgbClr val="CCCCCC"/>
                      </a:solidFill>
                    </a:lnT>
                    <a:lnB w="12700">
                      <a:solidFill>
                        <a:srgbClr val="CCCCCC"/>
                      </a:solidFill>
                    </a:lnB>
                  </a:tcPr>
                </a:tc>
                <a:tc>
                  <a:txBody>
                    <a:bodyPr/>
                    <a:lstStyle/>
                    <a:p>
                      <a:pPr algn="l"/>
                      <a:r>
                        <a:rPr lang="en-US" sz="1050" dirty="0">
                          <a:solidFill>
                            <a:srgbClr val="333333"/>
                          </a:solidFill>
                        </a:rPr>
                        <a:t>Artemis II stack rolled out to Launch Pad 39B</a:t>
                      </a:r>
                    </a:p>
                  </a:txBody>
                  <a:tcPr marL="68580" marR="68580" marT="34290" marB="34290">
                    <a:lnL w="12700">
                      <a:solidFill>
                        <a:srgbClr val="CCCCCC"/>
                      </a:solidFill>
                    </a:lnL>
                    <a:lnR w="12700">
                      <a:solidFill>
                        <a:srgbClr val="CCCCCC"/>
                      </a:solidFill>
                    </a:lnR>
                    <a:lnT w="12700">
                      <a:solidFill>
                        <a:srgbClr val="CCCCCC"/>
                      </a:solidFill>
                    </a:lnT>
                    <a:lnB w="12700">
                      <a:solidFill>
                        <a:srgbClr val="CCCCCC"/>
                      </a:solidFill>
                    </a:lnB>
                  </a:tcPr>
                </a:tc>
                <a:tc>
                  <a:txBody>
                    <a:bodyPr/>
                    <a:lstStyle/>
                    <a:p>
                      <a:pPr algn="l"/>
                      <a:r>
                        <a:rPr lang="en-US" sz="1050" dirty="0">
                          <a:solidFill>
                            <a:srgbClr val="333333"/>
                          </a:solidFill>
                        </a:rPr>
                        <a:t>✅ Complete</a:t>
                      </a:r>
                    </a:p>
                  </a:txBody>
                  <a:tcPr marL="68580" marR="68580" marT="34290" marB="34290">
                    <a:lnL w="12700">
                      <a:solidFill>
                        <a:srgbClr val="CCCCCC"/>
                      </a:solidFill>
                    </a:lnL>
                    <a:lnR w="12700">
                      <a:solidFill>
                        <a:srgbClr val="CCCCCC"/>
                      </a:solidFill>
                    </a:lnR>
                    <a:lnT w="12700">
                      <a:solidFill>
                        <a:srgbClr val="CCCCCC"/>
                      </a:solidFill>
                    </a:lnT>
                    <a:lnB w="12700">
                      <a:solidFill>
                        <a:srgbClr val="CCCCCC"/>
                      </a:solidFill>
                    </a:lnB>
                  </a:tcPr>
                </a:tc>
              </a:tr>
              <a:tr h="320040">
                <a:tc>
                  <a:txBody>
                    <a:bodyPr/>
                    <a:lstStyle/>
                    <a:p>
                      <a:pPr algn="l"/>
                      <a:r>
                        <a:rPr lang="en-US" sz="1050" dirty="0">
                          <a:solidFill>
                            <a:srgbClr val="333333"/>
                          </a:solidFill>
                        </a:rPr>
                        <a:t>2025</a:t>
                      </a:r>
                    </a:p>
                  </a:txBody>
                  <a:tcPr marL="68580" marR="68580" marT="34290" marB="34290">
                    <a:lnL w="12700">
                      <a:solidFill>
                        <a:srgbClr val="CCCCCC"/>
                      </a:solidFill>
                    </a:lnL>
                    <a:lnR w="12700">
                      <a:solidFill>
                        <a:srgbClr val="CCCCCC"/>
                      </a:solidFill>
                    </a:lnR>
                    <a:lnT w="12700">
                      <a:solidFill>
                        <a:srgbClr val="CCCCCC"/>
                      </a:solidFill>
                    </a:lnT>
                    <a:lnB w="12700">
                      <a:solidFill>
                        <a:srgbClr val="CCCCCC"/>
                      </a:solidFill>
                    </a:lnB>
                    <a:solidFill>
                      <a:srgbClr val="F5F5F5"/>
                    </a:solidFill>
                  </a:tcPr>
                </a:tc>
                <a:tc>
                  <a:txBody>
                    <a:bodyPr/>
                    <a:lstStyle/>
                    <a:p>
                      <a:pPr algn="l"/>
                      <a:r>
                        <a:rPr lang="en-US" sz="1050" dirty="0">
                          <a:solidFill>
                            <a:srgbClr val="333333"/>
                          </a:solidFill>
                        </a:rPr>
                        <a:t>Artemis II crewed flight test — 4 astronauts around the Moon</a:t>
                      </a:r>
                    </a:p>
                  </a:txBody>
                  <a:tcPr marL="68580" marR="68580" marT="34290" marB="34290">
                    <a:lnL w="12700">
                      <a:solidFill>
                        <a:srgbClr val="CCCCCC"/>
                      </a:solidFill>
                    </a:lnL>
                    <a:lnR w="12700">
                      <a:solidFill>
                        <a:srgbClr val="CCCCCC"/>
                      </a:solidFill>
                    </a:lnR>
                    <a:lnT w="12700">
                      <a:solidFill>
                        <a:srgbClr val="CCCCCC"/>
                      </a:solidFill>
                    </a:lnT>
                    <a:lnB w="12700">
                      <a:solidFill>
                        <a:srgbClr val="CCCCCC"/>
                      </a:solidFill>
                    </a:lnB>
                    <a:solidFill>
                      <a:srgbClr val="F5F5F5"/>
                    </a:solidFill>
                  </a:tcPr>
                </a:tc>
                <a:tc>
                  <a:txBody>
                    <a:bodyPr/>
                    <a:lstStyle/>
                    <a:p>
                      <a:pPr algn="l"/>
                      <a:r>
                        <a:rPr lang="en-US" sz="1050" dirty="0">
                          <a:solidFill>
                            <a:srgbClr val="333333"/>
                          </a:solidFill>
                        </a:rPr>
                        <a:t>⏳ Upcoming</a:t>
                      </a:r>
                    </a:p>
                  </a:txBody>
                  <a:tcPr marL="68580" marR="68580" marT="34290" marB="34290">
                    <a:lnL w="12700">
                      <a:solidFill>
                        <a:srgbClr val="CCCCCC"/>
                      </a:solidFill>
                    </a:lnL>
                    <a:lnR w="12700">
                      <a:solidFill>
                        <a:srgbClr val="CCCCCC"/>
                      </a:solidFill>
                    </a:lnR>
                    <a:lnT w="12700">
                      <a:solidFill>
                        <a:srgbClr val="CCCCCC"/>
                      </a:solidFill>
                    </a:lnT>
                    <a:lnB w="12700">
                      <a:solidFill>
                        <a:srgbClr val="CCCCCC"/>
                      </a:solidFill>
                    </a:lnB>
                    <a:solidFill>
                      <a:srgbClr val="F5F5F5"/>
                    </a:solidFill>
                  </a:tcPr>
                </a:tc>
              </a:tr>
              <a:tr h="320040">
                <a:tc>
                  <a:txBody>
                    <a:bodyPr/>
                    <a:lstStyle/>
                    <a:p>
                      <a:pPr algn="l"/>
                      <a:r>
                        <a:rPr lang="en-US" sz="1050" dirty="0">
                          <a:solidFill>
                            <a:srgbClr val="333333"/>
                          </a:solidFill>
                        </a:rPr>
                        <a:t>2026+</a:t>
                      </a:r>
                    </a:p>
                  </a:txBody>
                  <a:tcPr marL="68580" marR="68580" marT="34290" marB="34290">
                    <a:lnL w="12700">
                      <a:solidFill>
                        <a:srgbClr val="CCCCCC"/>
                      </a:solidFill>
                    </a:lnL>
                    <a:lnR w="12700">
                      <a:solidFill>
                        <a:srgbClr val="CCCCCC"/>
                      </a:solidFill>
                    </a:lnR>
                    <a:lnT w="12700">
                      <a:solidFill>
                        <a:srgbClr val="CCCCCC"/>
                      </a:solidFill>
                    </a:lnT>
                    <a:lnB w="12700">
                      <a:solidFill>
                        <a:srgbClr val="CCCCCC"/>
                      </a:solidFill>
                    </a:lnB>
                  </a:tcPr>
                </a:tc>
                <a:tc>
                  <a:txBody>
                    <a:bodyPr/>
                    <a:lstStyle/>
                    <a:p>
                      <a:pPr algn="l"/>
                      <a:r>
                        <a:rPr lang="en-US" sz="1050" dirty="0">
                          <a:solidFill>
                            <a:srgbClr val="333333"/>
                          </a:solidFill>
                        </a:rPr>
                        <a:t>Artemis III — first crewed lunar landing since 1972</a:t>
                      </a:r>
                    </a:p>
                  </a:txBody>
                  <a:tcPr marL="68580" marR="68580" marT="34290" marB="34290">
                    <a:lnL w="12700">
                      <a:solidFill>
                        <a:srgbClr val="CCCCCC"/>
                      </a:solidFill>
                    </a:lnL>
                    <a:lnR w="12700">
                      <a:solidFill>
                        <a:srgbClr val="CCCCCC"/>
                      </a:solidFill>
                    </a:lnR>
                    <a:lnT w="12700">
                      <a:solidFill>
                        <a:srgbClr val="CCCCCC"/>
                      </a:solidFill>
                    </a:lnT>
                    <a:lnB w="12700">
                      <a:solidFill>
                        <a:srgbClr val="CCCCCC"/>
                      </a:solidFill>
                    </a:lnB>
                  </a:tcPr>
                </a:tc>
                <a:tc>
                  <a:txBody>
                    <a:bodyPr/>
                    <a:lstStyle/>
                    <a:p>
                      <a:pPr algn="l"/>
                      <a:r>
                        <a:rPr lang="en-US" sz="1050" dirty="0">
                          <a:solidFill>
                            <a:srgbClr val="333333"/>
                          </a:solidFill>
                        </a:rPr>
                        <a:t>📅 Planned</a:t>
                      </a:r>
                    </a:p>
                  </a:txBody>
                  <a:tcPr marL="68580" marR="68580" marT="34290" marB="34290">
                    <a:lnL w="12700">
                      <a:solidFill>
                        <a:srgbClr val="CCCCCC"/>
                      </a:solidFill>
                    </a:lnL>
                    <a:lnR w="12700">
                      <a:solidFill>
                        <a:srgbClr val="CCCCCC"/>
                      </a:solidFill>
                    </a:lnR>
                    <a:lnT w="12700">
                      <a:solidFill>
                        <a:srgbClr val="CCCCCC"/>
                      </a:solidFill>
                    </a:lnT>
                    <a:lnB w="12700">
                      <a:solidFill>
                        <a:srgbClr val="CCCCCC"/>
                      </a:solidFill>
                    </a:lnB>
                  </a:tcPr>
                </a:tc>
              </a:tr>
              <a:tr h="320040">
                <a:tc>
                  <a:txBody>
                    <a:bodyPr/>
                    <a:lstStyle/>
                    <a:p>
                      <a:pPr algn="l"/>
                      <a:r>
                        <a:rPr lang="en-US" sz="1050" dirty="0">
                          <a:solidFill>
                            <a:srgbClr val="333333"/>
                          </a:solidFill>
                        </a:rPr>
                        <a:t>2028+</a:t>
                      </a:r>
                    </a:p>
                  </a:txBody>
                  <a:tcPr marL="68580" marR="68580" marT="34290" marB="34290">
                    <a:lnL w="12700">
                      <a:solidFill>
                        <a:srgbClr val="CCCCCC"/>
                      </a:solidFill>
                    </a:lnL>
                    <a:lnR w="12700">
                      <a:solidFill>
                        <a:srgbClr val="CCCCCC"/>
                      </a:solidFill>
                    </a:lnR>
                    <a:lnT w="12700">
                      <a:solidFill>
                        <a:srgbClr val="CCCCCC"/>
                      </a:solidFill>
                    </a:lnT>
                    <a:lnB w="12700">
                      <a:solidFill>
                        <a:srgbClr val="CCCCCC"/>
                      </a:solidFill>
                    </a:lnB>
                    <a:solidFill>
                      <a:srgbClr val="F5F5F5"/>
                    </a:solidFill>
                  </a:tcPr>
                </a:tc>
                <a:tc>
                  <a:txBody>
                    <a:bodyPr/>
                    <a:lstStyle/>
                    <a:p>
                      <a:pPr algn="l"/>
                      <a:r>
                        <a:rPr lang="en-US" sz="1050" dirty="0">
                          <a:solidFill>
                            <a:srgbClr val="333333"/>
                          </a:solidFill>
                        </a:rPr>
                        <a:t>Artemis IV — Gateway station &amp; Starship HLS missions</a:t>
                      </a:r>
                    </a:p>
                  </a:txBody>
                  <a:tcPr marL="68580" marR="68580" marT="34290" marB="34290">
                    <a:lnL w="12700">
                      <a:solidFill>
                        <a:srgbClr val="CCCCCC"/>
                      </a:solidFill>
                    </a:lnL>
                    <a:lnR w="12700">
                      <a:solidFill>
                        <a:srgbClr val="CCCCCC"/>
                      </a:solidFill>
                    </a:lnR>
                    <a:lnT w="12700">
                      <a:solidFill>
                        <a:srgbClr val="CCCCCC"/>
                      </a:solidFill>
                    </a:lnT>
                    <a:lnB w="12700">
                      <a:solidFill>
                        <a:srgbClr val="CCCCCC"/>
                      </a:solidFill>
                    </a:lnB>
                    <a:solidFill>
                      <a:srgbClr val="F5F5F5"/>
                    </a:solidFill>
                  </a:tcPr>
                </a:tc>
                <a:tc>
                  <a:txBody>
                    <a:bodyPr/>
                    <a:lstStyle/>
                    <a:p>
                      <a:pPr algn="l"/>
                      <a:r>
                        <a:rPr lang="en-US" sz="1050" dirty="0">
                          <a:solidFill>
                            <a:srgbClr val="333333"/>
                          </a:solidFill>
                        </a:rPr>
                        <a:t>📅 Planned</a:t>
                      </a:r>
                    </a:p>
                  </a:txBody>
                  <a:tcPr marL="68580" marR="68580" marT="34290" marB="34290">
                    <a:lnL w="12700">
                      <a:solidFill>
                        <a:srgbClr val="CCCCCC"/>
                      </a:solidFill>
                    </a:lnL>
                    <a:lnR w="12700">
                      <a:solidFill>
                        <a:srgbClr val="CCCCCC"/>
                      </a:solidFill>
                    </a:lnR>
                    <a:lnT w="12700">
                      <a:solidFill>
                        <a:srgbClr val="CCCCCC"/>
                      </a:solidFill>
                    </a:lnT>
                    <a:lnB w="12700">
                      <a:solidFill>
                        <a:srgbClr val="CCCCCC"/>
                      </a:solidFill>
                    </a:lnB>
                    <a:solidFill>
                      <a:srgbClr val="F5F5F5"/>
                    </a:solidFill>
                  </a:tcPr>
                </a:tc>
              </a:tr>
            </a:tbl>
          </a:graphicData>
        </a:graphic>
      </p:graphicFrame>
      <p:sp>
        <p:nvSpPr>
          <p:cNvPr id="149" name="TextBox 149"/>
          <p:cNvSpPr txBox="1"/>
          <p:nvPr/>
        </p:nvSpPr>
        <p:spPr>
          <a:xfrm>
            <a:off x="10972800" y="6400800"/>
            <a:ext cx="731520" cy="365760"/>
          </a:xfrm>
          <a:prstGeom prst="rect">
            <a:avLst/>
          </a:prstGeom>
          <a:noFill/>
        </p:spPr>
        <p:txBody>
          <a:bodyPr wrap="square" anchor="t" lIns="137160" tIns="137160" rIns="137160" bIns="137160"/>
          <a:lstStyle/>
          <a:p>
            <a:pPr algn="r"/>
            <a:r>
              <a:rPr lang="en-US" dirty="0" sz="1000">
                <a:solidFill>
                  <a:srgbClr val="FFFFFF"/>
                </a:solidFill>
              </a:rPr>
              <a:t>12</a:t>
            </a:r>
          </a:p>
        </p:txBody>
      </p:sp>
      <p:sp>
        <p:nvSpPr>
          <p:cNvPr id="165" name="TextBox 165"/>
          <p:cNvSpPr txBox="1"/>
          <p:nvPr/>
        </p:nvSpPr>
        <p:spPr>
          <a:xfrm>
            <a:off x="457200" y="6400800"/>
            <a:ext cx="7315200" cy="365760"/>
          </a:xfrm>
          <a:prstGeom prst="rect">
            <a:avLst/>
          </a:prstGeom>
          <a:noFill/>
        </p:spPr>
        <p:txBody>
          <a:bodyPr wrap="square" anchor="t" lIns="137160" tIns="137160" rIns="137160" bIns="137160"/>
          <a:lstStyle/>
          <a:p>
            <a:pPr algn="l"/>
            <a:r>
              <a:rPr lang="en-US" dirty="0" sz="800">
                <a:solidFill>
                  <a:srgbClr val="FFFFFF"/>
                </a:solidFill>
              </a:rPr>
              <a:t>NASA Artemis II Mission Briefing  |  April 2026</a:t>
            </a:r>
          </a:p>
        </p:txBody>
      </p:sp>
    </p:spTree>
  </p:cSld>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119" name="Rectangle 119"/>
          <p:cNvSpPr/>
          <p:nvPr/>
        </p:nvSpPr>
        <p:spPr>
          <a:xfrm>
            <a:off x="0" y="0"/>
            <a:ext cx="12191695" cy="1005840"/>
          </a:xfrm>
          <a:prstGeom prst="rect">
            <a:avLst/>
          </a:prstGeom>
          <a:solidFill>
            <a:srgbClr val="161B22"/>
          </a:solidFill>
        </p:spPr>
      </p:sp>
      <p:sp>
        <p:nvSpPr>
          <p:cNvPr id="120" name="TextBox 120"/>
          <p:cNvSpPr txBox="1"/>
          <p:nvPr/>
        </p:nvSpPr>
        <p:spPr>
          <a:xfrm>
            <a:off x="548640" y="137160"/>
            <a:ext cx="9144000" cy="731520"/>
          </a:xfrm>
          <a:prstGeom prst="rect">
            <a:avLst/>
          </a:prstGeom>
          <a:noFill/>
        </p:spPr>
        <p:txBody>
          <a:bodyPr wrap="square" anchor="t" lIns="137160" tIns="137160" rIns="137160" bIns="137160"/>
          <a:lstStyle/>
          <a:p>
            <a:pPr algn="l"/>
            <a:r>
              <a:rPr lang="en-US" dirty="0" sz="3000" b="1">
                <a:solidFill>
                  <a:srgbClr val="E6EDF3"/>
                </a:solidFill>
              </a:rPr>
              <a:t>APOLLO vs ARTEMIS II</a:t>
            </a:r>
          </a:p>
        </p:txBody>
      </p:sp>
      <p:cxnSp>
        <p:nvCxnSpPr>
          <p:cNvPr id="121" name="Line 121"/>
          <p:cNvCxnSpPr/>
          <p:nvPr/>
        </p:nvCxnSpPr>
        <p:spPr>
          <a:xfrm>
            <a:off x="548640" y="1005840"/>
            <a:ext cx="11091672" cy="1"/>
          </a:xfrm>
          <a:prstGeom prst="line">
            <a:avLst/>
          </a:prstGeom>
          <a:ln w="25400">
            <a:solidFill>
              <a:srgbClr val="F85149"/>
            </a:solidFill>
          </a:ln>
        </p:spPr>
      </p:cxnSp>
      <p:graphicFrame>
        <p:nvGraphicFramePr>
          <p:cNvPr id="122" name="Table"/>
          <p:cNvGraphicFramePr>
            <a:graphicFrameLocks noGrp="1"/>
          </p:cNvGraphicFramePr>
          <p:nvPr/>
        </p:nvGraphicFramePr>
        <p:xfrm>
          <a:off x="548640" y="1371600"/>
          <a:ext cx="11064240" cy="3520440"/>
        </p:xfrm>
        <a:graphic>
          <a:graphicData uri="http://schemas.openxmlformats.org/drawingml/2006/table">
            <a:tbl>
              <a:tblPr firstRow="1" bandRow="1"/>
              <a:tblGrid>
                <a:gridCol w="3688080"/>
                <a:gridCol w="3688080"/>
                <a:gridCol w="3688080"/>
              </a:tblGrid>
              <a:tr h="320040">
                <a:tc>
                  <a:txBody>
                    <a:bodyPr/>
                    <a:lstStyle/>
                    <a:p>
                      <a:pPr algn="ctr"/>
                      <a:r>
                        <a:rPr lang="en-US" sz="1150" b="1" dirty="0">
                          <a:solidFill>
                            <a:srgbClr val="FFFFFF"/>
                          </a:solidFill>
                        </a:rPr>
                        <a:t>Specification</a:t>
                      </a:r>
                    </a:p>
                  </a:txBody>
                  <a:tcPr marL="68580" marR="68580" marT="34290" marB="34290">
                    <a:lnL w="12700">
                      <a:solidFill>
                        <a:srgbClr val="CCCCCC"/>
                      </a:solidFill>
                    </a:lnL>
                    <a:lnR w="12700">
                      <a:solidFill>
                        <a:srgbClr val="CCCCCC"/>
                      </a:solidFill>
                    </a:lnR>
                    <a:lnT w="12700">
                      <a:solidFill>
                        <a:srgbClr val="CCCCCC"/>
                      </a:solidFill>
                    </a:lnT>
                    <a:lnB w="12700">
                      <a:solidFill>
                        <a:srgbClr val="CCCCCC"/>
                      </a:solidFill>
                    </a:lnB>
                    <a:solidFill>
                      <a:srgbClr val="F85149"/>
                    </a:solidFill>
                  </a:tcPr>
                </a:tc>
                <a:tc>
                  <a:txBody>
                    <a:bodyPr/>
                    <a:lstStyle/>
                    <a:p>
                      <a:pPr algn="ctr"/>
                      <a:r>
                        <a:rPr lang="en-US" sz="1150" b="1" dirty="0">
                          <a:solidFill>
                            <a:srgbClr val="FFFFFF"/>
                          </a:solidFill>
                        </a:rPr>
                        <a:t>Apollo (Saturn V + CM)</a:t>
                      </a:r>
                    </a:p>
                  </a:txBody>
                  <a:tcPr marL="68580" marR="68580" marT="34290" marB="34290">
                    <a:lnL w="12700">
                      <a:solidFill>
                        <a:srgbClr val="CCCCCC"/>
                      </a:solidFill>
                    </a:lnL>
                    <a:lnR w="12700">
                      <a:solidFill>
                        <a:srgbClr val="CCCCCC"/>
                      </a:solidFill>
                    </a:lnR>
                    <a:lnT w="12700">
                      <a:solidFill>
                        <a:srgbClr val="CCCCCC"/>
                      </a:solidFill>
                    </a:lnT>
                    <a:lnB w="12700">
                      <a:solidFill>
                        <a:srgbClr val="CCCCCC"/>
                      </a:solidFill>
                    </a:lnB>
                    <a:solidFill>
                      <a:srgbClr val="F85149"/>
                    </a:solidFill>
                  </a:tcPr>
                </a:tc>
                <a:tc>
                  <a:txBody>
                    <a:bodyPr/>
                    <a:lstStyle/>
                    <a:p>
                      <a:pPr algn="ctr"/>
                      <a:r>
                        <a:rPr lang="en-US" sz="1150" b="1" dirty="0">
                          <a:solidFill>
                            <a:srgbClr val="FFFFFF"/>
                          </a:solidFill>
                        </a:rPr>
                        <a:t>Artemis II (SLS + Orion)</a:t>
                      </a:r>
                    </a:p>
                  </a:txBody>
                  <a:tcPr marL="68580" marR="68580" marT="34290" marB="34290">
                    <a:lnL w="12700">
                      <a:solidFill>
                        <a:srgbClr val="CCCCCC"/>
                      </a:solidFill>
                    </a:lnL>
                    <a:lnR w="12700">
                      <a:solidFill>
                        <a:srgbClr val="CCCCCC"/>
                      </a:solidFill>
                    </a:lnR>
                    <a:lnT w="12700">
                      <a:solidFill>
                        <a:srgbClr val="CCCCCC"/>
                      </a:solidFill>
                    </a:lnT>
                    <a:lnB w="12700">
                      <a:solidFill>
                        <a:srgbClr val="CCCCCC"/>
                      </a:solidFill>
                    </a:lnB>
                    <a:solidFill>
                      <a:srgbClr val="F85149"/>
                    </a:solidFill>
                  </a:tcPr>
                </a:tc>
              </a:tr>
              <a:tr h="320040">
                <a:tc>
                  <a:txBody>
                    <a:bodyPr/>
                    <a:lstStyle/>
                    <a:p>
                      <a:pPr algn="l"/>
                      <a:r>
                        <a:rPr lang="en-US" sz="1050" dirty="0">
                          <a:solidFill>
                            <a:srgbClr val="333333"/>
                          </a:solidFill>
                        </a:rPr>
                        <a:t>Launch Vehicle Height</a:t>
                      </a:r>
                    </a:p>
                  </a:txBody>
                  <a:tcPr marL="68580" marR="68580" marT="34290" marB="34290">
                    <a:lnL w="12700">
                      <a:solidFill>
                        <a:srgbClr val="CCCCCC"/>
                      </a:solidFill>
                    </a:lnL>
                    <a:lnR w="12700">
                      <a:solidFill>
                        <a:srgbClr val="CCCCCC"/>
                      </a:solidFill>
                    </a:lnR>
                    <a:lnT w="12700">
                      <a:solidFill>
                        <a:srgbClr val="CCCCCC"/>
                      </a:solidFill>
                    </a:lnT>
                    <a:lnB w="12700">
                      <a:solidFill>
                        <a:srgbClr val="CCCCCC"/>
                      </a:solidFill>
                    </a:lnB>
                  </a:tcPr>
                </a:tc>
                <a:tc>
                  <a:txBody>
                    <a:bodyPr/>
                    <a:lstStyle/>
                    <a:p>
                      <a:pPr algn="l"/>
                      <a:r>
                        <a:rPr lang="en-US" sz="1050" dirty="0">
                          <a:solidFill>
                            <a:srgbClr val="333333"/>
                          </a:solidFill>
                        </a:rPr>
                        <a:t>110.6 m (363 ft)</a:t>
                      </a:r>
                    </a:p>
                  </a:txBody>
                  <a:tcPr marL="68580" marR="68580" marT="34290" marB="34290">
                    <a:lnL w="12700">
                      <a:solidFill>
                        <a:srgbClr val="CCCCCC"/>
                      </a:solidFill>
                    </a:lnL>
                    <a:lnR w="12700">
                      <a:solidFill>
                        <a:srgbClr val="CCCCCC"/>
                      </a:solidFill>
                    </a:lnR>
                    <a:lnT w="12700">
                      <a:solidFill>
                        <a:srgbClr val="CCCCCC"/>
                      </a:solidFill>
                    </a:lnT>
                    <a:lnB w="12700">
                      <a:solidFill>
                        <a:srgbClr val="CCCCCC"/>
                      </a:solidFill>
                    </a:lnB>
                  </a:tcPr>
                </a:tc>
                <a:tc>
                  <a:txBody>
                    <a:bodyPr/>
                    <a:lstStyle/>
                    <a:p>
                      <a:pPr algn="l"/>
                      <a:r>
                        <a:rPr lang="en-US" sz="1050" dirty="0">
                          <a:solidFill>
                            <a:srgbClr val="333333"/>
                          </a:solidFill>
                        </a:rPr>
                        <a:t>98.1 m (322 ft)</a:t>
                      </a:r>
                    </a:p>
                  </a:txBody>
                  <a:tcPr marL="68580" marR="68580" marT="34290" marB="34290">
                    <a:lnL w="12700">
                      <a:solidFill>
                        <a:srgbClr val="CCCCCC"/>
                      </a:solidFill>
                    </a:lnL>
                    <a:lnR w="12700">
                      <a:solidFill>
                        <a:srgbClr val="CCCCCC"/>
                      </a:solidFill>
                    </a:lnR>
                    <a:lnT w="12700">
                      <a:solidFill>
                        <a:srgbClr val="CCCCCC"/>
                      </a:solidFill>
                    </a:lnT>
                    <a:lnB w="12700">
                      <a:solidFill>
                        <a:srgbClr val="CCCCCC"/>
                      </a:solidFill>
                    </a:lnB>
                  </a:tcPr>
                </a:tc>
              </a:tr>
              <a:tr h="320040">
                <a:tc>
                  <a:txBody>
                    <a:bodyPr/>
                    <a:lstStyle/>
                    <a:p>
                      <a:pPr algn="l"/>
                      <a:r>
                        <a:rPr lang="en-US" sz="1050" dirty="0">
                          <a:solidFill>
                            <a:srgbClr val="333333"/>
                          </a:solidFill>
                        </a:rPr>
                        <a:t>Liftoff Thrust</a:t>
                      </a:r>
                    </a:p>
                  </a:txBody>
                  <a:tcPr marL="68580" marR="68580" marT="34290" marB="34290">
                    <a:lnL w="12700">
                      <a:solidFill>
                        <a:srgbClr val="CCCCCC"/>
                      </a:solidFill>
                    </a:lnL>
                    <a:lnR w="12700">
                      <a:solidFill>
                        <a:srgbClr val="CCCCCC"/>
                      </a:solidFill>
                    </a:lnR>
                    <a:lnT w="12700">
                      <a:solidFill>
                        <a:srgbClr val="CCCCCC"/>
                      </a:solidFill>
                    </a:lnT>
                    <a:lnB w="12700">
                      <a:solidFill>
                        <a:srgbClr val="CCCCCC"/>
                      </a:solidFill>
                    </a:lnB>
                    <a:solidFill>
                      <a:srgbClr val="F5F5F5"/>
                    </a:solidFill>
                  </a:tcPr>
                </a:tc>
                <a:tc>
                  <a:txBody>
                    <a:bodyPr/>
                    <a:lstStyle/>
                    <a:p>
                      <a:pPr algn="l"/>
                      <a:r>
                        <a:rPr lang="en-US" sz="1050" dirty="0">
                          <a:solidFill>
                            <a:srgbClr val="333333"/>
                          </a:solidFill>
                        </a:rPr>
                        <a:t>34,020 kN (7.65M lbf)</a:t>
                      </a:r>
                    </a:p>
                  </a:txBody>
                  <a:tcPr marL="68580" marR="68580" marT="34290" marB="34290">
                    <a:lnL w="12700">
                      <a:solidFill>
                        <a:srgbClr val="CCCCCC"/>
                      </a:solidFill>
                    </a:lnL>
                    <a:lnR w="12700">
                      <a:solidFill>
                        <a:srgbClr val="CCCCCC"/>
                      </a:solidFill>
                    </a:lnR>
                    <a:lnT w="12700">
                      <a:solidFill>
                        <a:srgbClr val="CCCCCC"/>
                      </a:solidFill>
                    </a:lnT>
                    <a:lnB w="12700">
                      <a:solidFill>
                        <a:srgbClr val="CCCCCC"/>
                      </a:solidFill>
                    </a:lnB>
                    <a:solidFill>
                      <a:srgbClr val="F5F5F5"/>
                    </a:solidFill>
                  </a:tcPr>
                </a:tc>
                <a:tc>
                  <a:txBody>
                    <a:bodyPr/>
                    <a:lstStyle/>
                    <a:p>
                      <a:pPr algn="l"/>
                      <a:r>
                        <a:rPr lang="en-US" sz="1050" dirty="0">
                          <a:solidFill>
                            <a:srgbClr val="333333"/>
                          </a:solidFill>
                        </a:rPr>
                        <a:t>39,144 kN (8.8M lbf)</a:t>
                      </a:r>
                    </a:p>
                  </a:txBody>
                  <a:tcPr marL="68580" marR="68580" marT="34290" marB="34290">
                    <a:lnL w="12700">
                      <a:solidFill>
                        <a:srgbClr val="CCCCCC"/>
                      </a:solidFill>
                    </a:lnL>
                    <a:lnR w="12700">
                      <a:solidFill>
                        <a:srgbClr val="CCCCCC"/>
                      </a:solidFill>
                    </a:lnR>
                    <a:lnT w="12700">
                      <a:solidFill>
                        <a:srgbClr val="CCCCCC"/>
                      </a:solidFill>
                    </a:lnT>
                    <a:lnB w="12700">
                      <a:solidFill>
                        <a:srgbClr val="CCCCCC"/>
                      </a:solidFill>
                    </a:lnB>
                    <a:solidFill>
                      <a:srgbClr val="F5F5F5"/>
                    </a:solidFill>
                  </a:tcPr>
                </a:tc>
              </a:tr>
              <a:tr h="320040">
                <a:tc>
                  <a:txBody>
                    <a:bodyPr/>
                    <a:lstStyle/>
                    <a:p>
                      <a:pPr algn="l"/>
                      <a:r>
                        <a:rPr lang="en-US" sz="1050" dirty="0">
                          <a:solidFill>
                            <a:srgbClr val="333333"/>
                          </a:solidFill>
                        </a:rPr>
                        <a:t>Crew Size</a:t>
                      </a:r>
                    </a:p>
                  </a:txBody>
                  <a:tcPr marL="68580" marR="68580" marT="34290" marB="34290">
                    <a:lnL w="12700">
                      <a:solidFill>
                        <a:srgbClr val="CCCCCC"/>
                      </a:solidFill>
                    </a:lnL>
                    <a:lnR w="12700">
                      <a:solidFill>
                        <a:srgbClr val="CCCCCC"/>
                      </a:solidFill>
                    </a:lnR>
                    <a:lnT w="12700">
                      <a:solidFill>
                        <a:srgbClr val="CCCCCC"/>
                      </a:solidFill>
                    </a:lnT>
                    <a:lnB w="12700">
                      <a:solidFill>
                        <a:srgbClr val="CCCCCC"/>
                      </a:solidFill>
                    </a:lnB>
                  </a:tcPr>
                </a:tc>
                <a:tc>
                  <a:txBody>
                    <a:bodyPr/>
                    <a:lstStyle/>
                    <a:p>
                      <a:pPr algn="l"/>
                      <a:r>
                        <a:rPr lang="en-US" sz="1050" dirty="0">
                          <a:solidFill>
                            <a:srgbClr val="333333"/>
                          </a:solidFill>
                        </a:rPr>
                        <a:t>3 astronauts</a:t>
                      </a:r>
                    </a:p>
                  </a:txBody>
                  <a:tcPr marL="68580" marR="68580" marT="34290" marB="34290">
                    <a:lnL w="12700">
                      <a:solidFill>
                        <a:srgbClr val="CCCCCC"/>
                      </a:solidFill>
                    </a:lnL>
                    <a:lnR w="12700">
                      <a:solidFill>
                        <a:srgbClr val="CCCCCC"/>
                      </a:solidFill>
                    </a:lnR>
                    <a:lnT w="12700">
                      <a:solidFill>
                        <a:srgbClr val="CCCCCC"/>
                      </a:solidFill>
                    </a:lnT>
                    <a:lnB w="12700">
                      <a:solidFill>
                        <a:srgbClr val="CCCCCC"/>
                      </a:solidFill>
                    </a:lnB>
                  </a:tcPr>
                </a:tc>
                <a:tc>
                  <a:txBody>
                    <a:bodyPr/>
                    <a:lstStyle/>
                    <a:p>
                      <a:pPr algn="l"/>
                      <a:r>
                        <a:rPr lang="en-US" sz="1050" dirty="0">
                          <a:solidFill>
                            <a:srgbClr val="333333"/>
                          </a:solidFill>
                        </a:rPr>
                        <a:t>4 astronauts</a:t>
                      </a:r>
                    </a:p>
                  </a:txBody>
                  <a:tcPr marL="68580" marR="68580" marT="34290" marB="34290">
                    <a:lnL w="12700">
                      <a:solidFill>
                        <a:srgbClr val="CCCCCC"/>
                      </a:solidFill>
                    </a:lnL>
                    <a:lnR w="12700">
                      <a:solidFill>
                        <a:srgbClr val="CCCCCC"/>
                      </a:solidFill>
                    </a:lnR>
                    <a:lnT w="12700">
                      <a:solidFill>
                        <a:srgbClr val="CCCCCC"/>
                      </a:solidFill>
                    </a:lnT>
                    <a:lnB w="12700">
                      <a:solidFill>
                        <a:srgbClr val="CCCCCC"/>
                      </a:solidFill>
                    </a:lnB>
                  </a:tcPr>
                </a:tc>
              </a:tr>
              <a:tr h="320040">
                <a:tc>
                  <a:txBody>
                    <a:bodyPr/>
                    <a:lstStyle/>
                    <a:p>
                      <a:pPr algn="l"/>
                      <a:r>
                        <a:rPr lang="en-US" sz="1050" dirty="0">
                          <a:solidFill>
                            <a:srgbClr val="333333"/>
                          </a:solidFill>
                        </a:rPr>
                        <a:t>Crew Module Volume</a:t>
                      </a:r>
                    </a:p>
                  </a:txBody>
                  <a:tcPr marL="68580" marR="68580" marT="34290" marB="34290">
                    <a:lnL w="12700">
                      <a:solidFill>
                        <a:srgbClr val="CCCCCC"/>
                      </a:solidFill>
                    </a:lnL>
                    <a:lnR w="12700">
                      <a:solidFill>
                        <a:srgbClr val="CCCCCC"/>
                      </a:solidFill>
                    </a:lnR>
                    <a:lnT w="12700">
                      <a:solidFill>
                        <a:srgbClr val="CCCCCC"/>
                      </a:solidFill>
                    </a:lnT>
                    <a:lnB w="12700">
                      <a:solidFill>
                        <a:srgbClr val="CCCCCC"/>
                      </a:solidFill>
                    </a:lnB>
                    <a:solidFill>
                      <a:srgbClr val="F5F5F5"/>
                    </a:solidFill>
                  </a:tcPr>
                </a:tc>
                <a:tc>
                  <a:txBody>
                    <a:bodyPr/>
                    <a:lstStyle/>
                    <a:p>
                      <a:pPr algn="l"/>
                      <a:r>
                        <a:rPr lang="en-US" sz="1050" dirty="0">
                          <a:solidFill>
                            <a:srgbClr val="333333"/>
                          </a:solidFill>
                        </a:rPr>
                        <a:t>5.9 m³ (210 ft³)</a:t>
                      </a:r>
                    </a:p>
                  </a:txBody>
                  <a:tcPr marL="68580" marR="68580" marT="34290" marB="34290">
                    <a:lnL w="12700">
                      <a:solidFill>
                        <a:srgbClr val="CCCCCC"/>
                      </a:solidFill>
                    </a:lnL>
                    <a:lnR w="12700">
                      <a:solidFill>
                        <a:srgbClr val="CCCCCC"/>
                      </a:solidFill>
                    </a:lnR>
                    <a:lnT w="12700">
                      <a:solidFill>
                        <a:srgbClr val="CCCCCC"/>
                      </a:solidFill>
                    </a:lnT>
                    <a:lnB w="12700">
                      <a:solidFill>
                        <a:srgbClr val="CCCCCC"/>
                      </a:solidFill>
                    </a:lnB>
                    <a:solidFill>
                      <a:srgbClr val="F5F5F5"/>
                    </a:solidFill>
                  </a:tcPr>
                </a:tc>
                <a:tc>
                  <a:txBody>
                    <a:bodyPr/>
                    <a:lstStyle/>
                    <a:p>
                      <a:pPr algn="l"/>
                      <a:r>
                        <a:rPr lang="en-US" sz="1050" dirty="0">
                          <a:solidFill>
                            <a:srgbClr val="333333"/>
                          </a:solidFill>
                        </a:rPr>
                        <a:t>8.95 m³ (316 ft³)</a:t>
                      </a:r>
                    </a:p>
                  </a:txBody>
                  <a:tcPr marL="68580" marR="68580" marT="34290" marB="34290">
                    <a:lnL w="12700">
                      <a:solidFill>
                        <a:srgbClr val="CCCCCC"/>
                      </a:solidFill>
                    </a:lnL>
                    <a:lnR w="12700">
                      <a:solidFill>
                        <a:srgbClr val="CCCCCC"/>
                      </a:solidFill>
                    </a:lnR>
                    <a:lnT w="12700">
                      <a:solidFill>
                        <a:srgbClr val="CCCCCC"/>
                      </a:solidFill>
                    </a:lnT>
                    <a:lnB w="12700">
                      <a:solidFill>
                        <a:srgbClr val="CCCCCC"/>
                      </a:solidFill>
                    </a:lnB>
                    <a:solidFill>
                      <a:srgbClr val="F5F5F5"/>
                    </a:solidFill>
                  </a:tcPr>
                </a:tc>
              </a:tr>
              <a:tr h="320040">
                <a:tc>
                  <a:txBody>
                    <a:bodyPr/>
                    <a:lstStyle/>
                    <a:p>
                      <a:pPr algn="l"/>
                      <a:r>
                        <a:rPr lang="en-US" sz="1050" dirty="0">
                          <a:solidFill>
                            <a:srgbClr val="333333"/>
                          </a:solidFill>
                        </a:rPr>
                        <a:t>Heat Shield Diameter</a:t>
                      </a:r>
                    </a:p>
                  </a:txBody>
                  <a:tcPr marL="68580" marR="68580" marT="34290" marB="34290">
                    <a:lnL w="12700">
                      <a:solidFill>
                        <a:srgbClr val="CCCCCC"/>
                      </a:solidFill>
                    </a:lnL>
                    <a:lnR w="12700">
                      <a:solidFill>
                        <a:srgbClr val="CCCCCC"/>
                      </a:solidFill>
                    </a:lnR>
                    <a:lnT w="12700">
                      <a:solidFill>
                        <a:srgbClr val="CCCCCC"/>
                      </a:solidFill>
                    </a:lnT>
                    <a:lnB w="12700">
                      <a:solidFill>
                        <a:srgbClr val="CCCCCC"/>
                      </a:solidFill>
                    </a:lnB>
                  </a:tcPr>
                </a:tc>
                <a:tc>
                  <a:txBody>
                    <a:bodyPr/>
                    <a:lstStyle/>
                    <a:p>
                      <a:pPr algn="l"/>
                      <a:r>
                        <a:rPr lang="en-US" sz="1050" dirty="0">
                          <a:solidFill>
                            <a:srgbClr val="333333"/>
                          </a:solidFill>
                        </a:rPr>
                        <a:t>3.9 m (12.8 ft)</a:t>
                      </a:r>
                    </a:p>
                  </a:txBody>
                  <a:tcPr marL="68580" marR="68580" marT="34290" marB="34290">
                    <a:lnL w="12700">
                      <a:solidFill>
                        <a:srgbClr val="CCCCCC"/>
                      </a:solidFill>
                    </a:lnL>
                    <a:lnR w="12700">
                      <a:solidFill>
                        <a:srgbClr val="CCCCCC"/>
                      </a:solidFill>
                    </a:lnR>
                    <a:lnT w="12700">
                      <a:solidFill>
                        <a:srgbClr val="CCCCCC"/>
                      </a:solidFill>
                    </a:lnT>
                    <a:lnB w="12700">
                      <a:solidFill>
                        <a:srgbClr val="CCCCCC"/>
                      </a:solidFill>
                    </a:lnB>
                  </a:tcPr>
                </a:tc>
                <a:tc>
                  <a:txBody>
                    <a:bodyPr/>
                    <a:lstStyle/>
                    <a:p>
                      <a:pPr algn="l"/>
                      <a:r>
                        <a:rPr lang="en-US" sz="1050" dirty="0">
                          <a:solidFill>
                            <a:srgbClr val="333333"/>
                          </a:solidFill>
                        </a:rPr>
                        <a:t>5.02 m (16.5 ft)</a:t>
                      </a:r>
                    </a:p>
                  </a:txBody>
                  <a:tcPr marL="68580" marR="68580" marT="34290" marB="34290">
                    <a:lnL w="12700">
                      <a:solidFill>
                        <a:srgbClr val="CCCCCC"/>
                      </a:solidFill>
                    </a:lnL>
                    <a:lnR w="12700">
                      <a:solidFill>
                        <a:srgbClr val="CCCCCC"/>
                      </a:solidFill>
                    </a:lnR>
                    <a:lnT w="12700">
                      <a:solidFill>
                        <a:srgbClr val="CCCCCC"/>
                      </a:solidFill>
                    </a:lnT>
                    <a:lnB w="12700">
                      <a:solidFill>
                        <a:srgbClr val="CCCCCC"/>
                      </a:solidFill>
                    </a:lnB>
                  </a:tcPr>
                </a:tc>
              </a:tr>
              <a:tr h="320040">
                <a:tc>
                  <a:txBody>
                    <a:bodyPr/>
                    <a:lstStyle/>
                    <a:p>
                      <a:pPr algn="l"/>
                      <a:r>
                        <a:rPr lang="en-US" sz="1050" dirty="0">
                          <a:solidFill>
                            <a:srgbClr val="333333"/>
                          </a:solidFill>
                        </a:rPr>
                        <a:t>Max Mission Duration</a:t>
                      </a:r>
                    </a:p>
                  </a:txBody>
                  <a:tcPr marL="68580" marR="68580" marT="34290" marB="34290">
                    <a:lnL w="12700">
                      <a:solidFill>
                        <a:srgbClr val="CCCCCC"/>
                      </a:solidFill>
                    </a:lnL>
                    <a:lnR w="12700">
                      <a:solidFill>
                        <a:srgbClr val="CCCCCC"/>
                      </a:solidFill>
                    </a:lnR>
                    <a:lnT w="12700">
                      <a:solidFill>
                        <a:srgbClr val="CCCCCC"/>
                      </a:solidFill>
                    </a:lnT>
                    <a:lnB w="12700">
                      <a:solidFill>
                        <a:srgbClr val="CCCCCC"/>
                      </a:solidFill>
                    </a:lnB>
                    <a:solidFill>
                      <a:srgbClr val="F5F5F5"/>
                    </a:solidFill>
                  </a:tcPr>
                </a:tc>
                <a:tc>
                  <a:txBody>
                    <a:bodyPr/>
                    <a:lstStyle/>
                    <a:p>
                      <a:pPr algn="l"/>
                      <a:r>
                        <a:rPr lang="en-US" sz="1050" dirty="0">
                          <a:solidFill>
                            <a:srgbClr val="333333"/>
                          </a:solidFill>
                        </a:rPr>
                        <a:t>~12 days</a:t>
                      </a:r>
                    </a:p>
                  </a:txBody>
                  <a:tcPr marL="68580" marR="68580" marT="34290" marB="34290">
                    <a:lnL w="12700">
                      <a:solidFill>
                        <a:srgbClr val="CCCCCC"/>
                      </a:solidFill>
                    </a:lnL>
                    <a:lnR w="12700">
                      <a:solidFill>
                        <a:srgbClr val="CCCCCC"/>
                      </a:solidFill>
                    </a:lnR>
                    <a:lnT w="12700">
                      <a:solidFill>
                        <a:srgbClr val="CCCCCC"/>
                      </a:solidFill>
                    </a:lnT>
                    <a:lnB w="12700">
                      <a:solidFill>
                        <a:srgbClr val="CCCCCC"/>
                      </a:solidFill>
                    </a:lnB>
                    <a:solidFill>
                      <a:srgbClr val="F5F5F5"/>
                    </a:solidFill>
                  </a:tcPr>
                </a:tc>
                <a:tc>
                  <a:txBody>
                    <a:bodyPr/>
                    <a:lstStyle/>
                    <a:p>
                      <a:pPr algn="l"/>
                      <a:r>
                        <a:rPr lang="en-US" sz="1050" dirty="0">
                          <a:solidFill>
                            <a:srgbClr val="333333"/>
                          </a:solidFill>
                        </a:rPr>
                        <a:t>~21 days (design)</a:t>
                      </a:r>
                    </a:p>
                  </a:txBody>
                  <a:tcPr marL="68580" marR="68580" marT="34290" marB="34290">
                    <a:lnL w="12700">
                      <a:solidFill>
                        <a:srgbClr val="CCCCCC"/>
                      </a:solidFill>
                    </a:lnL>
                    <a:lnR w="12700">
                      <a:solidFill>
                        <a:srgbClr val="CCCCCC"/>
                      </a:solidFill>
                    </a:lnR>
                    <a:lnT w="12700">
                      <a:solidFill>
                        <a:srgbClr val="CCCCCC"/>
                      </a:solidFill>
                    </a:lnT>
                    <a:lnB w="12700">
                      <a:solidFill>
                        <a:srgbClr val="CCCCCC"/>
                      </a:solidFill>
                    </a:lnB>
                    <a:solidFill>
                      <a:srgbClr val="F5F5F5"/>
                    </a:solidFill>
                  </a:tcPr>
                </a:tc>
              </a:tr>
              <a:tr h="320040">
                <a:tc>
                  <a:txBody>
                    <a:bodyPr/>
                    <a:lstStyle/>
                    <a:p>
                      <a:pPr algn="l"/>
                      <a:r>
                        <a:rPr lang="en-US" sz="1050" dirty="0">
                          <a:solidFill>
                            <a:srgbClr val="333333"/>
                          </a:solidFill>
                        </a:rPr>
                        <a:t>Solar Power</a:t>
                      </a:r>
                    </a:p>
                  </a:txBody>
                  <a:tcPr marL="68580" marR="68580" marT="34290" marB="34290">
                    <a:lnL w="12700">
                      <a:solidFill>
                        <a:srgbClr val="CCCCCC"/>
                      </a:solidFill>
                    </a:lnL>
                    <a:lnR w="12700">
                      <a:solidFill>
                        <a:srgbClr val="CCCCCC"/>
                      </a:solidFill>
                    </a:lnR>
                    <a:lnT w="12700">
                      <a:solidFill>
                        <a:srgbClr val="CCCCCC"/>
                      </a:solidFill>
                    </a:lnT>
                    <a:lnB w="12700">
                      <a:solidFill>
                        <a:srgbClr val="CCCCCC"/>
                      </a:solidFill>
                    </a:lnB>
                  </a:tcPr>
                </a:tc>
                <a:tc>
                  <a:txBody>
                    <a:bodyPr/>
                    <a:lstStyle/>
                    <a:p>
                      <a:pPr algn="l"/>
                      <a:r>
                        <a:rPr lang="en-US" sz="1050" dirty="0">
                          <a:solidFill>
                            <a:srgbClr val="333333"/>
                          </a:solidFill>
                        </a:rPr>
                        <a:t>Fuel cells only</a:t>
                      </a:r>
                    </a:p>
                  </a:txBody>
                  <a:tcPr marL="68580" marR="68580" marT="34290" marB="34290">
                    <a:lnL w="12700">
                      <a:solidFill>
                        <a:srgbClr val="CCCCCC"/>
                      </a:solidFill>
                    </a:lnL>
                    <a:lnR w="12700">
                      <a:solidFill>
                        <a:srgbClr val="CCCCCC"/>
                      </a:solidFill>
                    </a:lnR>
                    <a:lnT w="12700">
                      <a:solidFill>
                        <a:srgbClr val="CCCCCC"/>
                      </a:solidFill>
                    </a:lnT>
                    <a:lnB w="12700">
                      <a:solidFill>
                        <a:srgbClr val="CCCCCC"/>
                      </a:solidFill>
                    </a:lnB>
                  </a:tcPr>
                </a:tc>
                <a:tc>
                  <a:txBody>
                    <a:bodyPr/>
                    <a:lstStyle/>
                    <a:p>
                      <a:pPr algn="l"/>
                      <a:r>
                        <a:rPr lang="en-US" sz="1050" dirty="0">
                          <a:solidFill>
                            <a:srgbClr val="333333"/>
                          </a:solidFill>
                        </a:rPr>
                        <a:t>4x Solar arrays (11 kW)</a:t>
                      </a:r>
                    </a:p>
                  </a:txBody>
                  <a:tcPr marL="68580" marR="68580" marT="34290" marB="34290">
                    <a:lnL w="12700">
                      <a:solidFill>
                        <a:srgbClr val="CCCCCC"/>
                      </a:solidFill>
                    </a:lnL>
                    <a:lnR w="12700">
                      <a:solidFill>
                        <a:srgbClr val="CCCCCC"/>
                      </a:solidFill>
                    </a:lnR>
                    <a:lnT w="12700">
                      <a:solidFill>
                        <a:srgbClr val="CCCCCC"/>
                      </a:solidFill>
                    </a:lnT>
                    <a:lnB w="12700">
                      <a:solidFill>
                        <a:srgbClr val="CCCCCC"/>
                      </a:solidFill>
                    </a:lnB>
                  </a:tcPr>
                </a:tc>
              </a:tr>
              <a:tr h="320040">
                <a:tc>
                  <a:txBody>
                    <a:bodyPr/>
                    <a:lstStyle/>
                    <a:p>
                      <a:pPr algn="l"/>
                      <a:r>
                        <a:rPr lang="en-US" sz="1050" dirty="0">
                          <a:solidFill>
                            <a:srgbClr val="333333"/>
                          </a:solidFill>
                        </a:rPr>
                        <a:t>Digital Systems</a:t>
                      </a:r>
                    </a:p>
                  </a:txBody>
                  <a:tcPr marL="68580" marR="68580" marT="34290" marB="34290">
                    <a:lnL w="12700">
                      <a:solidFill>
                        <a:srgbClr val="CCCCCC"/>
                      </a:solidFill>
                    </a:lnL>
                    <a:lnR w="12700">
                      <a:solidFill>
                        <a:srgbClr val="CCCCCC"/>
                      </a:solidFill>
                    </a:lnR>
                    <a:lnT w="12700">
                      <a:solidFill>
                        <a:srgbClr val="CCCCCC"/>
                      </a:solidFill>
                    </a:lnT>
                    <a:lnB w="12700">
                      <a:solidFill>
                        <a:srgbClr val="CCCCCC"/>
                      </a:solidFill>
                    </a:lnB>
                    <a:solidFill>
                      <a:srgbClr val="F5F5F5"/>
                    </a:solidFill>
                  </a:tcPr>
                </a:tc>
                <a:tc>
                  <a:txBody>
                    <a:bodyPr/>
                    <a:lstStyle/>
                    <a:p>
                      <a:pPr algn="l"/>
                      <a:r>
                        <a:rPr lang="en-US" sz="1050" dirty="0">
                          <a:solidFill>
                            <a:srgbClr val="333333"/>
                          </a:solidFill>
                        </a:rPr>
                        <a:t>Apollo Guidance Computer (74 KB RAM)</a:t>
                      </a:r>
                    </a:p>
                  </a:txBody>
                  <a:tcPr marL="68580" marR="68580" marT="34290" marB="34290">
                    <a:lnL w="12700">
                      <a:solidFill>
                        <a:srgbClr val="CCCCCC"/>
                      </a:solidFill>
                    </a:lnL>
                    <a:lnR w="12700">
                      <a:solidFill>
                        <a:srgbClr val="CCCCCC"/>
                      </a:solidFill>
                    </a:lnR>
                    <a:lnT w="12700">
                      <a:solidFill>
                        <a:srgbClr val="CCCCCC"/>
                      </a:solidFill>
                    </a:lnT>
                    <a:lnB w="12700">
                      <a:solidFill>
                        <a:srgbClr val="CCCCCC"/>
                      </a:solidFill>
                    </a:lnB>
                    <a:solidFill>
                      <a:srgbClr val="F5F5F5"/>
                    </a:solidFill>
                  </a:tcPr>
                </a:tc>
                <a:tc>
                  <a:txBody>
                    <a:bodyPr/>
                    <a:lstStyle/>
                    <a:p>
                      <a:pPr algn="l"/>
                      <a:r>
                        <a:rPr lang="en-US" sz="1050" dirty="0">
                          <a:solidFill>
                            <a:srgbClr val="333333"/>
                          </a:solidFill>
                        </a:rPr>
                        <a:t>Modern avionics + glass cockpit</a:t>
                      </a:r>
                    </a:p>
                  </a:txBody>
                  <a:tcPr marL="68580" marR="68580" marT="34290" marB="34290">
                    <a:lnL w="12700">
                      <a:solidFill>
                        <a:srgbClr val="CCCCCC"/>
                      </a:solidFill>
                    </a:lnL>
                    <a:lnR w="12700">
                      <a:solidFill>
                        <a:srgbClr val="CCCCCC"/>
                      </a:solidFill>
                    </a:lnR>
                    <a:lnT w="12700">
                      <a:solidFill>
                        <a:srgbClr val="CCCCCC"/>
                      </a:solidFill>
                    </a:lnT>
                    <a:lnB w="12700">
                      <a:solidFill>
                        <a:srgbClr val="CCCCCC"/>
                      </a:solidFill>
                    </a:lnB>
                    <a:solidFill>
                      <a:srgbClr val="F5F5F5"/>
                    </a:solidFill>
                  </a:tcPr>
                </a:tc>
              </a:tr>
              <a:tr h="320040">
                <a:tc>
                  <a:txBody>
                    <a:bodyPr/>
                    <a:lstStyle/>
                    <a:p>
                      <a:pPr algn="l"/>
                      <a:r>
                        <a:rPr lang="en-US" sz="1050" dirty="0">
                          <a:solidFill>
                            <a:srgbClr val="333333"/>
                          </a:solidFill>
                        </a:rPr>
                        <a:t>Abort Capability</a:t>
                      </a:r>
                    </a:p>
                  </a:txBody>
                  <a:tcPr marL="68580" marR="68580" marT="34290" marB="34290">
                    <a:lnL w="12700">
                      <a:solidFill>
                        <a:srgbClr val="CCCCCC"/>
                      </a:solidFill>
                    </a:lnL>
                    <a:lnR w="12700">
                      <a:solidFill>
                        <a:srgbClr val="CCCCCC"/>
                      </a:solidFill>
                    </a:lnR>
                    <a:lnT w="12700">
                      <a:solidFill>
                        <a:srgbClr val="CCCCCC"/>
                      </a:solidFill>
                    </a:lnT>
                    <a:lnB w="12700">
                      <a:solidFill>
                        <a:srgbClr val="CCCCCC"/>
                      </a:solidFill>
                    </a:lnB>
                  </a:tcPr>
                </a:tc>
                <a:tc>
                  <a:txBody>
                    <a:bodyPr/>
                    <a:lstStyle/>
                    <a:p>
                      <a:pPr algn="l"/>
                      <a:r>
                        <a:rPr lang="en-US" sz="1050" dirty="0">
                          <a:solidFill>
                            <a:srgbClr val="333333"/>
                          </a:solidFill>
                        </a:rPr>
                        <a:t>Launch escape tower</a:t>
                      </a:r>
                    </a:p>
                  </a:txBody>
                  <a:tcPr marL="68580" marR="68580" marT="34290" marB="34290">
                    <a:lnL w="12700">
                      <a:solidFill>
                        <a:srgbClr val="CCCCCC"/>
                      </a:solidFill>
                    </a:lnL>
                    <a:lnR w="12700">
                      <a:solidFill>
                        <a:srgbClr val="CCCCCC"/>
                      </a:solidFill>
                    </a:lnR>
                    <a:lnT w="12700">
                      <a:solidFill>
                        <a:srgbClr val="CCCCCC"/>
                      </a:solidFill>
                    </a:lnT>
                    <a:lnB w="12700">
                      <a:solidFill>
                        <a:srgbClr val="CCCCCC"/>
                      </a:solidFill>
                    </a:lnB>
                  </a:tcPr>
                </a:tc>
                <a:tc>
                  <a:txBody>
                    <a:bodyPr/>
                    <a:lstStyle/>
                    <a:p>
                      <a:pPr algn="l"/>
                      <a:r>
                        <a:rPr lang="en-US" sz="1050" dirty="0">
                          <a:solidFill>
                            <a:srgbClr val="333333"/>
                          </a:solidFill>
                        </a:rPr>
                        <a:t>Launch Abort System (LAS)</a:t>
                      </a:r>
                    </a:p>
                  </a:txBody>
                  <a:tcPr marL="68580" marR="68580" marT="34290" marB="34290">
                    <a:lnL w="12700">
                      <a:solidFill>
                        <a:srgbClr val="CCCCCC"/>
                      </a:solidFill>
                    </a:lnL>
                    <a:lnR w="12700">
                      <a:solidFill>
                        <a:srgbClr val="CCCCCC"/>
                      </a:solidFill>
                    </a:lnR>
                    <a:lnT w="12700">
                      <a:solidFill>
                        <a:srgbClr val="CCCCCC"/>
                      </a:solidFill>
                    </a:lnT>
                    <a:lnB w="12700">
                      <a:solidFill>
                        <a:srgbClr val="CCCCCC"/>
                      </a:solidFill>
                    </a:lnB>
                  </a:tcPr>
                </a:tc>
              </a:tr>
              <a:tr h="320040">
                <a:tc>
                  <a:txBody>
                    <a:bodyPr/>
                    <a:lstStyle/>
                    <a:p>
                      <a:pPr algn="l"/>
                      <a:r>
                        <a:rPr lang="en-US" sz="1050" dirty="0">
                          <a:solidFill>
                            <a:srgbClr val="333333"/>
                          </a:solidFill>
                        </a:rPr>
                        <a:t>International Partners</a:t>
                      </a:r>
                    </a:p>
                  </a:txBody>
                  <a:tcPr marL="68580" marR="68580" marT="34290" marB="34290">
                    <a:lnL w="12700">
                      <a:solidFill>
                        <a:srgbClr val="CCCCCC"/>
                      </a:solidFill>
                    </a:lnL>
                    <a:lnR w="12700">
                      <a:solidFill>
                        <a:srgbClr val="CCCCCC"/>
                      </a:solidFill>
                    </a:lnR>
                    <a:lnT w="12700">
                      <a:solidFill>
                        <a:srgbClr val="CCCCCC"/>
                      </a:solidFill>
                    </a:lnT>
                    <a:lnB w="12700">
                      <a:solidFill>
                        <a:srgbClr val="CCCCCC"/>
                      </a:solidFill>
                    </a:lnB>
                    <a:solidFill>
                      <a:srgbClr val="F5F5F5"/>
                    </a:solidFill>
                  </a:tcPr>
                </a:tc>
                <a:tc>
                  <a:txBody>
                    <a:bodyPr/>
                    <a:lstStyle/>
                    <a:p>
                      <a:pPr algn="l"/>
                      <a:r>
                        <a:rPr lang="en-US" sz="1050" dirty="0">
                          <a:solidFill>
                            <a:srgbClr val="333333"/>
                          </a:solidFill>
                        </a:rPr>
                        <a:t>USA only</a:t>
                      </a:r>
                    </a:p>
                  </a:txBody>
                  <a:tcPr marL="68580" marR="68580" marT="34290" marB="34290">
                    <a:lnL w="12700">
                      <a:solidFill>
                        <a:srgbClr val="CCCCCC"/>
                      </a:solidFill>
                    </a:lnL>
                    <a:lnR w="12700">
                      <a:solidFill>
                        <a:srgbClr val="CCCCCC"/>
                      </a:solidFill>
                    </a:lnR>
                    <a:lnT w="12700">
                      <a:solidFill>
                        <a:srgbClr val="CCCCCC"/>
                      </a:solidFill>
                    </a:lnT>
                    <a:lnB w="12700">
                      <a:solidFill>
                        <a:srgbClr val="CCCCCC"/>
                      </a:solidFill>
                    </a:lnB>
                    <a:solidFill>
                      <a:srgbClr val="F5F5F5"/>
                    </a:solidFill>
                  </a:tcPr>
                </a:tc>
                <a:tc>
                  <a:txBody>
                    <a:bodyPr/>
                    <a:lstStyle/>
                    <a:p>
                      <a:pPr algn="l"/>
                      <a:r>
                        <a:rPr lang="en-US" sz="1050" dirty="0">
                          <a:solidFill>
                            <a:srgbClr val="333333"/>
                          </a:solidFill>
                        </a:rPr>
                        <a:t>NASA + ESA + CSA + JAXA</a:t>
                      </a:r>
                    </a:p>
                  </a:txBody>
                  <a:tcPr marL="68580" marR="68580" marT="34290" marB="34290">
                    <a:lnL w="12700">
                      <a:solidFill>
                        <a:srgbClr val="CCCCCC"/>
                      </a:solidFill>
                    </a:lnL>
                    <a:lnR w="12700">
                      <a:solidFill>
                        <a:srgbClr val="CCCCCC"/>
                      </a:solidFill>
                    </a:lnR>
                    <a:lnT w="12700">
                      <a:solidFill>
                        <a:srgbClr val="CCCCCC"/>
                      </a:solidFill>
                    </a:lnT>
                    <a:lnB w="12700">
                      <a:solidFill>
                        <a:srgbClr val="CCCCCC"/>
                      </a:solidFill>
                    </a:lnB>
                    <a:solidFill>
                      <a:srgbClr val="F5F5F5"/>
                    </a:solidFill>
                  </a:tcPr>
                </a:tc>
              </a:tr>
            </a:tbl>
          </a:graphicData>
        </a:graphic>
      </p:graphicFrame>
      <p:sp>
        <p:nvSpPr>
          <p:cNvPr id="150" name="TextBox 150"/>
          <p:cNvSpPr txBox="1"/>
          <p:nvPr/>
        </p:nvSpPr>
        <p:spPr>
          <a:xfrm>
            <a:off x="10972800" y="6400800"/>
            <a:ext cx="731520" cy="365760"/>
          </a:xfrm>
          <a:prstGeom prst="rect">
            <a:avLst/>
          </a:prstGeom>
          <a:noFill/>
        </p:spPr>
        <p:txBody>
          <a:bodyPr wrap="square" anchor="t" lIns="137160" tIns="137160" rIns="137160" bIns="137160"/>
          <a:lstStyle/>
          <a:p>
            <a:pPr algn="r"/>
            <a:r>
              <a:rPr lang="en-US" dirty="0" sz="1000">
                <a:solidFill>
                  <a:srgbClr val="FFFFFF"/>
                </a:solidFill>
              </a:rPr>
              <a:t>13</a:t>
            </a:r>
          </a:p>
        </p:txBody>
      </p:sp>
      <p:sp>
        <p:nvSpPr>
          <p:cNvPr id="166" name="TextBox 166"/>
          <p:cNvSpPr txBox="1"/>
          <p:nvPr/>
        </p:nvSpPr>
        <p:spPr>
          <a:xfrm>
            <a:off x="457200" y="6400800"/>
            <a:ext cx="7315200" cy="365760"/>
          </a:xfrm>
          <a:prstGeom prst="rect">
            <a:avLst/>
          </a:prstGeom>
          <a:noFill/>
        </p:spPr>
        <p:txBody>
          <a:bodyPr wrap="square" anchor="t" lIns="137160" tIns="137160" rIns="137160" bIns="137160"/>
          <a:lstStyle/>
          <a:p>
            <a:pPr algn="l"/>
            <a:r>
              <a:rPr lang="en-US" dirty="0" sz="800">
                <a:solidFill>
                  <a:srgbClr val="FFFFFF"/>
                </a:solidFill>
              </a:rPr>
              <a:t>NASA Artemis II Mission Briefing  |  April 2026</a:t>
            </a:r>
          </a:p>
        </p:txBody>
      </p:sp>
    </p:spTree>
  </p:cSld>
  <p:transition spd="med">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123" name="TextBox 123"/>
          <p:cNvSpPr txBox="1"/>
          <p:nvPr/>
        </p:nvSpPr>
        <p:spPr>
          <a:xfrm>
            <a:off x="457200" y="274320"/>
            <a:ext cx="10972800" cy="731520"/>
          </a:xfrm>
          <a:prstGeom prst="rect">
            <a:avLst/>
          </a:prstGeom>
          <a:noFill/>
        </p:spPr>
        <p:txBody>
          <a:bodyPr wrap="square" anchor="t" lIns="137160" tIns="137160" rIns="137160" bIns="137160"/>
          <a:lstStyle/>
          <a:p>
            <a:pPr algn="l"/>
            <a:r>
              <a:rPr lang="en-US" dirty="0" sz="2800" b="1">
                <a:solidFill>
                  <a:srgbClr val="E6EDF3"/>
                </a:solidFill>
              </a:rPr>
              <a:t>ARTEMIS II MISSION GALLERY</a:t>
            </a:r>
          </a:p>
        </p:txBody>
      </p:sp>
      <p:pic>
        <p:nvPicPr>
          <p:cNvPr id="124" name="Image 4"/>
          <p:cNvPicPr>
            <a:picLocks noChangeAspect="1"/>
          </p:cNvPicPr>
          <p:nvPr/>
        </p:nvPicPr>
        <p:blipFill>
          <a:blip r:embed="rId2"/>
          <a:stretch>
            <a:fillRect/>
          </a:stretch>
        </p:blipFill>
        <p:spPr>
          <a:xfrm>
            <a:off x="457200" y="1188720"/>
            <a:ext cx="5570068" cy="2674620"/>
          </a:xfrm>
          <a:prstGeom prst="rect">
            <a:avLst/>
          </a:prstGeom>
        </p:spPr>
      </p:pic>
      <p:pic>
        <p:nvPicPr>
          <p:cNvPr id="125" name="Image 5"/>
          <p:cNvPicPr>
            <a:picLocks noChangeAspect="1"/>
          </p:cNvPicPr>
          <p:nvPr/>
        </p:nvPicPr>
        <p:blipFill>
          <a:blip r:embed="rId3"/>
          <a:stretch>
            <a:fillRect/>
          </a:stretch>
        </p:blipFill>
        <p:spPr>
          <a:xfrm>
            <a:off x="6164428" y="1188720"/>
            <a:ext cx="5570068" cy="2674620"/>
          </a:xfrm>
          <a:prstGeom prst="rect">
            <a:avLst/>
          </a:prstGeom>
        </p:spPr>
      </p:pic>
      <p:pic>
        <p:nvPicPr>
          <p:cNvPr id="126" name="Image 6"/>
          <p:cNvPicPr>
            <a:picLocks noChangeAspect="1"/>
          </p:cNvPicPr>
          <p:nvPr/>
        </p:nvPicPr>
        <p:blipFill>
          <a:blip r:embed="rId4"/>
          <a:stretch>
            <a:fillRect/>
          </a:stretch>
        </p:blipFill>
        <p:spPr>
          <a:xfrm>
            <a:off x="457200" y="4000500"/>
            <a:ext cx="5570068" cy="2674620"/>
          </a:xfrm>
          <a:prstGeom prst="rect">
            <a:avLst/>
          </a:prstGeom>
        </p:spPr>
      </p:pic>
      <p:pic>
        <p:nvPicPr>
          <p:cNvPr id="127" name="Image 7"/>
          <p:cNvPicPr>
            <a:picLocks noChangeAspect="1"/>
          </p:cNvPicPr>
          <p:nvPr/>
        </p:nvPicPr>
        <p:blipFill>
          <a:blip r:embed="rId5"/>
          <a:stretch>
            <a:fillRect/>
          </a:stretch>
        </p:blipFill>
        <p:spPr>
          <a:xfrm>
            <a:off x="6164428" y="4000500"/>
            <a:ext cx="5570068" cy="2674620"/>
          </a:xfrm>
          <a:prstGeom prst="rect">
            <a:avLst/>
          </a:prstGeom>
        </p:spPr>
      </p:pic>
      <p:sp>
        <p:nvSpPr>
          <p:cNvPr id="151" name="TextBox 151"/>
          <p:cNvSpPr txBox="1"/>
          <p:nvPr/>
        </p:nvSpPr>
        <p:spPr>
          <a:xfrm>
            <a:off x="10972800" y="6400800"/>
            <a:ext cx="731520" cy="365760"/>
          </a:xfrm>
          <a:prstGeom prst="rect">
            <a:avLst/>
          </a:prstGeom>
          <a:noFill/>
        </p:spPr>
        <p:txBody>
          <a:bodyPr wrap="square" anchor="t" lIns="137160" tIns="137160" rIns="137160" bIns="137160"/>
          <a:lstStyle/>
          <a:p>
            <a:pPr algn="r"/>
            <a:r>
              <a:rPr lang="en-US" dirty="0" sz="1000">
                <a:solidFill>
                  <a:srgbClr val="FFFFFF"/>
                </a:solidFill>
              </a:rPr>
              <a:t>14</a:t>
            </a:r>
          </a:p>
        </p:txBody>
      </p:sp>
      <p:sp>
        <p:nvSpPr>
          <p:cNvPr id="167" name="TextBox 167"/>
          <p:cNvSpPr txBox="1"/>
          <p:nvPr/>
        </p:nvSpPr>
        <p:spPr>
          <a:xfrm>
            <a:off x="457200" y="6400800"/>
            <a:ext cx="7315200" cy="365760"/>
          </a:xfrm>
          <a:prstGeom prst="rect">
            <a:avLst/>
          </a:prstGeom>
          <a:noFill/>
        </p:spPr>
        <p:txBody>
          <a:bodyPr wrap="square" anchor="t" lIns="137160" tIns="137160" rIns="137160" bIns="137160"/>
          <a:lstStyle/>
          <a:p>
            <a:pPr algn="l"/>
            <a:r>
              <a:rPr lang="en-US" dirty="0" sz="800">
                <a:solidFill>
                  <a:srgbClr val="FFFFFF"/>
                </a:solidFill>
              </a:rPr>
              <a:t>NASA Artemis II Mission Briefing  |  April 2026</a:t>
            </a:r>
          </a:p>
        </p:txBody>
      </p:sp>
    </p:spTree>
  </p:cSld>
  <p:transition spd="med">
    <p:fade/>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128" name="Image 8"/>
          <p:cNvPicPr>
            <a:picLocks noChangeAspect="1"/>
          </p:cNvPicPr>
          <p:nvPr/>
        </p:nvPicPr>
        <p:blipFill>
          <a:blip r:embed="rId3"/>
          <a:stretch>
            <a:fillRect/>
          </a:stretch>
        </p:blipFill>
        <p:spPr>
          <a:xfrm>
            <a:off x="0" y="0"/>
            <a:ext cx="12191695" cy="6858000"/>
          </a:xfrm>
          <a:prstGeom prst="rect">
            <a:avLst/>
          </a:prstGeom>
        </p:spPr>
      </p:pic>
      <p:sp>
        <p:nvSpPr>
          <p:cNvPr id="129" name="Rectangle 129"/>
          <p:cNvSpPr/>
          <p:nvPr/>
        </p:nvSpPr>
        <p:spPr>
          <a:xfrm>
            <a:off x="0" y="0"/>
            <a:ext cx="12191695" cy="6858000"/>
          </a:xfrm>
          <a:prstGeom prst="rect">
            <a:avLst/>
          </a:prstGeom>
          <a:solidFill>
            <a:srgbClr val="0D1117">
              <a:alpha val="45000"/>
            </a:srgbClr>
          </a:solidFill>
        </p:spPr>
      </p:sp>
      <p:sp>
        <p:nvSpPr>
          <p:cNvPr id="130" name="TextBox 130"/>
          <p:cNvSpPr txBox="1"/>
          <p:nvPr/>
        </p:nvSpPr>
        <p:spPr>
          <a:xfrm>
            <a:off x="457200" y="2560320"/>
            <a:ext cx="11277295" cy="1371600"/>
          </a:xfrm>
          <a:prstGeom prst="rect">
            <a:avLst/>
          </a:prstGeom>
          <a:noFill/>
        </p:spPr>
        <p:txBody>
          <a:bodyPr wrap="square" anchor="t" lIns="137160" tIns="137160" rIns="137160" bIns="137160"/>
          <a:lstStyle/>
          <a:p>
            <a:pPr algn="ctr"/>
            <a:r>
              <a:rPr lang="en-US" dirty="0" sz="4800" b="1">
                <a:solidFill>
                  <a:srgbClr val="FFFFFF"/>
                </a:solidFill>
              </a:rPr>
              <a:t>TO THE MOON</a:t>
            </a:r>
          </a:p>
        </p:txBody>
      </p:sp>
      <p:sp>
        <p:nvSpPr>
          <p:cNvPr id="131" name="TextBox 131"/>
          <p:cNvSpPr txBox="1"/>
          <p:nvPr/>
        </p:nvSpPr>
        <p:spPr>
          <a:xfrm>
            <a:off x="457200" y="3840480"/>
            <a:ext cx="11277295" cy="731520"/>
          </a:xfrm>
          <a:prstGeom prst="rect">
            <a:avLst/>
          </a:prstGeom>
          <a:noFill/>
        </p:spPr>
        <p:txBody>
          <a:bodyPr wrap="square" anchor="t" lIns="137160" tIns="137160" rIns="137160" bIns="137160"/>
          <a:lstStyle/>
          <a:p>
            <a:pPr algn="ctr"/>
            <a:r>
              <a:rPr lang="en-US" dirty="0" sz="2000">
                <a:solidFill>
                  <a:srgbClr val="FFFFFF"/>
                </a:solidFill>
              </a:rPr>
              <a:t>Artemis II — Returning humanity to deep space</a:t>
            </a:r>
          </a:p>
        </p:txBody>
      </p:sp>
      <p:sp>
        <p:nvSpPr>
          <p:cNvPr id="152" name="TextBox 152"/>
          <p:cNvSpPr txBox="1"/>
          <p:nvPr/>
        </p:nvSpPr>
        <p:spPr>
          <a:xfrm>
            <a:off x="10972800" y="6400800"/>
            <a:ext cx="731520" cy="365760"/>
          </a:xfrm>
          <a:prstGeom prst="rect">
            <a:avLst/>
          </a:prstGeom>
          <a:noFill/>
        </p:spPr>
        <p:txBody>
          <a:bodyPr wrap="square" anchor="t" lIns="137160" tIns="137160" rIns="137160" bIns="137160"/>
          <a:lstStyle/>
          <a:p>
            <a:pPr algn="r"/>
            <a:r>
              <a:rPr lang="en-US" dirty="0" sz="1000">
                <a:solidFill>
                  <a:srgbClr val="FFFFFF"/>
                </a:solidFill>
              </a:rPr>
              <a:t>15</a:t>
            </a:r>
          </a:p>
        </p:txBody>
      </p:sp>
      <p:sp>
        <p:nvSpPr>
          <p:cNvPr id="168" name="TextBox 168"/>
          <p:cNvSpPr txBox="1"/>
          <p:nvPr/>
        </p:nvSpPr>
        <p:spPr>
          <a:xfrm>
            <a:off x="457200" y="6400800"/>
            <a:ext cx="7315200" cy="365760"/>
          </a:xfrm>
          <a:prstGeom prst="rect">
            <a:avLst/>
          </a:prstGeom>
          <a:noFill/>
        </p:spPr>
        <p:txBody>
          <a:bodyPr wrap="square" anchor="t" lIns="137160" tIns="137160" rIns="137160" bIns="137160"/>
          <a:lstStyle/>
          <a:p>
            <a:pPr algn="l"/>
            <a:r>
              <a:rPr lang="en-US" dirty="0" sz="800">
                <a:solidFill>
                  <a:srgbClr val="FFFFFF"/>
                </a:solidFill>
              </a:rPr>
              <a:t>NASA Artemis II Mission Briefing  |  April 2026</a:t>
            </a:r>
          </a:p>
        </p:txBody>
      </p:sp>
    </p:spTree>
  </p:cSld>
  <p:transition spd="med">
    <p:fade/>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132" name="Rectangle 132"/>
          <p:cNvSpPr/>
          <p:nvPr/>
        </p:nvSpPr>
        <p:spPr>
          <a:xfrm>
            <a:off x="0" y="0"/>
            <a:ext cx="12191695" cy="6858000"/>
          </a:xfrm>
          <a:prstGeom prst="rect">
            <a:avLst/>
          </a:prstGeom>
          <a:gradFill>
            <a:gsLst>
              <a:gs pos="0">
                <a:srgbClr val="0D1117">
                  <a:alpha val="100000"/>
                </a:srgbClr>
              </a:gs>
              <a:gs pos="100000">
                <a:srgbClr val="1B2A4A">
                  <a:alpha val="100000"/>
                </a:srgbClr>
              </a:gs>
            </a:gsLst>
            <a:lin ang="8100000" scaled="1"/>
          </a:gradFill>
        </p:spPr>
      </p:sp>
      <p:sp>
        <p:nvSpPr>
          <p:cNvPr id="133" name="TextBox 133"/>
          <p:cNvSpPr txBox="1"/>
          <p:nvPr/>
        </p:nvSpPr>
        <p:spPr>
          <a:xfrm>
            <a:off x="914400" y="1645920"/>
            <a:ext cx="10332720" cy="1097280"/>
          </a:xfrm>
          <a:prstGeom prst="rect">
            <a:avLst/>
          </a:prstGeom>
          <a:noFill/>
        </p:spPr>
        <p:txBody>
          <a:bodyPr wrap="square" anchor="t" lIns="137160" tIns="137160" rIns="137160" bIns="137160"/>
          <a:lstStyle/>
          <a:p>
            <a:pPr algn="ctr"/>
            <a:r>
              <a:rPr lang="en-US" dirty="0" sz="5200" b="1">
                <a:solidFill>
                  <a:srgbClr val="E6EDF3"/>
                </a:solidFill>
              </a:rPr>
              <a:t>WE ARE GOING</a:t>
            </a:r>
          </a:p>
        </p:txBody>
      </p:sp>
      <p:sp>
        <p:nvSpPr>
          <p:cNvPr id="134" name="Rectangle 134"/>
          <p:cNvSpPr/>
          <p:nvPr/>
        </p:nvSpPr>
        <p:spPr>
          <a:xfrm>
            <a:off x="4572000" y="2834640"/>
            <a:ext cx="3017520" cy="54864"/>
          </a:xfrm>
          <a:prstGeom prst="rect">
            <a:avLst/>
          </a:prstGeom>
          <a:solidFill>
            <a:srgbClr val="58A6FF"/>
          </a:solidFill>
        </p:spPr>
      </p:sp>
      <p:sp>
        <p:nvSpPr>
          <p:cNvPr id="135" name="TextBox 135"/>
          <p:cNvSpPr txBox="1"/>
          <p:nvPr/>
        </p:nvSpPr>
        <p:spPr>
          <a:xfrm>
            <a:off x="914400" y="3108960"/>
            <a:ext cx="10332720" cy="731520"/>
          </a:xfrm>
          <a:prstGeom prst="rect">
            <a:avLst/>
          </a:prstGeom>
          <a:noFill/>
        </p:spPr>
        <p:txBody>
          <a:bodyPr wrap="square" anchor="t" lIns="137160" tIns="137160" rIns="137160" bIns="137160"/>
          <a:lstStyle/>
          <a:p>
            <a:pPr algn="ctr"/>
            <a:r>
              <a:rPr lang="en-US" dirty="0" sz="1800" i="1">
                <a:solidFill>
                  <a:srgbClr val="E6EDF3"/>
                </a:solidFill>
              </a:rPr>
              <a:t>Artemis II will carry four astronauts farther from Earth than any human has ever traveled.</a:t>
            </a:r>
          </a:p>
        </p:txBody>
      </p:sp>
      <p:sp>
        <p:nvSpPr>
          <p:cNvPr id="136" name="TextBox 136"/>
          <p:cNvSpPr txBox="1"/>
          <p:nvPr/>
        </p:nvSpPr>
        <p:spPr>
          <a:xfrm>
            <a:off x="914400" y="4114800"/>
            <a:ext cx="10332720" cy="548640"/>
          </a:xfrm>
          <a:prstGeom prst="rect">
            <a:avLst/>
          </a:prstGeom>
          <a:noFill/>
        </p:spPr>
        <p:txBody>
          <a:bodyPr wrap="square" anchor="t" lIns="137160" tIns="137160" rIns="137160" bIns="137160"/>
          <a:lstStyle/>
          <a:p>
            <a:pPr algn="ctr"/>
            <a:r>
              <a:rPr lang="en-US" dirty="0" sz="1400">
                <a:solidFill>
                  <a:srgbClr val="E6EDF3"/>
                </a:solidFill>
              </a:rPr>
              <a:t>nasa.gov/artemis</a:t>
            </a:r>
          </a:p>
        </p:txBody>
      </p:sp>
      <p:sp>
        <p:nvSpPr>
          <p:cNvPr id="137" name="TextBox 137"/>
          <p:cNvSpPr txBox="1"/>
          <p:nvPr/>
        </p:nvSpPr>
        <p:spPr>
          <a:xfrm>
            <a:off x="914400" y="5029200"/>
            <a:ext cx="10332720" cy="731520"/>
          </a:xfrm>
          <a:prstGeom prst="rect">
            <a:avLst/>
          </a:prstGeom>
          <a:noFill/>
        </p:spPr>
        <p:txBody>
          <a:bodyPr wrap="square" anchor="t" lIns="137160" tIns="137160" rIns="137160" bIns="137160"/>
          <a:lstStyle/>
          <a:p>
            <a:pPr algn="ctr">
              <a:lnSpc>
                <a:spcPts val="1800"/>
              </a:lnSpc>
            </a:pPr>
            <a:r>
              <a:rPr lang="en-US" dirty="0" sz="1100">
                <a:solidFill>
                  <a:srgbClr val="E6EDF3"/>
                </a:solidFill>
              </a:rPr>
              <a:t>National Aeronautics and Space Administration
Artemis Program  •  Exploration Systems Development</a:t>
            </a:r>
          </a:p>
        </p:txBody>
      </p:sp>
      <p:sp>
        <p:nvSpPr>
          <p:cNvPr id="153" name="TextBox 153"/>
          <p:cNvSpPr txBox="1"/>
          <p:nvPr/>
        </p:nvSpPr>
        <p:spPr>
          <a:xfrm>
            <a:off x="10972800" y="6400800"/>
            <a:ext cx="731520" cy="365760"/>
          </a:xfrm>
          <a:prstGeom prst="rect">
            <a:avLst/>
          </a:prstGeom>
          <a:noFill/>
        </p:spPr>
        <p:txBody>
          <a:bodyPr wrap="square" anchor="t" lIns="137160" tIns="137160" rIns="137160" bIns="137160"/>
          <a:lstStyle/>
          <a:p>
            <a:pPr algn="r"/>
            <a:r>
              <a:rPr lang="en-US" dirty="0" sz="1000">
                <a:solidFill>
                  <a:srgbClr val="FFFFFF"/>
                </a:solidFill>
              </a:rPr>
              <a:t>16</a:t>
            </a:r>
          </a:p>
        </p:txBody>
      </p:sp>
      <p:sp>
        <p:nvSpPr>
          <p:cNvPr id="169" name="TextBox 169"/>
          <p:cNvSpPr txBox="1"/>
          <p:nvPr/>
        </p:nvSpPr>
        <p:spPr>
          <a:xfrm>
            <a:off x="457200" y="6400800"/>
            <a:ext cx="7315200" cy="365760"/>
          </a:xfrm>
          <a:prstGeom prst="rect">
            <a:avLst/>
          </a:prstGeom>
          <a:noFill/>
        </p:spPr>
        <p:txBody>
          <a:bodyPr wrap="square" anchor="t" lIns="137160" tIns="137160" rIns="137160" bIns="137160"/>
          <a:lstStyle/>
          <a:p>
            <a:pPr algn="l"/>
            <a:r>
              <a:rPr lang="en-US" dirty="0" sz="800">
                <a:solidFill>
                  <a:srgbClr val="FFFFFF"/>
                </a:solidFill>
              </a:rPr>
              <a:t>NASA Artemis II Mission Briefing  |  April 2026</a:t>
            </a:r>
          </a:p>
        </p:txBody>
      </p:sp>
    </p:spTree>
  </p:cSld>
  <p:transition spd="med">
    <p:fade/>
  </p:transition>
</p:sld>
</file>

<file path=ppt/theme/theme1.xml><?xml version="1.0" encoding="utf-8"?>
<a:theme xmlns:a="http://schemas.openxmlformats.org/drawingml/2006/main" name="HyperAgent">
  <a:themeElements>
    <a:clrScheme name="HyperAgent">
      <a:dk1>
        <a:srgbClr val="0D1117"/>
      </a:dk1>
      <a:lt1>
        <a:srgbClr val="E6EDF3"/>
      </a:lt1>
      <a:dk2>
        <a:srgbClr val="44546A"/>
      </a:dk2>
      <a:lt2>
        <a:srgbClr val="E7E6E6"/>
      </a:lt2>
      <a:accent1>
        <a:srgbClr val="58A6FF"/>
      </a:accent1>
      <a:accent2>
        <a:srgbClr val="3FB950"/>
      </a:accent2>
      <a:accent3>
        <a:srgbClr val="D29922"/>
      </a:accent3>
      <a:accent4>
        <a:srgbClr val="F85149"/>
      </a:accent4>
      <a:accent5>
        <a:srgbClr val="8B949E"/>
      </a:accent5>
      <a:accent6>
        <a:srgbClr val="58A6FF"/>
      </a:accent6>
      <a:hlink>
        <a:srgbClr val="58A6FF"/>
      </a:hlink>
      <a:folHlink>
        <a:srgbClr val="D29922"/>
      </a:folHlink>
    </a:clrScheme>
    <a:fontScheme name="HyperAgent">
      <a:majorFont>
        <a:latin typeface="Segoe UI"/>
        <a:ea typeface=""/>
        <a:cs typeface=""/>
      </a:majorFont>
      <a:minorFont>
        <a:latin typeface="Segoe UI"/>
        <a:ea typeface=""/>
        <a:cs typeface=""/>
      </a:minorFont>
    </a:fontScheme>
    <a:fmtScheme name="HyperAgent">
      <a:fillStyleLst>
        <a:solidFill>
          <a:schemeClr val="phClr"/>
        </a:solidFill>
        <a:solidFill>
          <a:schemeClr val="phClr"/>
        </a:solidFill>
        <a:solidFill>
          <a:schemeClr val="phClr"/>
        </a:solidFill>
      </a:fillStyleLst>
      <a:lnStyleLst>
        <a:ln w="9525">
          <a:solidFill>
            <a:schemeClr val="phClr"/>
          </a:solidFill>
        </a:ln>
        <a:ln w="25400">
          <a:solidFill>
            <a:schemeClr val="phClr"/>
          </a:solidFill>
        </a:ln>
        <a:ln w="38100">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xml><?xml version="1.0" encoding="utf-8"?>
<a:theme xmlns:a="http://schemas.openxmlformats.org/drawingml/2006/main" name="HyperAgent">
  <a:themeElements>
    <a:clrScheme name="HyperAgent">
      <a:dk1>
        <a:srgbClr val="0D1117"/>
      </a:dk1>
      <a:lt1>
        <a:srgbClr val="E6EDF3"/>
      </a:lt1>
      <a:dk2>
        <a:srgbClr val="44546A"/>
      </a:dk2>
      <a:lt2>
        <a:srgbClr val="E7E6E6"/>
      </a:lt2>
      <a:accent1>
        <a:srgbClr val="58A6FF"/>
      </a:accent1>
      <a:accent2>
        <a:srgbClr val="3FB950"/>
      </a:accent2>
      <a:accent3>
        <a:srgbClr val="D29922"/>
      </a:accent3>
      <a:accent4>
        <a:srgbClr val="F85149"/>
      </a:accent4>
      <a:accent5>
        <a:srgbClr val="8B949E"/>
      </a:accent5>
      <a:accent6>
        <a:srgbClr val="58A6FF"/>
      </a:accent6>
      <a:hlink>
        <a:srgbClr val="58A6FF"/>
      </a:hlink>
      <a:folHlink>
        <a:srgbClr val="D29922"/>
      </a:folHlink>
    </a:clrScheme>
    <a:fontScheme name="HyperAgent">
      <a:majorFont>
        <a:latin typeface="Segoe UI"/>
        <a:ea typeface=""/>
        <a:cs typeface=""/>
      </a:majorFont>
      <a:minorFont>
        <a:latin typeface="Segoe UI"/>
        <a:ea typeface=""/>
        <a:cs typeface=""/>
      </a:minorFont>
    </a:fontScheme>
    <a:fmtScheme name="HyperAgent">
      <a:fillStyleLst>
        <a:solidFill>
          <a:schemeClr val="phClr"/>
        </a:solidFill>
        <a:solidFill>
          <a:schemeClr val="phClr"/>
        </a:solidFill>
        <a:solidFill>
          <a:schemeClr val="phClr"/>
        </a:solidFill>
      </a:fillStyleLst>
      <a:lnStyleLst>
        <a:ln w="9525">
          <a:solidFill>
            <a:schemeClr val="phClr"/>
          </a:solidFill>
        </a:ln>
        <a:ln w="25400">
          <a:solidFill>
            <a:schemeClr val="phClr"/>
          </a:solidFill>
        </a:ln>
        <a:ln w="38100">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Application>Hyperlight PPTX</Application>
  <Slides>17</Slides>
</Properties>
</file>

<file path=docProps/core.xml><?xml version="1.0" encoding="utf-8"?>
<cp:coreProperties xmlns:cp="http://schemas.openxmlformats.org/package/2006/metadata/core-properties" xmlns:dc="http://purl.org/dc/elements/1.1/" xmlns:dcterms="http://purl.org/dc/terms/" xmlns:xsi="http://www.w3.org/2001/XMLSchema-instance">
  <dc:title>Presentation</dc:title>
  <dc:creator>Hyperlight PPTX</dc:creator>
  <dcterms:created xsi:type="dcterms:W3CDTF">2026-04-15T15:44:31Z</dcterms:created>
  <dcterms:modified xsi:type="dcterms:W3CDTF">2026-04-15T15:44:31Z</dcterms:modified>
</cp:coreProperties>
</file>