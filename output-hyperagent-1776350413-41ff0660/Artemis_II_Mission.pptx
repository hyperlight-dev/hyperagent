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7"/>
  </p:sldMasterIdLst>
  <p:notesMasterIdLst>
    <p:notesMasterId r:id="rId22"/>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12192000"/>
</p:presentation>
</file>

<file path=ppt/presProps.xml><?xml version="1.0" encoding="utf-8"?>
<p:presentationPr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file>

<file path=ppt/_rels/presentation.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Master" Target="slideMasters/slideMaster1.xml"/><Relationship Id="rId18" Type="http://schemas.openxmlformats.org/officeDocument/2006/relationships/theme" Target="theme/theme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ableStyles" Target="tableStyles.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Artemis II launched April 1, 2026 at 6:35 PM ET from Kennedy Space Center Launch Complex 39B. This was the first crewed lunar mission in over 50 years, carrying 4 astronauts on a 10-day journey around the Moon aboard NASA's Orion spacecraft atop the SLS rocket.</a:t>
            </a: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Artemis II was a 10-day mission (April 1-10, 2026) carrying 4 astronauts approximately 240,000 miles to the Moon and back. This was the first crewed lunar mission since Apollo 17 in December 1972 — a gap of 53 years.</a:t>
            </a: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The Artemis II crew: Commander Reid Wiseman (NASA), Pilot Victor Glover (NASA), Mission Specialist Christina Koch (NASA), and Mission Specialist Jeremy Hansen (CSA). Hansen made history as the first Canadian astronaut to fly to lunar orbit. Koch, who held the ISS record for longest single spaceflight by a woman at 328 days, participated in the first all-female EVA.</a:t>
            </a: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The SLS Block 1 configuration stands 322 feet tall and generates 8.8 million pounds of thrust at liftoff — 15% more than the Saturn V. It uses four RS-25 engines derived from the Space Shuttle main engines plus twin 5-segment solid rocket boosters. Orion features the European Service Module built by ESA, has 316 sq ft of habitable volume, and re-enters Earth's atmosphere at approximately 25,000 mph with a heat shield reaching temperatures of 5,000°F.</a:t>
            </a: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This stunning image of Earthset was captured through the Orion spacecraft window at 6:41 PM EDT on April 6, 2026, during the Artemis II crew's flyby of the Moon. Earth appears as a muted blue sphere with bright white clouds setting behind the cratered lunar surface. The dark portion of Earth was experiencing nighttime. On Earth's day side, swirling clouds were visible over the Australia and Oceania region.</a:t>
            </a: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On April 6, 2026 (Day 6 of the mission), the Artemis II crew performed their lunar flyby. They spent approximately 7 hours taking turns at the Orion windows, capturing science data and stunning photographs. At closest approach, they were approximately 80 miles above the lunar surface. They went behind the Moon and lost contact with Earth for 40 minutes. The Orientale Basin, a 600-mile-wide impact crater visible on the boundary of the near and far sides, was documented in spectacular detail.</a:t>
            </a: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CSA astronaut Jeremy Hansen is seen taking images through the Orion spacecraft window early in the lunar flyby. The crew members took turns at the windows, following a choreographed camera schedule developed during extensive training at NASA's Johnson Space Center. The crew selfie shows all four astronauts together inside Orion during the observation period.</a:t>
            </a: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NASA's Orion spacecraft captures the Moon and Earth in one frame during the Artemis II crew's deep space journey at 6:42 PM ET on April 6. The right side of Orion is lit up by the Sun. A waxing crescent Moon is visible behind it, and a crescent Earth, tiny compared to the Moon, is about to set below the Moon's limb. This image captures the scale of the journey — 240,000 miles from home.</a:t>
            </a: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The solar eclipse was captured from a camera mounted on one of the Orion spacecraft's solar array wings during the Artemis II crew's flyby of the Moon's far side. Scientists are investigating whether the glow around the Moon is from zodiacal light (interstellar dust reflecting sunlight), the solar corona, or a combination of the two. Unlike minutes-long eclipses seen from Earth, this was a sustained view unique to deep space.</a:t>
            </a: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A comprehensive statistical overview of the Artemis II mission. Launch stats: 6:35 PM ET liftoff, 8.8 million pounds of thrust, 322-foot rocket. Journey stats: ~240,000 miles to the Moon, ~80 miles closest approach, 40 minutes of loss of signal behind the Moon, 7 hours of observation. Return stats: 25,000 mph re-entry, 5,000°F heat shield temperature, 10-day total mission. International partnership between NASA, CSA (Canada), ESA (Europe), and JAXA (Japan contributions).</a:t>
            </a: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On April 10, 2026, U.S. Navy divers and the Artemis II astronauts were aboard an inflatable raft following splashdown and egress from Orion. Helicopters approached to lift the crew to the recovery ship. The crew returned home to Houston the following day, April 11, where they were greeted at Ellington Airport near Johnson Space Center by NASA Administrator Jared Isaacman, JSC Director Vanessa Wyche, CSA President Lisa Campbell, and friends, family, and colleagues.</a:t>
            </a: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The Artemis program roadmap: Artemis I (Nov 2022) was the uncrewed test flight that validated the SLS and Orion systems over 25.5 days and 1.4 million miles. Artemis II (Apr 2026) was the first crewed flight. Artemis III (~2028) will be the first crewed lunar landing since Apollo 17, using SpaceX's Starship Human Landing System to reach the Moon's south pole region — putting the first woman and first person of color on the Moon. Artemis IV and beyond will build the Gateway orbital platform and establish a sustained human presence on and around the Moon.</a:t>
            </a: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This quote captures the transformative perspective shift that comes from seeing Earth from deep space. The Artemis II crew, like the Apollo astronauts before them, experienced the 'Overview Effect' — a cognitive shift in awareness reported by astronauts who have seen Earth from space. The Earthset images captured during the mission remind us of the fragility and beauty of our home planet.</a:t>
            </a: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Encourage the audience to follow the Artemis program and get involved. Key resources: nasa.gov/artemis for mission updates, NASA STEM Engagement for education programs, citizen science opportunities at science.nasa.gov, NASA careers and internships, the Moonbound: For All Humanity documentary series on NASA+, and virtual guest program for future launches.</a:t>
            </a: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p:spTree>
      <p:nvGrpSpPr>
        <p:cNvPr id="1" name=""/>
        <p:cNvGrpSpPr/>
        <p:nvPr/>
      </p:nvGrpSpPr>
      <p:grpSpPr/>
    </p:spTree>
  </p:cSl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p:spTree>
  </p:cSld>
  <p:clrMap bg1="dk1" tx1="lt1" bg2="dk2" tx2="lt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Link1" Type="http://schemas.openxmlformats.org/officeDocument/2006/relationships/hyperlink" Target="https://github.com/hyperlight-dev/hyperagen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08" name="TextBox 208"/>
          <p:cNvSpPr txBox="1"/>
          <p:nvPr/>
        </p:nvSpPr>
        <p:spPr>
          <a:xfrm>
            <a:off x="914400" y="1828800"/>
            <a:ext cx="10360152" cy="1828800"/>
          </a:xfrm>
          <a:prstGeom prst="rect">
            <a:avLst/>
          </a:prstGeom>
          <a:noFill/>
        </p:spPr>
        <p:txBody>
          <a:bodyPr wrap="square" anchor="ctr" lIns="137160" tIns="137160" rIns="137160" bIns="137160"/>
          <a:lstStyle/>
          <a:p>
            <a:pPr algn="ctr"/>
            <a:r>
              <a:rPr lang="en-US" dirty="0" sz="2800" b="1">
                <a:solidFill>
                  <a:srgbClr val="FFFFFF"/>
                </a:solidFill>
              </a:rPr>
              <a:t>⚠️ Warning: This PowerPoint deck was generated by HyperAgent.
You should carefully check and verify the contents.</a:t>
            </a:r>
          </a:p>
        </p:txBody>
      </p:sp>
      <p:sp>
        <p:nvSpPr>
          <p:cNvPr id="209" name="Hyperlink 209"/>
          <p:cNvSpPr txBox="1"/>
          <p:nvPr/>
        </p:nvSpPr>
        <p:spPr>
          <a:xfrm>
            <a:off x="2743200" y="4114800"/>
            <a:ext cx="6702552" cy="548640"/>
          </a:xfrm>
          <a:prstGeom prst="rect">
            <a:avLst/>
          </a:prstGeom>
          <a:noFill/>
        </p:spPr>
        <p:txBody>
          <a:bodyPr wrap="square" anchor="ctr"/>
          <a:lstStyle/>
          <a:p>
            <a:pPr algn="ctr"/>
            <a:r>
              <a:rPr lang="en-US" sz="1600" u="sng" dirty="0">
                <a:solidFill>
                  <a:srgbClr val="58A6FF"/>
                </a:solidFill>
                <a:hlinkClick r:id="rIdLink1"/>
              </a:rPr>
              <a:t>Learn more about HyperAgent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1"/>
          <p:cNvPicPr>
            <a:picLocks noChangeAspect="1"/>
          </p:cNvPicPr>
          <p:nvPr/>
        </p:nvPicPr>
        <p:blipFill>
          <a:blip r:embed="rId3"/>
          <a:stretch>
            <a:fillRect/>
          </a:stretch>
        </p:blipFill>
        <p:spPr>
          <a:xfrm>
            <a:off x="0" y="0"/>
            <a:ext cx="12191695" cy="6858000"/>
          </a:xfrm>
          <a:prstGeom prst="rect">
            <a:avLst/>
          </a:prstGeom>
        </p:spPr>
      </p:pic>
      <p:sp>
        <p:nvSpPr>
          <p:cNvPr id="3" name="Rectangle 3"/>
          <p:cNvSpPr/>
          <p:nvPr/>
        </p:nvSpPr>
        <p:spPr>
          <a:xfrm>
            <a:off x="0" y="0"/>
            <a:ext cx="12191695" cy="6858000"/>
          </a:xfrm>
          <a:prstGeom prst="rect">
            <a:avLst/>
          </a:prstGeom>
          <a:solidFill>
            <a:srgbClr val="0A0E27">
              <a:alpha val="40000"/>
            </a:srgbClr>
          </a:solidFill>
        </p:spPr>
      </p:sp>
      <p:sp>
        <p:nvSpPr>
          <p:cNvPr id="4" name="TextBox 4"/>
          <p:cNvSpPr txBox="1"/>
          <p:nvPr/>
        </p:nvSpPr>
        <p:spPr>
          <a:xfrm>
            <a:off x="731520" y="2560320"/>
            <a:ext cx="10515600" cy="1371600"/>
          </a:xfrm>
          <a:prstGeom prst="rect">
            <a:avLst/>
          </a:prstGeom>
          <a:noFill/>
        </p:spPr>
        <p:txBody>
          <a:bodyPr wrap="square" anchor="t" lIns="137160" tIns="137160" rIns="137160" bIns="137160"/>
          <a:lstStyle/>
          <a:p>
            <a:pPr algn="l"/>
            <a:r>
              <a:rPr lang="en-US" dirty="0" sz="5400" b="1">
                <a:solidFill>
                  <a:srgbClr val="FFFFFF"/>
                </a:solidFill>
              </a:rPr>
              <a:t>ARTEMIS II</a:t>
            </a:r>
          </a:p>
        </p:txBody>
      </p:sp>
      <p:sp>
        <p:nvSpPr>
          <p:cNvPr id="5" name="TextBox 5"/>
          <p:cNvSpPr txBox="1"/>
          <p:nvPr/>
        </p:nvSpPr>
        <p:spPr>
          <a:xfrm>
            <a:off x="731520" y="3840480"/>
            <a:ext cx="10515600" cy="731520"/>
          </a:xfrm>
          <a:prstGeom prst="rect">
            <a:avLst/>
          </a:prstGeom>
          <a:noFill/>
        </p:spPr>
        <p:txBody>
          <a:bodyPr wrap="square" anchor="t" lIns="137160" tIns="137160" rIns="137160" bIns="137160"/>
          <a:lstStyle/>
          <a:p>
            <a:pPr algn="l"/>
            <a:r>
              <a:rPr lang="en-US" dirty="0" sz="2400">
                <a:solidFill>
                  <a:srgbClr val="FFFFFF"/>
                </a:solidFill>
              </a:rPr>
              <a:t>Humanity Returns to the Moon</a:t>
            </a:r>
          </a:p>
        </p:txBody>
      </p:sp>
      <p:sp>
        <p:nvSpPr>
          <p:cNvPr id="193" name="TextBox 193"/>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a:t>
            </a:r>
          </a:p>
        </p:txBody>
      </p:sp>
    </p:spTree>
  </p:cSld>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6" name="TextBox 6"/>
          <p:cNvSpPr txBox="1"/>
          <p:nvPr/>
        </p:nvSpPr>
        <p:spPr>
          <a:xfrm>
            <a:off x="457200" y="457200"/>
            <a:ext cx="10972800" cy="731520"/>
          </a:xfrm>
          <a:prstGeom prst="rect">
            <a:avLst/>
          </a:prstGeom>
          <a:noFill/>
        </p:spPr>
        <p:txBody>
          <a:bodyPr wrap="square" anchor="t" lIns="137160" tIns="137160" rIns="137160" bIns="137160"/>
          <a:lstStyle/>
          <a:p>
            <a:pPr algn="l"/>
            <a:r>
              <a:rPr lang="en-US" dirty="0" sz="2800" b="1">
                <a:solidFill>
                  <a:srgbClr val="FFFFFF"/>
                </a:solidFill>
              </a:rPr>
              <a:t>Mission at a Glance</a:t>
            </a:r>
          </a:p>
        </p:txBody>
      </p:sp>
      <p:sp>
        <p:nvSpPr>
          <p:cNvPr id="7" name="TextBox 7"/>
          <p:cNvSpPr txBox="1"/>
          <p:nvPr/>
        </p:nvSpPr>
        <p:spPr>
          <a:xfrm>
            <a:off x="731520" y="2011680"/>
            <a:ext cx="2476424" cy="1371600"/>
          </a:xfrm>
          <a:prstGeom prst="rect">
            <a:avLst/>
          </a:prstGeom>
          <a:noFill/>
        </p:spPr>
        <p:txBody>
          <a:bodyPr wrap="square" anchor="t" lIns="137160" tIns="137160" rIns="137160" bIns="137160"/>
          <a:lstStyle/>
          <a:p>
            <a:pPr algn="ctr"/>
            <a:r>
              <a:rPr lang="en-US" dirty="0" sz="4800" b="1">
                <a:solidFill>
                  <a:srgbClr val="4FC3F7"/>
                </a:solidFill>
              </a:rPr>
              <a:t>10</a:t>
            </a:r>
          </a:p>
        </p:txBody>
      </p:sp>
      <p:sp>
        <p:nvSpPr>
          <p:cNvPr id="8" name="TextBox 8"/>
          <p:cNvSpPr txBox="1"/>
          <p:nvPr/>
        </p:nvSpPr>
        <p:spPr>
          <a:xfrm>
            <a:off x="731520" y="3383280"/>
            <a:ext cx="2476424" cy="548640"/>
          </a:xfrm>
          <a:prstGeom prst="rect">
            <a:avLst/>
          </a:prstGeom>
          <a:noFill/>
        </p:spPr>
        <p:txBody>
          <a:bodyPr wrap="square" anchor="t" lIns="137160" tIns="137160" rIns="137160" bIns="137160"/>
          <a:lstStyle/>
          <a:p>
            <a:pPr algn="ctr"/>
            <a:r>
              <a:rPr lang="en-US" dirty="0" sz="1600">
                <a:solidFill>
                  <a:srgbClr val="8B949E"/>
                </a:solidFill>
              </a:rPr>
              <a:t>DAYS IN SPACE</a:t>
            </a:r>
          </a:p>
        </p:txBody>
      </p:sp>
      <p:sp>
        <p:nvSpPr>
          <p:cNvPr id="9" name="Rectangle 9"/>
          <p:cNvSpPr/>
          <p:nvPr/>
        </p:nvSpPr>
        <p:spPr>
          <a:xfrm>
            <a:off x="3345104" y="2286000"/>
            <a:ext cx="18288" cy="1828800"/>
          </a:xfrm>
          <a:prstGeom prst="rect">
            <a:avLst/>
          </a:prstGeom>
          <a:solidFill>
            <a:srgbClr val="8B949E"/>
          </a:solidFill>
        </p:spPr>
      </p:sp>
      <p:sp>
        <p:nvSpPr>
          <p:cNvPr id="10" name="TextBox 10"/>
          <p:cNvSpPr txBox="1"/>
          <p:nvPr/>
        </p:nvSpPr>
        <p:spPr>
          <a:xfrm>
            <a:off x="3482264" y="2011680"/>
            <a:ext cx="2476424" cy="1371600"/>
          </a:xfrm>
          <a:prstGeom prst="rect">
            <a:avLst/>
          </a:prstGeom>
          <a:noFill/>
        </p:spPr>
        <p:txBody>
          <a:bodyPr wrap="square" anchor="t" lIns="137160" tIns="137160" rIns="137160" bIns="137160"/>
          <a:lstStyle/>
          <a:p>
            <a:pPr algn="ctr"/>
            <a:r>
              <a:rPr lang="en-US" dirty="0" sz="4800" b="1">
                <a:solidFill>
                  <a:srgbClr val="4FC3F7"/>
                </a:solidFill>
              </a:rPr>
              <a:t>4</a:t>
            </a:r>
          </a:p>
        </p:txBody>
      </p:sp>
      <p:sp>
        <p:nvSpPr>
          <p:cNvPr id="11" name="TextBox 11"/>
          <p:cNvSpPr txBox="1"/>
          <p:nvPr/>
        </p:nvSpPr>
        <p:spPr>
          <a:xfrm>
            <a:off x="3482264" y="3383280"/>
            <a:ext cx="2476424" cy="548640"/>
          </a:xfrm>
          <a:prstGeom prst="rect">
            <a:avLst/>
          </a:prstGeom>
          <a:noFill/>
        </p:spPr>
        <p:txBody>
          <a:bodyPr wrap="square" anchor="t" lIns="137160" tIns="137160" rIns="137160" bIns="137160"/>
          <a:lstStyle/>
          <a:p>
            <a:pPr algn="ctr"/>
            <a:r>
              <a:rPr lang="en-US" dirty="0" sz="1600">
                <a:solidFill>
                  <a:srgbClr val="8B949E"/>
                </a:solidFill>
              </a:rPr>
              <a:t>CREW MEMBERS</a:t>
            </a:r>
          </a:p>
        </p:txBody>
      </p:sp>
      <p:sp>
        <p:nvSpPr>
          <p:cNvPr id="12" name="Rectangle 12"/>
          <p:cNvSpPr/>
          <p:nvPr/>
        </p:nvSpPr>
        <p:spPr>
          <a:xfrm>
            <a:off x="6095848" y="2286000"/>
            <a:ext cx="18288" cy="1828800"/>
          </a:xfrm>
          <a:prstGeom prst="rect">
            <a:avLst/>
          </a:prstGeom>
          <a:solidFill>
            <a:srgbClr val="8B949E"/>
          </a:solidFill>
        </p:spPr>
      </p:sp>
      <p:sp>
        <p:nvSpPr>
          <p:cNvPr id="13" name="TextBox 13"/>
          <p:cNvSpPr txBox="1"/>
          <p:nvPr/>
        </p:nvSpPr>
        <p:spPr>
          <a:xfrm>
            <a:off x="6233008" y="2011680"/>
            <a:ext cx="2476424" cy="1371600"/>
          </a:xfrm>
          <a:prstGeom prst="rect">
            <a:avLst/>
          </a:prstGeom>
          <a:noFill/>
        </p:spPr>
        <p:txBody>
          <a:bodyPr wrap="square" anchor="t" lIns="137160" tIns="137160" rIns="137160" bIns="137160"/>
          <a:lstStyle/>
          <a:p>
            <a:pPr algn="ctr"/>
            <a:r>
              <a:rPr lang="en-US" dirty="0" sz="4800" b="1">
                <a:solidFill>
                  <a:srgbClr val="4FC3F7"/>
                </a:solidFill>
              </a:rPr>
              <a:t>~240K</a:t>
            </a:r>
          </a:p>
        </p:txBody>
      </p:sp>
      <p:sp>
        <p:nvSpPr>
          <p:cNvPr id="14" name="TextBox 14"/>
          <p:cNvSpPr txBox="1"/>
          <p:nvPr/>
        </p:nvSpPr>
        <p:spPr>
          <a:xfrm>
            <a:off x="6233008" y="3383280"/>
            <a:ext cx="2476424" cy="548640"/>
          </a:xfrm>
          <a:prstGeom prst="rect">
            <a:avLst/>
          </a:prstGeom>
          <a:noFill/>
        </p:spPr>
        <p:txBody>
          <a:bodyPr wrap="square" anchor="t" lIns="137160" tIns="137160" rIns="137160" bIns="137160"/>
          <a:lstStyle/>
          <a:p>
            <a:pPr algn="ctr"/>
            <a:r>
              <a:rPr lang="en-US" dirty="0" sz="1600">
                <a:solidFill>
                  <a:srgbClr val="8B949E"/>
                </a:solidFill>
              </a:rPr>
              <a:t>MILES TO THE MOON</a:t>
            </a:r>
          </a:p>
        </p:txBody>
      </p:sp>
      <p:sp>
        <p:nvSpPr>
          <p:cNvPr id="15" name="Rectangle 15"/>
          <p:cNvSpPr/>
          <p:nvPr/>
        </p:nvSpPr>
        <p:spPr>
          <a:xfrm>
            <a:off x="8846591" y="2286000"/>
            <a:ext cx="18288" cy="1828800"/>
          </a:xfrm>
          <a:prstGeom prst="rect">
            <a:avLst/>
          </a:prstGeom>
          <a:solidFill>
            <a:srgbClr val="8B949E"/>
          </a:solidFill>
        </p:spPr>
      </p:sp>
      <p:sp>
        <p:nvSpPr>
          <p:cNvPr id="16" name="TextBox 16"/>
          <p:cNvSpPr txBox="1"/>
          <p:nvPr/>
        </p:nvSpPr>
        <p:spPr>
          <a:xfrm>
            <a:off x="8983751" y="2011680"/>
            <a:ext cx="2476424" cy="1371600"/>
          </a:xfrm>
          <a:prstGeom prst="rect">
            <a:avLst/>
          </a:prstGeom>
          <a:noFill/>
        </p:spPr>
        <p:txBody>
          <a:bodyPr wrap="square" anchor="t" lIns="137160" tIns="137160" rIns="137160" bIns="137160"/>
          <a:lstStyle/>
          <a:p>
            <a:pPr algn="ctr"/>
            <a:r>
              <a:rPr lang="en-US" dirty="0" sz="4800" b="1">
                <a:solidFill>
                  <a:srgbClr val="4FC3F7"/>
                </a:solidFill>
              </a:rPr>
              <a:t>53</a:t>
            </a:r>
          </a:p>
        </p:txBody>
      </p:sp>
      <p:sp>
        <p:nvSpPr>
          <p:cNvPr id="17" name="TextBox 17"/>
          <p:cNvSpPr txBox="1"/>
          <p:nvPr/>
        </p:nvSpPr>
        <p:spPr>
          <a:xfrm>
            <a:off x="8983751" y="3383280"/>
            <a:ext cx="2476424" cy="548640"/>
          </a:xfrm>
          <a:prstGeom prst="rect">
            <a:avLst/>
          </a:prstGeom>
          <a:noFill/>
        </p:spPr>
        <p:txBody>
          <a:bodyPr wrap="square" anchor="t" lIns="137160" tIns="137160" rIns="137160" bIns="137160"/>
          <a:lstStyle/>
          <a:p>
            <a:pPr algn="ctr"/>
            <a:r>
              <a:rPr lang="en-US" dirty="0" sz="1600">
                <a:solidFill>
                  <a:srgbClr val="8B949E"/>
                </a:solidFill>
              </a:rPr>
              <a:t>YEARS SINCE APOLLO 17</a:t>
            </a:r>
          </a:p>
        </p:txBody>
      </p:sp>
      <p:sp>
        <p:nvSpPr>
          <p:cNvPr id="194" name="TextBox 194"/>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2</a:t>
            </a:r>
          </a:p>
        </p:txBody>
      </p:sp>
    </p:spTree>
  </p:cSld>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18" name="Rectangle 18"/>
          <p:cNvSpPr/>
          <p:nvPr/>
        </p:nvSpPr>
        <p:spPr>
          <a:xfrm>
            <a:off x="0" y="0"/>
            <a:ext cx="12191695" cy="45720"/>
          </a:xfrm>
          <a:prstGeom prst="rect">
            <a:avLst/>
          </a:prstGeom>
          <a:solidFill>
            <a:srgbClr val="4FC3F7"/>
          </a:solidFill>
        </p:spPr>
      </p:sp>
      <p:sp>
        <p:nvSpPr>
          <p:cNvPr id="19" name="TextBox 19"/>
          <p:cNvSpPr txBox="1"/>
          <p:nvPr/>
        </p:nvSpPr>
        <p:spPr>
          <a:xfrm>
            <a:off x="457200" y="274320"/>
            <a:ext cx="10972800" cy="640080"/>
          </a:xfrm>
          <a:prstGeom prst="rect">
            <a:avLst/>
          </a:prstGeom>
          <a:noFill/>
        </p:spPr>
        <p:txBody>
          <a:bodyPr wrap="square" anchor="t" lIns="137160" tIns="137160" rIns="137160" bIns="137160"/>
          <a:lstStyle/>
          <a:p>
            <a:pPr algn="l"/>
            <a:r>
              <a:rPr lang="en-US" dirty="0" sz="3200" b="1">
                <a:solidFill>
                  <a:srgbClr val="FFFFFF"/>
                </a:solidFill>
              </a:rPr>
              <a:t>The Artemis II Crew</a:t>
            </a:r>
          </a:p>
        </p:txBody>
      </p:sp>
      <p:sp>
        <p:nvSpPr>
          <p:cNvPr id="20" name="TextBox 20"/>
          <p:cNvSpPr txBox="1"/>
          <p:nvPr/>
        </p:nvSpPr>
        <p:spPr>
          <a:xfrm>
            <a:off x="457200" y="868680"/>
            <a:ext cx="10972800" cy="365760"/>
          </a:xfrm>
          <a:prstGeom prst="rect">
            <a:avLst/>
          </a:prstGeom>
          <a:noFill/>
        </p:spPr>
        <p:txBody>
          <a:bodyPr wrap="square" anchor="t" lIns="137160" tIns="137160" rIns="137160" bIns="137160"/>
          <a:lstStyle/>
          <a:p>
            <a:pPr algn="l"/>
            <a:r>
              <a:rPr lang="en-US" dirty="0" sz="1600" i="1">
                <a:solidFill>
                  <a:srgbClr val="90CAF9"/>
                </a:solidFill>
              </a:rPr>
              <a:t>First humans to journey to the Moon in the 21st century</a:t>
            </a:r>
          </a:p>
        </p:txBody>
      </p:sp>
      <p:sp>
        <p:nvSpPr>
          <p:cNvPr id="21" name="Rectangle 21"/>
          <p:cNvSpPr/>
          <p:nvPr/>
        </p:nvSpPr>
        <p:spPr>
          <a:xfrm>
            <a:off x="365760" y="1463040"/>
            <a:ext cx="2651760" cy="3474720"/>
          </a:xfrm>
          <a:prstGeom prst="roundRect">
            <a:avLst/>
          </a:prstGeom>
          <a:solidFill>
            <a:srgbClr val="1A237E"/>
          </a:solidFill>
          <a:ln w="12700">
            <a:solidFill>
              <a:srgbClr val="4FC3F7"/>
            </a:solidFill>
          </a:ln>
        </p:spPr>
      </p:sp>
      <p:sp>
        <p:nvSpPr>
          <p:cNvPr id="22" name="Ellipse 22"/>
          <p:cNvSpPr/>
          <p:nvPr/>
        </p:nvSpPr>
        <p:spPr>
          <a:xfrm>
            <a:off x="914400" y="1463040"/>
            <a:ext cx="822960" cy="822960"/>
          </a:xfrm>
          <a:prstGeom prst="ellipse">
            <a:avLst/>
          </a:prstGeom>
          <a:solidFill>
            <a:srgbClr val="4FC3F7"/>
          </a:solidFill>
        </p:spPr>
        <p:txBody>
          <a:bodyPr wrap="square" anchor="ctr" lIns="137160" tIns="137160" rIns="137160" bIns="137160"/>
          <a:lstStyle/>
          <a:p>
            <a:pPr algn="ctr"/>
            <a:r>
              <a:rPr lang="en-US" dirty="0" sz="2000">
                <a:solidFill>
                  <a:srgbClr val="0A0E27"/>
                </a:solidFill>
              </a:rPr>
              <a:t>RW</a:t>
            </a:r>
          </a:p>
        </p:txBody>
      </p:sp>
      <p:sp>
        <p:nvSpPr>
          <p:cNvPr id="23" name="TextBox 23"/>
          <p:cNvSpPr txBox="1"/>
          <p:nvPr/>
        </p:nvSpPr>
        <p:spPr>
          <a:xfrm>
            <a:off x="457200" y="2834640"/>
            <a:ext cx="2468880" cy="457200"/>
          </a:xfrm>
          <a:prstGeom prst="rect">
            <a:avLst/>
          </a:prstGeom>
          <a:noFill/>
        </p:spPr>
        <p:txBody>
          <a:bodyPr wrap="square" anchor="t" lIns="137160" tIns="137160" rIns="137160" bIns="137160"/>
          <a:lstStyle/>
          <a:p>
            <a:pPr algn="ctr"/>
            <a:r>
              <a:rPr lang="en-US" dirty="0" sz="1800" b="1">
                <a:solidFill>
                  <a:srgbClr val="FFFFFF"/>
                </a:solidFill>
              </a:rPr>
              <a:t>Reid Wiseman</a:t>
            </a:r>
          </a:p>
        </p:txBody>
      </p:sp>
      <p:sp>
        <p:nvSpPr>
          <p:cNvPr id="24" name="TextBox 24"/>
          <p:cNvSpPr txBox="1"/>
          <p:nvPr/>
        </p:nvSpPr>
        <p:spPr>
          <a:xfrm>
            <a:off x="457200" y="3200400"/>
            <a:ext cx="2468880" cy="320040"/>
          </a:xfrm>
          <a:prstGeom prst="rect">
            <a:avLst/>
          </a:prstGeom>
          <a:noFill/>
        </p:spPr>
        <p:txBody>
          <a:bodyPr wrap="square" anchor="t" lIns="137160" tIns="137160" rIns="137160" bIns="137160"/>
          <a:lstStyle/>
          <a:p>
            <a:pPr algn="ctr"/>
            <a:r>
              <a:rPr lang="en-US" dirty="0" sz="1200" b="1">
                <a:solidFill>
                  <a:srgbClr val="4FC3F7"/>
                </a:solidFill>
              </a:rPr>
              <a:t>COMMANDER</a:t>
            </a:r>
          </a:p>
        </p:txBody>
      </p:sp>
      <p:sp>
        <p:nvSpPr>
          <p:cNvPr id="25" name="TextBox 25"/>
          <p:cNvSpPr txBox="1"/>
          <p:nvPr/>
        </p:nvSpPr>
        <p:spPr>
          <a:xfrm>
            <a:off x="457200" y="3566160"/>
            <a:ext cx="2468880" cy="1188720"/>
          </a:xfrm>
          <a:prstGeom prst="rect">
            <a:avLst/>
          </a:prstGeom>
          <a:noFill/>
        </p:spPr>
        <p:txBody>
          <a:bodyPr wrap="square" anchor="t" lIns="137160" tIns="137160" rIns="137160" bIns="137160"/>
          <a:lstStyle/>
          <a:p>
            <a:pPr algn="ctr"/>
            <a:r>
              <a:rPr lang="en-US" dirty="0" sz="1100">
                <a:solidFill>
                  <a:srgbClr val="B0BEC5"/>
                </a:solidFill>
              </a:rPr>
              <a:t>NASA | U.S. Navy Captain
ISS Expedition 41
165 days in space prior
Selected 2009</a:t>
            </a:r>
          </a:p>
        </p:txBody>
      </p:sp>
      <p:sp>
        <p:nvSpPr>
          <p:cNvPr id="26" name="Rectangle 26"/>
          <p:cNvSpPr/>
          <p:nvPr/>
        </p:nvSpPr>
        <p:spPr>
          <a:xfrm>
            <a:off x="3246120" y="1463040"/>
            <a:ext cx="2651760" cy="3474720"/>
          </a:xfrm>
          <a:prstGeom prst="roundRect">
            <a:avLst/>
          </a:prstGeom>
          <a:solidFill>
            <a:srgbClr val="1A237E"/>
          </a:solidFill>
          <a:ln w="12700">
            <a:solidFill>
              <a:srgbClr val="4FC3F7"/>
            </a:solidFill>
          </a:ln>
        </p:spPr>
      </p:sp>
      <p:sp>
        <p:nvSpPr>
          <p:cNvPr id="27" name="Ellipse 27"/>
          <p:cNvSpPr/>
          <p:nvPr/>
        </p:nvSpPr>
        <p:spPr>
          <a:xfrm>
            <a:off x="3794760" y="1463040"/>
            <a:ext cx="822960" cy="822960"/>
          </a:xfrm>
          <a:prstGeom prst="ellipse">
            <a:avLst/>
          </a:prstGeom>
          <a:solidFill>
            <a:srgbClr val="4FC3F7"/>
          </a:solidFill>
        </p:spPr>
        <p:txBody>
          <a:bodyPr wrap="square" anchor="ctr" lIns="137160" tIns="137160" rIns="137160" bIns="137160"/>
          <a:lstStyle/>
          <a:p>
            <a:pPr algn="ctr"/>
            <a:r>
              <a:rPr lang="en-US" dirty="0" sz="2000">
                <a:solidFill>
                  <a:srgbClr val="0A0E27"/>
                </a:solidFill>
              </a:rPr>
              <a:t>VG</a:t>
            </a:r>
          </a:p>
        </p:txBody>
      </p:sp>
      <p:sp>
        <p:nvSpPr>
          <p:cNvPr id="28" name="TextBox 28"/>
          <p:cNvSpPr txBox="1"/>
          <p:nvPr/>
        </p:nvSpPr>
        <p:spPr>
          <a:xfrm>
            <a:off x="3337560" y="2834640"/>
            <a:ext cx="2468880" cy="457200"/>
          </a:xfrm>
          <a:prstGeom prst="rect">
            <a:avLst/>
          </a:prstGeom>
          <a:noFill/>
        </p:spPr>
        <p:txBody>
          <a:bodyPr wrap="square" anchor="t" lIns="137160" tIns="137160" rIns="137160" bIns="137160"/>
          <a:lstStyle/>
          <a:p>
            <a:pPr algn="ctr"/>
            <a:r>
              <a:rPr lang="en-US" dirty="0" sz="1800" b="1">
                <a:solidFill>
                  <a:srgbClr val="FFFFFF"/>
                </a:solidFill>
              </a:rPr>
              <a:t>Victor Glover</a:t>
            </a:r>
          </a:p>
        </p:txBody>
      </p:sp>
      <p:sp>
        <p:nvSpPr>
          <p:cNvPr id="29" name="TextBox 29"/>
          <p:cNvSpPr txBox="1"/>
          <p:nvPr/>
        </p:nvSpPr>
        <p:spPr>
          <a:xfrm>
            <a:off x="3337560" y="3200400"/>
            <a:ext cx="2468880" cy="320040"/>
          </a:xfrm>
          <a:prstGeom prst="rect">
            <a:avLst/>
          </a:prstGeom>
          <a:noFill/>
        </p:spPr>
        <p:txBody>
          <a:bodyPr wrap="square" anchor="t" lIns="137160" tIns="137160" rIns="137160" bIns="137160"/>
          <a:lstStyle/>
          <a:p>
            <a:pPr algn="ctr"/>
            <a:r>
              <a:rPr lang="en-US" dirty="0" sz="1200" b="1">
                <a:solidFill>
                  <a:srgbClr val="4FC3F7"/>
                </a:solidFill>
              </a:rPr>
              <a:t>PILOT</a:t>
            </a:r>
          </a:p>
        </p:txBody>
      </p:sp>
      <p:sp>
        <p:nvSpPr>
          <p:cNvPr id="30" name="TextBox 30"/>
          <p:cNvSpPr txBox="1"/>
          <p:nvPr/>
        </p:nvSpPr>
        <p:spPr>
          <a:xfrm>
            <a:off x="3337560" y="3566160"/>
            <a:ext cx="2468880" cy="1188720"/>
          </a:xfrm>
          <a:prstGeom prst="rect">
            <a:avLst/>
          </a:prstGeom>
          <a:noFill/>
        </p:spPr>
        <p:txBody>
          <a:bodyPr wrap="square" anchor="t" lIns="137160" tIns="137160" rIns="137160" bIns="137160"/>
          <a:lstStyle/>
          <a:p>
            <a:pPr algn="ctr"/>
            <a:r>
              <a:rPr lang="en-US" dirty="0" sz="1100">
                <a:solidFill>
                  <a:srgbClr val="B0BEC5"/>
                </a:solidFill>
              </a:rPr>
              <a:t>NASA | U.S. Navy Captain
SpaceX Crew-1 Pilot
167 days in space prior
Selected 2013</a:t>
            </a:r>
          </a:p>
        </p:txBody>
      </p:sp>
      <p:sp>
        <p:nvSpPr>
          <p:cNvPr id="31" name="Rectangle 31"/>
          <p:cNvSpPr/>
          <p:nvPr/>
        </p:nvSpPr>
        <p:spPr>
          <a:xfrm>
            <a:off x="6126480" y="1463040"/>
            <a:ext cx="2651760" cy="3474720"/>
          </a:xfrm>
          <a:prstGeom prst="roundRect">
            <a:avLst/>
          </a:prstGeom>
          <a:solidFill>
            <a:srgbClr val="1A237E"/>
          </a:solidFill>
          <a:ln w="12700">
            <a:solidFill>
              <a:srgbClr val="4FC3F7"/>
            </a:solidFill>
          </a:ln>
        </p:spPr>
      </p:sp>
      <p:sp>
        <p:nvSpPr>
          <p:cNvPr id="32" name="Ellipse 32"/>
          <p:cNvSpPr/>
          <p:nvPr/>
        </p:nvSpPr>
        <p:spPr>
          <a:xfrm>
            <a:off x="6675120" y="1463040"/>
            <a:ext cx="822960" cy="822960"/>
          </a:xfrm>
          <a:prstGeom prst="ellipse">
            <a:avLst/>
          </a:prstGeom>
          <a:solidFill>
            <a:srgbClr val="4FC3F7"/>
          </a:solidFill>
        </p:spPr>
        <p:txBody>
          <a:bodyPr wrap="square" anchor="ctr" lIns="137160" tIns="137160" rIns="137160" bIns="137160"/>
          <a:lstStyle/>
          <a:p>
            <a:pPr algn="ctr"/>
            <a:r>
              <a:rPr lang="en-US" dirty="0" sz="2000">
                <a:solidFill>
                  <a:srgbClr val="0A0E27"/>
                </a:solidFill>
              </a:rPr>
              <a:t>CK</a:t>
            </a:r>
          </a:p>
        </p:txBody>
      </p:sp>
      <p:sp>
        <p:nvSpPr>
          <p:cNvPr id="33" name="TextBox 33"/>
          <p:cNvSpPr txBox="1"/>
          <p:nvPr/>
        </p:nvSpPr>
        <p:spPr>
          <a:xfrm>
            <a:off x="6217920" y="2834640"/>
            <a:ext cx="2468880" cy="457200"/>
          </a:xfrm>
          <a:prstGeom prst="rect">
            <a:avLst/>
          </a:prstGeom>
          <a:noFill/>
        </p:spPr>
        <p:txBody>
          <a:bodyPr wrap="square" anchor="t" lIns="137160" tIns="137160" rIns="137160" bIns="137160"/>
          <a:lstStyle/>
          <a:p>
            <a:pPr algn="ctr"/>
            <a:r>
              <a:rPr lang="en-US" dirty="0" sz="1800" b="1">
                <a:solidFill>
                  <a:srgbClr val="FFFFFF"/>
                </a:solidFill>
              </a:rPr>
              <a:t>Christina Koch</a:t>
            </a:r>
          </a:p>
        </p:txBody>
      </p:sp>
      <p:sp>
        <p:nvSpPr>
          <p:cNvPr id="34" name="TextBox 34"/>
          <p:cNvSpPr txBox="1"/>
          <p:nvPr/>
        </p:nvSpPr>
        <p:spPr>
          <a:xfrm>
            <a:off x="6217920" y="3200400"/>
            <a:ext cx="2468880" cy="320040"/>
          </a:xfrm>
          <a:prstGeom prst="rect">
            <a:avLst/>
          </a:prstGeom>
          <a:noFill/>
        </p:spPr>
        <p:txBody>
          <a:bodyPr wrap="square" anchor="t" lIns="137160" tIns="137160" rIns="137160" bIns="137160"/>
          <a:lstStyle/>
          <a:p>
            <a:pPr algn="ctr"/>
            <a:r>
              <a:rPr lang="en-US" dirty="0" sz="1200" b="1">
                <a:solidFill>
                  <a:srgbClr val="4FC3F7"/>
                </a:solidFill>
              </a:rPr>
              <a:t>MISSION SPECIALIST</a:t>
            </a:r>
          </a:p>
        </p:txBody>
      </p:sp>
      <p:sp>
        <p:nvSpPr>
          <p:cNvPr id="35" name="TextBox 35"/>
          <p:cNvSpPr txBox="1"/>
          <p:nvPr/>
        </p:nvSpPr>
        <p:spPr>
          <a:xfrm>
            <a:off x="6217920" y="3566160"/>
            <a:ext cx="2468880" cy="1188720"/>
          </a:xfrm>
          <a:prstGeom prst="rect">
            <a:avLst/>
          </a:prstGeom>
          <a:noFill/>
        </p:spPr>
        <p:txBody>
          <a:bodyPr wrap="square" anchor="t" lIns="137160" tIns="137160" rIns="137160" bIns="137160"/>
          <a:lstStyle/>
          <a:p>
            <a:pPr algn="ctr"/>
            <a:r>
              <a:rPr lang="en-US" dirty="0" sz="1100">
                <a:solidFill>
                  <a:srgbClr val="B0BEC5"/>
                </a:solidFill>
              </a:rPr>
              <a:t>NASA | Electrical Engineer
ISS Record: 328 days
First all-female EVA
Selected 2013</a:t>
            </a:r>
          </a:p>
        </p:txBody>
      </p:sp>
      <p:sp>
        <p:nvSpPr>
          <p:cNvPr id="36" name="Rectangle 36"/>
          <p:cNvSpPr/>
          <p:nvPr/>
        </p:nvSpPr>
        <p:spPr>
          <a:xfrm>
            <a:off x="9006840" y="1463040"/>
            <a:ext cx="2651760" cy="3474720"/>
          </a:xfrm>
          <a:prstGeom prst="roundRect">
            <a:avLst/>
          </a:prstGeom>
          <a:solidFill>
            <a:srgbClr val="1A237E"/>
          </a:solidFill>
          <a:ln w="12700">
            <a:solidFill>
              <a:srgbClr val="FFD54F"/>
            </a:solidFill>
          </a:ln>
        </p:spPr>
      </p:sp>
      <p:sp>
        <p:nvSpPr>
          <p:cNvPr id="37" name="Ellipse 37"/>
          <p:cNvSpPr/>
          <p:nvPr/>
        </p:nvSpPr>
        <p:spPr>
          <a:xfrm>
            <a:off x="9555480" y="1463040"/>
            <a:ext cx="822960" cy="822960"/>
          </a:xfrm>
          <a:prstGeom prst="ellipse">
            <a:avLst/>
          </a:prstGeom>
          <a:solidFill>
            <a:srgbClr val="FFD54F"/>
          </a:solidFill>
        </p:spPr>
        <p:txBody>
          <a:bodyPr wrap="square" anchor="ctr" lIns="137160" tIns="137160" rIns="137160" bIns="137160"/>
          <a:lstStyle/>
          <a:p>
            <a:pPr algn="ctr"/>
            <a:r>
              <a:rPr lang="en-US" dirty="0" sz="2000">
                <a:solidFill>
                  <a:srgbClr val="0A0E27"/>
                </a:solidFill>
              </a:rPr>
              <a:t>JH</a:t>
            </a:r>
          </a:p>
        </p:txBody>
      </p:sp>
      <p:sp>
        <p:nvSpPr>
          <p:cNvPr id="38" name="TextBox 38"/>
          <p:cNvSpPr txBox="1"/>
          <p:nvPr/>
        </p:nvSpPr>
        <p:spPr>
          <a:xfrm>
            <a:off x="9098280" y="2834640"/>
            <a:ext cx="2468880" cy="457200"/>
          </a:xfrm>
          <a:prstGeom prst="rect">
            <a:avLst/>
          </a:prstGeom>
          <a:noFill/>
        </p:spPr>
        <p:txBody>
          <a:bodyPr wrap="square" anchor="t" lIns="137160" tIns="137160" rIns="137160" bIns="137160"/>
          <a:lstStyle/>
          <a:p>
            <a:pPr algn="ctr"/>
            <a:r>
              <a:rPr lang="en-US" dirty="0" sz="1800" b="1">
                <a:solidFill>
                  <a:srgbClr val="FFFFFF"/>
                </a:solidFill>
              </a:rPr>
              <a:t>Jeremy Hansen</a:t>
            </a:r>
          </a:p>
        </p:txBody>
      </p:sp>
      <p:sp>
        <p:nvSpPr>
          <p:cNvPr id="39" name="TextBox 39"/>
          <p:cNvSpPr txBox="1"/>
          <p:nvPr/>
        </p:nvSpPr>
        <p:spPr>
          <a:xfrm>
            <a:off x="9098280" y="3200400"/>
            <a:ext cx="2468880" cy="320040"/>
          </a:xfrm>
          <a:prstGeom prst="rect">
            <a:avLst/>
          </a:prstGeom>
          <a:noFill/>
        </p:spPr>
        <p:txBody>
          <a:bodyPr wrap="square" anchor="t" lIns="137160" tIns="137160" rIns="137160" bIns="137160"/>
          <a:lstStyle/>
          <a:p>
            <a:pPr algn="ctr"/>
            <a:r>
              <a:rPr lang="en-US" dirty="0" sz="1200" b="1">
                <a:solidFill>
                  <a:srgbClr val="FFD54F"/>
                </a:solidFill>
              </a:rPr>
              <a:t>MISSION SPECIALIST</a:t>
            </a:r>
          </a:p>
        </p:txBody>
      </p:sp>
      <p:sp>
        <p:nvSpPr>
          <p:cNvPr id="40" name="TextBox 40"/>
          <p:cNvSpPr txBox="1"/>
          <p:nvPr/>
        </p:nvSpPr>
        <p:spPr>
          <a:xfrm>
            <a:off x="9098280" y="3566160"/>
            <a:ext cx="2468880" cy="1188720"/>
          </a:xfrm>
          <a:prstGeom prst="rect">
            <a:avLst/>
          </a:prstGeom>
          <a:noFill/>
        </p:spPr>
        <p:txBody>
          <a:bodyPr wrap="square" anchor="t" lIns="137160" tIns="137160" rIns="137160" bIns="137160"/>
          <a:lstStyle/>
          <a:p>
            <a:pPr algn="ctr"/>
            <a:r>
              <a:rPr lang="en-US" dirty="0" sz="1100">
                <a:solidFill>
                  <a:srgbClr val="B0BEC5"/>
                </a:solidFill>
              </a:rPr>
              <a:t>CSA | CF-18 Fighter Pilot
First Canadian to lunar orbit
CapCom for ISS missions
Selected 2009</a:t>
            </a:r>
          </a:p>
        </p:txBody>
      </p:sp>
      <p:sp>
        <p:nvSpPr>
          <p:cNvPr id="41" name="TextBox 41"/>
          <p:cNvSpPr txBox="1"/>
          <p:nvPr/>
        </p:nvSpPr>
        <p:spPr>
          <a:xfrm>
            <a:off x="457200" y="5303520"/>
            <a:ext cx="10972800" cy="457200"/>
          </a:xfrm>
          <a:prstGeom prst="rect">
            <a:avLst/>
          </a:prstGeom>
          <a:noFill/>
        </p:spPr>
        <p:txBody>
          <a:bodyPr wrap="square" anchor="t" lIns="137160" tIns="137160" rIns="137160" bIns="137160"/>
          <a:lstStyle/>
          <a:p>
            <a:pPr algn="ctr"/>
            <a:r>
              <a:rPr lang="en-US" dirty="0" sz="1300">
                <a:solidFill>
                  <a:srgbClr val="78909C"/>
                </a:solidFill>
              </a:rPr>
              <a:t>NASA   |   Canadian Space Agency   |   First international crew to fly beyond low Earth orbit</a:t>
            </a:r>
          </a:p>
        </p:txBody>
      </p:sp>
      <p:cxnSp>
        <p:nvCxnSpPr>
          <p:cNvPr id="42" name="Line 42"/>
          <p:cNvCxnSpPr/>
          <p:nvPr/>
        </p:nvCxnSpPr>
        <p:spPr>
          <a:xfrm>
            <a:off x="457200" y="5212080"/>
            <a:ext cx="11247120" cy="1"/>
          </a:xfrm>
          <a:prstGeom prst="line">
            <a:avLst/>
          </a:prstGeom>
          <a:ln w="12700">
            <a:solidFill>
              <a:srgbClr val="263238"/>
            </a:solidFill>
          </a:ln>
        </p:spPr>
      </p:cxnSp>
      <p:sp>
        <p:nvSpPr>
          <p:cNvPr id="195" name="TextBox 195"/>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3</a:t>
            </a:r>
          </a:p>
        </p:txBody>
      </p:sp>
    </p:spTree>
  </p:cSld>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E27"/>
        </a:solidFill>
        <a:effectLst/>
      </p:bgPr>
    </p:bg>
    <p:spTree>
      <p:nvGrpSpPr>
        <p:cNvPr id="1" name=""/>
        <p:cNvGrpSpPr/>
        <p:nvPr/>
      </p:nvGrpSpPr>
      <p:grpSpPr>
        <a:xfrm>
          <a:off x="0" y="0"/>
          <a:ext cx="0" cy="0"/>
          <a:chOff x="0" y="0"/>
          <a:chExt cx="0" cy="0"/>
        </a:xfrm>
      </p:grpSpPr>
      <p:sp>
        <p:nvSpPr>
          <p:cNvPr id="43" name="Rectangle 43"/>
          <p:cNvSpPr/>
          <p:nvPr/>
        </p:nvSpPr>
        <p:spPr>
          <a:xfrm>
            <a:off x="0" y="0"/>
            <a:ext cx="12191695" cy="45720"/>
          </a:xfrm>
          <a:prstGeom prst="rect">
            <a:avLst/>
          </a:prstGeom>
          <a:solidFill>
            <a:srgbClr val="4FC3F7"/>
          </a:solidFill>
        </p:spPr>
      </p:sp>
      <p:sp>
        <p:nvSpPr>
          <p:cNvPr id="44" name="TextBox 44"/>
          <p:cNvSpPr txBox="1"/>
          <p:nvPr/>
        </p:nvSpPr>
        <p:spPr>
          <a:xfrm>
            <a:off x="457200" y="274320"/>
            <a:ext cx="10972800" cy="640080"/>
          </a:xfrm>
          <a:prstGeom prst="rect">
            <a:avLst/>
          </a:prstGeom>
          <a:noFill/>
        </p:spPr>
        <p:txBody>
          <a:bodyPr wrap="square" anchor="t" lIns="137160" tIns="137160" rIns="137160" bIns="137160"/>
          <a:lstStyle/>
          <a:p>
            <a:pPr algn="l"/>
            <a:r>
              <a:rPr lang="en-US" dirty="0" sz="3200" b="1">
                <a:solidFill>
                  <a:srgbClr val="FFFFFF"/>
                </a:solidFill>
              </a:rPr>
              <a:t>The Vehicles: SLS &amp; Orion</a:t>
            </a:r>
          </a:p>
        </p:txBody>
      </p:sp>
      <p:sp>
        <p:nvSpPr>
          <p:cNvPr id="45" name="Rectangle 45"/>
          <p:cNvSpPr/>
          <p:nvPr/>
        </p:nvSpPr>
        <p:spPr>
          <a:xfrm>
            <a:off x="365760" y="1188720"/>
            <a:ext cx="5577840" cy="4572000"/>
          </a:xfrm>
          <a:prstGeom prst="roundRect">
            <a:avLst/>
          </a:prstGeom>
          <a:solidFill>
            <a:srgbClr val="0D2137"/>
          </a:solidFill>
        </p:spPr>
      </p:sp>
      <p:sp>
        <p:nvSpPr>
          <p:cNvPr id="46" name="TextBox 46"/>
          <p:cNvSpPr txBox="1"/>
          <p:nvPr/>
        </p:nvSpPr>
        <p:spPr>
          <a:xfrm>
            <a:off x="548640" y="1280160"/>
            <a:ext cx="5212080" cy="457200"/>
          </a:xfrm>
          <a:prstGeom prst="rect">
            <a:avLst/>
          </a:prstGeom>
          <a:noFill/>
        </p:spPr>
        <p:txBody>
          <a:bodyPr wrap="square" anchor="t" lIns="137160" tIns="137160" rIns="137160" bIns="137160"/>
          <a:lstStyle/>
          <a:p>
            <a:pPr algn="l"/>
            <a:r>
              <a:rPr lang="en-US" dirty="0" sz="1800" b="1">
                <a:solidFill>
                  <a:srgbClr val="4FC3F7"/>
                </a:solidFill>
              </a:rPr>
              <a:t>SPACE LAUNCH SYSTEM (SLS)</a:t>
            </a:r>
          </a:p>
        </p:txBody>
      </p:sp>
      <p:cxnSp>
        <p:nvCxnSpPr>
          <p:cNvPr id="47" name="Line 47"/>
          <p:cNvCxnSpPr/>
          <p:nvPr/>
        </p:nvCxnSpPr>
        <p:spPr>
          <a:xfrm>
            <a:off x="548640" y="1783080"/>
            <a:ext cx="5212080" cy="1"/>
          </a:xfrm>
          <a:prstGeom prst="line">
            <a:avLst/>
          </a:prstGeom>
          <a:ln w="25400">
            <a:solidFill>
              <a:srgbClr val="1565C0"/>
            </a:solidFill>
          </a:ln>
        </p:spPr>
      </p:cxnSp>
      <p:sp>
        <p:nvSpPr>
          <p:cNvPr id="48" name="TextBox 48"/>
          <p:cNvSpPr txBox="1"/>
          <p:nvPr/>
        </p:nvSpPr>
        <p:spPr>
          <a:xfrm>
            <a:off x="548640" y="1920240"/>
            <a:ext cx="2377440" cy="914400"/>
          </a:xfrm>
          <a:prstGeom prst="roundRect">
            <a:avLst/>
          </a:prstGeom>
          <a:noFill/>
        </p:spPr>
        <p:txBody>
          <a:bodyPr wrap="square" anchor="ctr" lIns="137160" tIns="137160" rIns="137160" bIns="137160"/>
          <a:lstStyle/>
          <a:p>
            <a:pPr algn="ctr"/>
            <a:r>
              <a:rPr lang="en-US" dirty="0" sz="2800" b="1">
                <a:solidFill>
                  <a:srgbClr val="FFFFFF"/>
                </a:solidFill>
              </a:rPr>
              <a:t>322 ft</a:t>
            </a:r>
          </a:p>
          <a:p>
            <a:pPr algn="ctr"/>
            <a:r>
              <a:rPr lang="en-US" dirty="0" sz="1400">
                <a:solidFill>
                  <a:srgbClr val="90CAF9"/>
                </a:solidFill>
              </a:rPr>
              <a:t>Height (Block 1)</a:t>
            </a:r>
          </a:p>
        </p:txBody>
      </p:sp>
      <p:sp>
        <p:nvSpPr>
          <p:cNvPr id="49" name="TextBox 49"/>
          <p:cNvSpPr txBox="1"/>
          <p:nvPr/>
        </p:nvSpPr>
        <p:spPr>
          <a:xfrm>
            <a:off x="3017520" y="1920240"/>
            <a:ext cx="2377440" cy="914400"/>
          </a:xfrm>
          <a:prstGeom prst="roundRect">
            <a:avLst/>
          </a:prstGeom>
          <a:noFill/>
        </p:spPr>
        <p:txBody>
          <a:bodyPr wrap="square" anchor="ctr" lIns="137160" tIns="137160" rIns="137160" bIns="137160"/>
          <a:lstStyle/>
          <a:p>
            <a:pPr algn="ctr"/>
            <a:r>
              <a:rPr lang="en-US" dirty="0" sz="2800" b="1">
                <a:solidFill>
                  <a:srgbClr val="FFFFFF"/>
                </a:solidFill>
              </a:rPr>
              <a:t>8.8M lbs</a:t>
            </a:r>
          </a:p>
          <a:p>
            <a:pPr algn="ctr"/>
            <a:r>
              <a:rPr lang="en-US" dirty="0" sz="1400">
                <a:solidFill>
                  <a:srgbClr val="90CAF9"/>
                </a:solidFill>
              </a:rPr>
              <a:t>Max Thrust</a:t>
            </a:r>
          </a:p>
        </p:txBody>
      </p:sp>
      <p:sp>
        <p:nvSpPr>
          <p:cNvPr id="50" name="TextBox 50"/>
          <p:cNvSpPr txBox="1"/>
          <p:nvPr/>
        </p:nvSpPr>
        <p:spPr>
          <a:xfrm>
            <a:off x="548640" y="2926080"/>
            <a:ext cx="2377440" cy="914400"/>
          </a:xfrm>
          <a:prstGeom prst="roundRect">
            <a:avLst/>
          </a:prstGeom>
          <a:noFill/>
        </p:spPr>
        <p:txBody>
          <a:bodyPr wrap="square" anchor="ctr" lIns="137160" tIns="137160" rIns="137160" bIns="137160"/>
          <a:lstStyle/>
          <a:p>
            <a:pPr algn="ctr"/>
            <a:r>
              <a:rPr lang="en-US" dirty="0" sz="2800" b="1">
                <a:solidFill>
                  <a:srgbClr val="FFFFFF"/>
                </a:solidFill>
              </a:rPr>
              <a:t>5,750°F</a:t>
            </a:r>
          </a:p>
          <a:p>
            <a:pPr algn="ctr"/>
            <a:r>
              <a:rPr lang="en-US" dirty="0" sz="1400">
                <a:solidFill>
                  <a:srgbClr val="90CAF9"/>
                </a:solidFill>
              </a:rPr>
              <a:t>Exhaust Temperature</a:t>
            </a:r>
          </a:p>
        </p:txBody>
      </p:sp>
      <p:sp>
        <p:nvSpPr>
          <p:cNvPr id="51" name="TextBox 51"/>
          <p:cNvSpPr txBox="1"/>
          <p:nvPr/>
        </p:nvSpPr>
        <p:spPr>
          <a:xfrm>
            <a:off x="3017520" y="2926080"/>
            <a:ext cx="2377440" cy="914400"/>
          </a:xfrm>
          <a:prstGeom prst="roundRect">
            <a:avLst/>
          </a:prstGeom>
          <a:noFill/>
        </p:spPr>
        <p:txBody>
          <a:bodyPr wrap="square" anchor="ctr" lIns="137160" tIns="137160" rIns="137160" bIns="137160"/>
          <a:lstStyle/>
          <a:p>
            <a:pPr algn="ctr"/>
            <a:r>
              <a:rPr lang="en-US" dirty="0" sz="2800" b="1">
                <a:solidFill>
                  <a:srgbClr val="FFFFFF"/>
                </a:solidFill>
              </a:rPr>
              <a:t>27 t</a:t>
            </a:r>
          </a:p>
          <a:p>
            <a:pPr algn="ctr"/>
            <a:r>
              <a:rPr lang="en-US" dirty="0" sz="1400">
                <a:solidFill>
                  <a:srgbClr val="90CAF9"/>
                </a:solidFill>
              </a:rPr>
              <a:t>Payload to TLI</a:t>
            </a:r>
          </a:p>
        </p:txBody>
      </p:sp>
      <p:sp>
        <p:nvSpPr>
          <p:cNvPr id="52" name="TextBox 52"/>
          <p:cNvSpPr txBox="1"/>
          <p:nvPr/>
        </p:nvSpPr>
        <p:spPr>
          <a:xfrm>
            <a:off x="548640" y="4023360"/>
            <a:ext cx="5120640" cy="1645920"/>
          </a:xfrm>
          <a:prstGeom prst="rect">
            <a:avLst/>
          </a:prstGeom>
          <a:noFill/>
        </p:spPr>
        <p:txBody>
          <a:bodyPr wrap="square" anchor="t" lIns="137160" tIns="137160" rIns="137160" bIns="137160"/>
          <a:lstStyle/>
          <a:p>
            <a:pPr lvl="0" algn="l">
              <a:buClr>
                <a:srgbClr val="4FC3F7"/>
              </a:buClr>
              <a:buFont typeface="Arial"/>
              <a:buChar char="•"/>
            </a:pPr>
            <a:r>
              <a:rPr lang="en-US" dirty="0" sz="1200">
                <a:solidFill>
                  <a:srgbClr val="B0BEC5"/>
                </a:solidFill>
              </a:rPr>
              <a:t>Most powerful rocket ever flown</a:t>
            </a:r>
          </a:p>
          <a:p>
            <a:pPr lvl="0" algn="l">
              <a:buClr>
                <a:srgbClr val="4FC3F7"/>
              </a:buClr>
              <a:buFont typeface="Arial"/>
              <a:buChar char="•"/>
            </a:pPr>
            <a:r>
              <a:rPr lang="en-US" dirty="0" sz="1200">
                <a:solidFill>
                  <a:srgbClr val="B0BEC5"/>
                </a:solidFill>
              </a:rPr>
              <a:t>Twin 5-segment solid rocket boosters</a:t>
            </a:r>
          </a:p>
          <a:p>
            <a:pPr lvl="0" algn="l">
              <a:buClr>
                <a:srgbClr val="4FC3F7"/>
              </a:buClr>
              <a:buFont typeface="Arial"/>
              <a:buChar char="•"/>
            </a:pPr>
            <a:r>
              <a:rPr lang="en-US" dirty="0" sz="1200">
                <a:solidFill>
                  <a:srgbClr val="B0BEC5"/>
                </a:solidFill>
              </a:rPr>
              <a:t>4 RS-25 engines (Space Shuttle heritage)</a:t>
            </a:r>
          </a:p>
          <a:p>
            <a:pPr lvl="0" algn="l">
              <a:buClr>
                <a:srgbClr val="4FC3F7"/>
              </a:buClr>
              <a:buFont typeface="Arial"/>
              <a:buChar char="•"/>
            </a:pPr>
            <a:r>
              <a:rPr lang="en-US" dirty="0" sz="1200">
                <a:solidFill>
                  <a:srgbClr val="B0BEC5"/>
                </a:solidFill>
              </a:rPr>
              <a:t>Interim Cryogenic Propulsion Stage (ICPS)</a:t>
            </a:r>
          </a:p>
        </p:txBody>
      </p:sp>
      <p:sp>
        <p:nvSpPr>
          <p:cNvPr id="53" name="Rectangle 53"/>
          <p:cNvSpPr/>
          <p:nvPr/>
        </p:nvSpPr>
        <p:spPr>
          <a:xfrm>
            <a:off x="6217920" y="1188720"/>
            <a:ext cx="5577840" cy="4572000"/>
          </a:xfrm>
          <a:prstGeom prst="roundRect">
            <a:avLst/>
          </a:prstGeom>
          <a:solidFill>
            <a:srgbClr val="0D2137"/>
          </a:solidFill>
        </p:spPr>
      </p:sp>
      <p:sp>
        <p:nvSpPr>
          <p:cNvPr id="54" name="TextBox 54"/>
          <p:cNvSpPr txBox="1"/>
          <p:nvPr/>
        </p:nvSpPr>
        <p:spPr>
          <a:xfrm>
            <a:off x="6400800" y="1280160"/>
            <a:ext cx="5212080" cy="457200"/>
          </a:xfrm>
          <a:prstGeom prst="rect">
            <a:avLst/>
          </a:prstGeom>
          <a:noFill/>
        </p:spPr>
        <p:txBody>
          <a:bodyPr wrap="square" anchor="t" lIns="137160" tIns="137160" rIns="137160" bIns="137160"/>
          <a:lstStyle/>
          <a:p>
            <a:pPr algn="l"/>
            <a:r>
              <a:rPr lang="en-US" dirty="0" sz="1800" b="1">
                <a:solidFill>
                  <a:srgbClr val="4FC3F7"/>
                </a:solidFill>
              </a:rPr>
              <a:t>ORION SPACECRAFT</a:t>
            </a:r>
          </a:p>
        </p:txBody>
      </p:sp>
      <p:cxnSp>
        <p:nvCxnSpPr>
          <p:cNvPr id="55" name="Line 55"/>
          <p:cNvCxnSpPr/>
          <p:nvPr/>
        </p:nvCxnSpPr>
        <p:spPr>
          <a:xfrm>
            <a:off x="6400800" y="1783080"/>
            <a:ext cx="5212080" cy="1"/>
          </a:xfrm>
          <a:prstGeom prst="line">
            <a:avLst/>
          </a:prstGeom>
          <a:ln w="25400">
            <a:solidFill>
              <a:srgbClr val="1565C0"/>
            </a:solidFill>
          </a:ln>
        </p:spPr>
      </p:cxnSp>
      <p:sp>
        <p:nvSpPr>
          <p:cNvPr id="56" name="TextBox 56"/>
          <p:cNvSpPr txBox="1"/>
          <p:nvPr/>
        </p:nvSpPr>
        <p:spPr>
          <a:xfrm>
            <a:off x="6400800" y="1920240"/>
            <a:ext cx="2377440" cy="914400"/>
          </a:xfrm>
          <a:prstGeom prst="roundRect">
            <a:avLst/>
          </a:prstGeom>
          <a:noFill/>
        </p:spPr>
        <p:txBody>
          <a:bodyPr wrap="square" anchor="ctr" lIns="137160" tIns="137160" rIns="137160" bIns="137160"/>
          <a:lstStyle/>
          <a:p>
            <a:pPr algn="ctr"/>
            <a:r>
              <a:rPr lang="en-US" dirty="0" sz="2800" b="1">
                <a:solidFill>
                  <a:srgbClr val="FFFFFF"/>
                </a:solidFill>
              </a:rPr>
              <a:t>16.5 ft</a:t>
            </a:r>
          </a:p>
          <a:p>
            <a:pPr algn="ctr"/>
            <a:r>
              <a:rPr lang="en-US" dirty="0" sz="1400">
                <a:solidFill>
                  <a:srgbClr val="90CAF9"/>
                </a:solidFill>
              </a:rPr>
              <a:t>Crew Module Diameter</a:t>
            </a:r>
          </a:p>
        </p:txBody>
      </p:sp>
      <p:sp>
        <p:nvSpPr>
          <p:cNvPr id="57" name="TextBox 57"/>
          <p:cNvSpPr txBox="1"/>
          <p:nvPr/>
        </p:nvSpPr>
        <p:spPr>
          <a:xfrm>
            <a:off x="8869680" y="1920240"/>
            <a:ext cx="2377440" cy="914400"/>
          </a:xfrm>
          <a:prstGeom prst="roundRect">
            <a:avLst/>
          </a:prstGeom>
          <a:noFill/>
        </p:spPr>
        <p:txBody>
          <a:bodyPr wrap="square" anchor="ctr" lIns="137160" tIns="137160" rIns="137160" bIns="137160"/>
          <a:lstStyle/>
          <a:p>
            <a:pPr algn="ctr"/>
            <a:r>
              <a:rPr lang="en-US" dirty="0" sz="2800" b="1">
                <a:solidFill>
                  <a:srgbClr val="FFFFFF"/>
                </a:solidFill>
              </a:rPr>
              <a:t>316 ft²</a:t>
            </a:r>
          </a:p>
          <a:p>
            <a:pPr algn="ctr"/>
            <a:r>
              <a:rPr lang="en-US" dirty="0" sz="1400">
                <a:solidFill>
                  <a:srgbClr val="90CAF9"/>
                </a:solidFill>
              </a:rPr>
              <a:t>Habitable Volume</a:t>
            </a:r>
          </a:p>
        </p:txBody>
      </p:sp>
      <p:sp>
        <p:nvSpPr>
          <p:cNvPr id="58" name="TextBox 58"/>
          <p:cNvSpPr txBox="1"/>
          <p:nvPr/>
        </p:nvSpPr>
        <p:spPr>
          <a:xfrm>
            <a:off x="6400800" y="2926080"/>
            <a:ext cx="2377440" cy="914400"/>
          </a:xfrm>
          <a:prstGeom prst="roundRect">
            <a:avLst/>
          </a:prstGeom>
          <a:noFill/>
        </p:spPr>
        <p:txBody>
          <a:bodyPr wrap="square" anchor="ctr" lIns="137160" tIns="137160" rIns="137160" bIns="137160"/>
          <a:lstStyle/>
          <a:p>
            <a:pPr algn="ctr"/>
            <a:r>
              <a:rPr lang="en-US" dirty="0" sz="2200" b="1">
                <a:solidFill>
                  <a:srgbClr val="FFFFFF"/>
                </a:solidFill>
              </a:rPr>
              <a:t>25,000 mph</a:t>
            </a:r>
          </a:p>
          <a:p>
            <a:pPr algn="ctr"/>
            <a:r>
              <a:rPr lang="en-US" dirty="0" sz="1400">
                <a:solidFill>
                  <a:srgbClr val="90CAF9"/>
                </a:solidFill>
              </a:rPr>
              <a:t>Re-entry Speed</a:t>
            </a:r>
          </a:p>
        </p:txBody>
      </p:sp>
      <p:sp>
        <p:nvSpPr>
          <p:cNvPr id="59" name="TextBox 59"/>
          <p:cNvSpPr txBox="1"/>
          <p:nvPr/>
        </p:nvSpPr>
        <p:spPr>
          <a:xfrm>
            <a:off x="8869680" y="2926080"/>
            <a:ext cx="2377440" cy="914400"/>
          </a:xfrm>
          <a:prstGeom prst="roundRect">
            <a:avLst/>
          </a:prstGeom>
          <a:noFill/>
        </p:spPr>
        <p:txBody>
          <a:bodyPr wrap="square" anchor="ctr" lIns="137160" tIns="137160" rIns="137160" bIns="137160"/>
          <a:lstStyle/>
          <a:p>
            <a:pPr algn="ctr"/>
            <a:r>
              <a:rPr lang="en-US" dirty="0" sz="2800" b="1">
                <a:solidFill>
                  <a:srgbClr val="FFFFFF"/>
                </a:solidFill>
              </a:rPr>
              <a:t>5,000°F</a:t>
            </a:r>
          </a:p>
          <a:p>
            <a:pPr algn="ctr"/>
            <a:r>
              <a:rPr lang="en-US" dirty="0" sz="1400">
                <a:solidFill>
                  <a:srgbClr val="90CAF9"/>
                </a:solidFill>
              </a:rPr>
              <a:t>Heat Shield Temp</a:t>
            </a:r>
          </a:p>
        </p:txBody>
      </p:sp>
      <p:sp>
        <p:nvSpPr>
          <p:cNvPr id="60" name="TextBox 60"/>
          <p:cNvSpPr txBox="1"/>
          <p:nvPr/>
        </p:nvSpPr>
        <p:spPr>
          <a:xfrm>
            <a:off x="6400800" y="4023360"/>
            <a:ext cx="5120640" cy="1645920"/>
          </a:xfrm>
          <a:prstGeom prst="rect">
            <a:avLst/>
          </a:prstGeom>
          <a:noFill/>
        </p:spPr>
        <p:txBody>
          <a:bodyPr wrap="square" anchor="t" lIns="137160" tIns="137160" rIns="137160" bIns="137160"/>
          <a:lstStyle/>
          <a:p>
            <a:pPr lvl="0" algn="l">
              <a:buClr>
                <a:srgbClr val="4FC3F7"/>
              </a:buClr>
              <a:buFont typeface="Arial"/>
              <a:buChar char="•"/>
            </a:pPr>
            <a:r>
              <a:rPr lang="en-US" dirty="0" sz="1200">
                <a:solidFill>
                  <a:srgbClr val="B0BEC5"/>
                </a:solidFill>
              </a:rPr>
              <a:t>European Service Module (ESA partnership)</a:t>
            </a:r>
          </a:p>
          <a:p>
            <a:pPr lvl="0" algn="l">
              <a:buClr>
                <a:srgbClr val="4FC3F7"/>
              </a:buClr>
              <a:buFont typeface="Arial"/>
              <a:buChar char="•"/>
            </a:pPr>
            <a:r>
              <a:rPr lang="en-US" dirty="0" sz="1200">
                <a:solidFill>
                  <a:srgbClr val="B0BEC5"/>
                </a:solidFill>
              </a:rPr>
              <a:t>4 solar array wings: 33 kW power</a:t>
            </a:r>
          </a:p>
          <a:p>
            <a:pPr lvl="0" algn="l">
              <a:buClr>
                <a:srgbClr val="4FC3F7"/>
              </a:buClr>
              <a:buFont typeface="Arial"/>
              <a:buChar char="•"/>
            </a:pPr>
            <a:r>
              <a:rPr lang="en-US" dirty="0" sz="1200">
                <a:solidFill>
                  <a:srgbClr val="B0BEC5"/>
                </a:solidFill>
              </a:rPr>
              <a:t>Life support for 21 days (crew of 4)</a:t>
            </a:r>
          </a:p>
          <a:p>
            <a:pPr lvl="0" algn="l">
              <a:buClr>
                <a:srgbClr val="4FC3F7"/>
              </a:buClr>
              <a:buFont typeface="Arial"/>
              <a:buChar char="•"/>
            </a:pPr>
            <a:r>
              <a:rPr lang="en-US" dirty="0" sz="1200">
                <a:solidFill>
                  <a:srgbClr val="B0BEC5"/>
                </a:solidFill>
              </a:rPr>
              <a:t>Largest heat shield ever built: 16.5 ft dia.</a:t>
            </a:r>
          </a:p>
        </p:txBody>
      </p:sp>
      <p:sp>
        <p:nvSpPr>
          <p:cNvPr id="196" name="TextBox 196"/>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4</a:t>
            </a:r>
          </a:p>
        </p:txBody>
      </p:sp>
    </p:spTree>
  </p:cSld>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61" name="TextBox 61"/>
          <p:cNvSpPr txBox="1"/>
          <p:nvPr/>
        </p:nvSpPr>
        <p:spPr>
          <a:xfrm>
            <a:off x="457200" y="274320"/>
            <a:ext cx="10972800" cy="731520"/>
          </a:xfrm>
          <a:prstGeom prst="rect">
            <a:avLst/>
          </a:prstGeom>
          <a:noFill/>
        </p:spPr>
        <p:txBody>
          <a:bodyPr wrap="square" anchor="t" lIns="137160" tIns="137160" rIns="137160" bIns="137160"/>
          <a:lstStyle/>
          <a:p>
            <a:pPr algn="l"/>
            <a:r>
              <a:rPr lang="en-US" dirty="0" sz="2800" b="1">
                <a:solidFill>
                  <a:srgbClr val="FFFFFF"/>
                </a:solidFill>
              </a:rPr>
              <a:t>Mission Timeline: 10 Days Around the Moon</a:t>
            </a:r>
          </a:p>
        </p:txBody>
      </p:sp>
      <p:sp>
        <p:nvSpPr>
          <p:cNvPr id="62" name="Rectangle 62"/>
          <p:cNvSpPr/>
          <p:nvPr/>
        </p:nvSpPr>
        <p:spPr>
          <a:xfrm>
            <a:off x="457200" y="960120"/>
            <a:ext cx="1828800" cy="45720"/>
          </a:xfrm>
          <a:prstGeom prst="rect">
            <a:avLst/>
          </a:prstGeom>
          <a:solidFill>
            <a:srgbClr val="58A6FF"/>
          </a:solidFill>
        </p:spPr>
      </p:sp>
      <p:sp>
        <p:nvSpPr>
          <p:cNvPr id="63" name="Shape 63"/>
          <p:cNvSpPr/>
          <p:nvPr/>
        </p:nvSpPr>
        <p:spPr>
          <a:xfrm>
            <a:off x="950976" y="2011680"/>
            <a:ext cx="457200" cy="457200"/>
          </a:xfrm>
          <a:prstGeom prst="ellipse">
            <a:avLst/>
          </a:prstGeom>
          <a:solidFill>
            <a:srgbClr val="4FC3F7"/>
          </a:solidFill>
        </p:spPr>
        <p:txBody>
          <a:bodyPr wrap="square" anchor="ctr" lIns="137160" tIns="137160" rIns="137160" bIns="137160"/>
          <a:lstStyle/>
          <a:p>
            <a:pPr algn="ctr"/>
            <a:r>
              <a:rPr lang="en-US" dirty="0" sz="1400">
                <a:solidFill>
                  <a:srgbClr val="333333"/>
                </a:solidFill>
              </a:rPr>
              <a:t>1</a:t>
            </a:r>
          </a:p>
        </p:txBody>
      </p:sp>
      <p:sp>
        <p:nvSpPr>
          <p:cNvPr id="64" name="Rectangle 64"/>
          <p:cNvSpPr/>
          <p:nvPr/>
        </p:nvSpPr>
        <p:spPr>
          <a:xfrm>
            <a:off x="379476" y="2560320"/>
            <a:ext cx="1600200" cy="1645920"/>
          </a:xfrm>
          <a:prstGeom prst="roundRect">
            <a:avLst/>
          </a:prstGeom>
          <a:solidFill>
            <a:srgbClr val="1A1A2E"/>
          </a:solidFill>
        </p:spPr>
      </p:sp>
      <p:sp>
        <p:nvSpPr>
          <p:cNvPr id="65" name="TextBox 65"/>
          <p:cNvSpPr txBox="1"/>
          <p:nvPr/>
        </p:nvSpPr>
        <p:spPr>
          <a:xfrm>
            <a:off x="379476" y="2834640"/>
            <a:ext cx="1600200" cy="457200"/>
          </a:xfrm>
          <a:prstGeom prst="rect">
            <a:avLst/>
          </a:prstGeom>
          <a:noFill/>
        </p:spPr>
        <p:txBody>
          <a:bodyPr wrap="square" anchor="t" lIns="137160" tIns="137160" rIns="137160" bIns="137160"/>
          <a:lstStyle/>
          <a:p>
            <a:pPr algn="ctr"/>
            <a:r>
              <a:rPr lang="en-US" dirty="0" sz="1200" b="1">
                <a:solidFill>
                  <a:srgbClr val="FFFFFF"/>
                </a:solidFill>
              </a:rPr>
              <a:t>Launch</a:t>
            </a:r>
          </a:p>
        </p:txBody>
      </p:sp>
      <p:sp>
        <p:nvSpPr>
          <p:cNvPr id="66" name="TextBox 66"/>
          <p:cNvSpPr txBox="1"/>
          <p:nvPr/>
        </p:nvSpPr>
        <p:spPr>
          <a:xfrm>
            <a:off x="379476" y="4297680"/>
            <a:ext cx="1600200" cy="731520"/>
          </a:xfrm>
          <a:prstGeom prst="rect">
            <a:avLst/>
          </a:prstGeom>
          <a:noFill/>
        </p:spPr>
        <p:txBody>
          <a:bodyPr wrap="square" anchor="t" lIns="137160" tIns="137160" rIns="137160" bIns="137160"/>
          <a:lstStyle/>
          <a:p>
            <a:pPr algn="ctr"/>
            <a:r>
              <a:rPr lang="en-US" dirty="0" sz="900">
                <a:solidFill>
                  <a:srgbClr val="8B949E"/>
                </a:solidFill>
              </a:rPr>
              <a:t>April 1, 6:35 PM ET
KSC Pad 39B</a:t>
            </a:r>
          </a:p>
        </p:txBody>
      </p:sp>
      <p:sp>
        <p:nvSpPr>
          <p:cNvPr id="67" name="Shape 67"/>
          <p:cNvSpPr/>
          <p:nvPr/>
        </p:nvSpPr>
        <p:spPr>
          <a:xfrm>
            <a:off x="2116836" y="3246120"/>
            <a:ext cx="274320" cy="274320"/>
          </a:xfrm>
          <a:prstGeom prst="rightArrow">
            <a:avLst/>
          </a:prstGeom>
          <a:solidFill>
            <a:srgbClr val="8B949E"/>
          </a:solidFill>
        </p:spPr>
      </p:sp>
      <p:sp>
        <p:nvSpPr>
          <p:cNvPr id="68" name="Shape 68"/>
          <p:cNvSpPr/>
          <p:nvPr/>
        </p:nvSpPr>
        <p:spPr>
          <a:xfrm>
            <a:off x="2916936" y="2011680"/>
            <a:ext cx="457200" cy="457200"/>
          </a:xfrm>
          <a:prstGeom prst="ellipse">
            <a:avLst/>
          </a:prstGeom>
          <a:solidFill>
            <a:srgbClr val="1E88E5"/>
          </a:solidFill>
        </p:spPr>
        <p:txBody>
          <a:bodyPr wrap="square" anchor="ctr" lIns="137160" tIns="137160" rIns="137160" bIns="137160"/>
          <a:lstStyle/>
          <a:p>
            <a:pPr algn="ctr"/>
            <a:r>
              <a:rPr lang="en-US" dirty="0" sz="1400">
                <a:solidFill>
                  <a:srgbClr val="FFFFFF"/>
                </a:solidFill>
              </a:rPr>
              <a:t>2</a:t>
            </a:r>
          </a:p>
        </p:txBody>
      </p:sp>
      <p:sp>
        <p:nvSpPr>
          <p:cNvPr id="69" name="Rectangle 69"/>
          <p:cNvSpPr/>
          <p:nvPr/>
        </p:nvSpPr>
        <p:spPr>
          <a:xfrm>
            <a:off x="2345436" y="2560320"/>
            <a:ext cx="1600200" cy="1645920"/>
          </a:xfrm>
          <a:prstGeom prst="roundRect">
            <a:avLst/>
          </a:prstGeom>
          <a:solidFill>
            <a:srgbClr val="1A1A2E"/>
          </a:solidFill>
        </p:spPr>
      </p:sp>
      <p:sp>
        <p:nvSpPr>
          <p:cNvPr id="70" name="TextBox 70"/>
          <p:cNvSpPr txBox="1"/>
          <p:nvPr/>
        </p:nvSpPr>
        <p:spPr>
          <a:xfrm>
            <a:off x="2345436" y="2834640"/>
            <a:ext cx="1600200" cy="457200"/>
          </a:xfrm>
          <a:prstGeom prst="rect">
            <a:avLst/>
          </a:prstGeom>
          <a:noFill/>
        </p:spPr>
        <p:txBody>
          <a:bodyPr wrap="square" anchor="t" lIns="137160" tIns="137160" rIns="137160" bIns="137160"/>
          <a:lstStyle/>
          <a:p>
            <a:pPr algn="ctr"/>
            <a:r>
              <a:rPr lang="en-US" dirty="0" sz="1200" b="1">
                <a:solidFill>
                  <a:srgbClr val="FFFFFF"/>
                </a:solidFill>
              </a:rPr>
              <a:t>Earth Orbit</a:t>
            </a:r>
          </a:p>
        </p:txBody>
      </p:sp>
      <p:sp>
        <p:nvSpPr>
          <p:cNvPr id="71" name="TextBox 71"/>
          <p:cNvSpPr txBox="1"/>
          <p:nvPr/>
        </p:nvSpPr>
        <p:spPr>
          <a:xfrm>
            <a:off x="2345436" y="4297680"/>
            <a:ext cx="1600200" cy="731520"/>
          </a:xfrm>
          <a:prstGeom prst="rect">
            <a:avLst/>
          </a:prstGeom>
          <a:noFill/>
        </p:spPr>
        <p:txBody>
          <a:bodyPr wrap="square" anchor="t" lIns="137160" tIns="137160" rIns="137160" bIns="137160"/>
          <a:lstStyle/>
          <a:p>
            <a:pPr algn="ctr"/>
            <a:r>
              <a:rPr lang="en-US" dirty="0" sz="900">
                <a:solidFill>
                  <a:srgbClr val="8B949E"/>
                </a:solidFill>
              </a:rPr>
              <a:t>Systems check
&amp; TLI burn</a:t>
            </a:r>
          </a:p>
        </p:txBody>
      </p:sp>
      <p:sp>
        <p:nvSpPr>
          <p:cNvPr id="72" name="Shape 72"/>
          <p:cNvSpPr/>
          <p:nvPr/>
        </p:nvSpPr>
        <p:spPr>
          <a:xfrm>
            <a:off x="4082796" y="3246120"/>
            <a:ext cx="274320" cy="274320"/>
          </a:xfrm>
          <a:prstGeom prst="rightArrow">
            <a:avLst/>
          </a:prstGeom>
          <a:solidFill>
            <a:srgbClr val="8B949E"/>
          </a:solidFill>
        </p:spPr>
      </p:sp>
      <p:sp>
        <p:nvSpPr>
          <p:cNvPr id="73" name="Shape 73"/>
          <p:cNvSpPr/>
          <p:nvPr/>
        </p:nvSpPr>
        <p:spPr>
          <a:xfrm>
            <a:off x="4882896" y="2011680"/>
            <a:ext cx="457200" cy="457200"/>
          </a:xfrm>
          <a:prstGeom prst="ellipse">
            <a:avLst/>
          </a:prstGeom>
          <a:solidFill>
            <a:srgbClr val="1565C0"/>
          </a:solidFill>
        </p:spPr>
        <p:txBody>
          <a:bodyPr wrap="square" anchor="ctr" lIns="137160" tIns="137160" rIns="137160" bIns="137160"/>
          <a:lstStyle/>
          <a:p>
            <a:pPr algn="ctr"/>
            <a:r>
              <a:rPr lang="en-US" dirty="0" sz="1400">
                <a:solidFill>
                  <a:srgbClr val="FFFFFF"/>
                </a:solidFill>
              </a:rPr>
              <a:t>3</a:t>
            </a:r>
          </a:p>
        </p:txBody>
      </p:sp>
      <p:sp>
        <p:nvSpPr>
          <p:cNvPr id="74" name="Rectangle 74"/>
          <p:cNvSpPr/>
          <p:nvPr/>
        </p:nvSpPr>
        <p:spPr>
          <a:xfrm>
            <a:off x="4311396" y="2560320"/>
            <a:ext cx="1600200" cy="1645920"/>
          </a:xfrm>
          <a:prstGeom prst="roundRect">
            <a:avLst/>
          </a:prstGeom>
          <a:solidFill>
            <a:srgbClr val="1A1A2E"/>
          </a:solidFill>
        </p:spPr>
      </p:sp>
      <p:sp>
        <p:nvSpPr>
          <p:cNvPr id="75" name="TextBox 75"/>
          <p:cNvSpPr txBox="1"/>
          <p:nvPr/>
        </p:nvSpPr>
        <p:spPr>
          <a:xfrm>
            <a:off x="4311396" y="2834640"/>
            <a:ext cx="1600200" cy="457200"/>
          </a:xfrm>
          <a:prstGeom prst="rect">
            <a:avLst/>
          </a:prstGeom>
          <a:noFill/>
        </p:spPr>
        <p:txBody>
          <a:bodyPr wrap="square" anchor="t" lIns="137160" tIns="137160" rIns="137160" bIns="137160"/>
          <a:lstStyle/>
          <a:p>
            <a:pPr algn="ctr"/>
            <a:r>
              <a:rPr lang="en-US" dirty="0" sz="1200" b="1">
                <a:solidFill>
                  <a:srgbClr val="FFFFFF"/>
                </a:solidFill>
              </a:rPr>
              <a:t>Trans-Lunar</a:t>
            </a:r>
          </a:p>
        </p:txBody>
      </p:sp>
      <p:sp>
        <p:nvSpPr>
          <p:cNvPr id="76" name="TextBox 76"/>
          <p:cNvSpPr txBox="1"/>
          <p:nvPr/>
        </p:nvSpPr>
        <p:spPr>
          <a:xfrm>
            <a:off x="4311396" y="4297680"/>
            <a:ext cx="1600200" cy="731520"/>
          </a:xfrm>
          <a:prstGeom prst="rect">
            <a:avLst/>
          </a:prstGeom>
          <a:noFill/>
        </p:spPr>
        <p:txBody>
          <a:bodyPr wrap="square" anchor="t" lIns="137160" tIns="137160" rIns="137160" bIns="137160"/>
          <a:lstStyle/>
          <a:p>
            <a:pPr algn="ctr"/>
            <a:r>
              <a:rPr lang="en-US" dirty="0" sz="900">
                <a:solidFill>
                  <a:srgbClr val="8B949E"/>
                </a:solidFill>
              </a:rPr>
              <a:t>4-day coast
to the Moon</a:t>
            </a:r>
          </a:p>
        </p:txBody>
      </p:sp>
      <p:sp>
        <p:nvSpPr>
          <p:cNvPr id="77" name="Shape 77"/>
          <p:cNvSpPr/>
          <p:nvPr/>
        </p:nvSpPr>
        <p:spPr>
          <a:xfrm>
            <a:off x="6048756" y="3246120"/>
            <a:ext cx="274320" cy="274320"/>
          </a:xfrm>
          <a:prstGeom prst="rightArrow">
            <a:avLst/>
          </a:prstGeom>
          <a:solidFill>
            <a:srgbClr val="8B949E"/>
          </a:solidFill>
        </p:spPr>
      </p:sp>
      <p:sp>
        <p:nvSpPr>
          <p:cNvPr id="78" name="Shape 78"/>
          <p:cNvSpPr/>
          <p:nvPr/>
        </p:nvSpPr>
        <p:spPr>
          <a:xfrm>
            <a:off x="6848856" y="2011680"/>
            <a:ext cx="457200" cy="457200"/>
          </a:xfrm>
          <a:prstGeom prst="ellipse">
            <a:avLst/>
          </a:prstGeom>
          <a:solidFill>
            <a:srgbClr val="FFD54F"/>
          </a:solidFill>
        </p:spPr>
        <p:txBody>
          <a:bodyPr wrap="square" anchor="ctr" lIns="137160" tIns="137160" rIns="137160" bIns="137160"/>
          <a:lstStyle/>
          <a:p>
            <a:pPr algn="ctr"/>
            <a:r>
              <a:rPr lang="en-US" dirty="0" sz="1400">
                <a:solidFill>
                  <a:srgbClr val="333333"/>
                </a:solidFill>
              </a:rPr>
              <a:t>4</a:t>
            </a:r>
          </a:p>
        </p:txBody>
      </p:sp>
      <p:sp>
        <p:nvSpPr>
          <p:cNvPr id="79" name="Rectangle 79"/>
          <p:cNvSpPr/>
          <p:nvPr/>
        </p:nvSpPr>
        <p:spPr>
          <a:xfrm>
            <a:off x="6277356" y="2560320"/>
            <a:ext cx="1600200" cy="1645920"/>
          </a:xfrm>
          <a:prstGeom prst="roundRect">
            <a:avLst/>
          </a:prstGeom>
          <a:solidFill>
            <a:srgbClr val="1A1A2E"/>
          </a:solidFill>
        </p:spPr>
      </p:sp>
      <p:sp>
        <p:nvSpPr>
          <p:cNvPr id="80" name="TextBox 80"/>
          <p:cNvSpPr txBox="1"/>
          <p:nvPr/>
        </p:nvSpPr>
        <p:spPr>
          <a:xfrm>
            <a:off x="6277356" y="2834640"/>
            <a:ext cx="1600200" cy="457200"/>
          </a:xfrm>
          <a:prstGeom prst="rect">
            <a:avLst/>
          </a:prstGeom>
          <a:noFill/>
        </p:spPr>
        <p:txBody>
          <a:bodyPr wrap="square" anchor="t" lIns="137160" tIns="137160" rIns="137160" bIns="137160"/>
          <a:lstStyle/>
          <a:p>
            <a:pPr algn="ctr"/>
            <a:r>
              <a:rPr lang="en-US" dirty="0" sz="1200" b="1">
                <a:solidFill>
                  <a:srgbClr val="FFFFFF"/>
                </a:solidFill>
              </a:rPr>
              <a:t>Lunar Flyby</a:t>
            </a:r>
          </a:p>
        </p:txBody>
      </p:sp>
      <p:sp>
        <p:nvSpPr>
          <p:cNvPr id="81" name="TextBox 81"/>
          <p:cNvSpPr txBox="1"/>
          <p:nvPr/>
        </p:nvSpPr>
        <p:spPr>
          <a:xfrm>
            <a:off x="6277356" y="4297680"/>
            <a:ext cx="1600200" cy="731520"/>
          </a:xfrm>
          <a:prstGeom prst="rect">
            <a:avLst/>
          </a:prstGeom>
          <a:noFill/>
        </p:spPr>
        <p:txBody>
          <a:bodyPr wrap="square" anchor="t" lIns="137160" tIns="137160" rIns="137160" bIns="137160"/>
          <a:lstStyle/>
          <a:p>
            <a:pPr algn="ctr"/>
            <a:r>
              <a:rPr lang="en-US" dirty="0" sz="900">
                <a:solidFill>
                  <a:srgbClr val="8B949E"/>
                </a:solidFill>
              </a:rPr>
              <a:t>April 6: Far side
7 hrs observations</a:t>
            </a:r>
          </a:p>
        </p:txBody>
      </p:sp>
      <p:sp>
        <p:nvSpPr>
          <p:cNvPr id="82" name="Shape 82"/>
          <p:cNvSpPr/>
          <p:nvPr/>
        </p:nvSpPr>
        <p:spPr>
          <a:xfrm>
            <a:off x="8014716" y="3246120"/>
            <a:ext cx="274320" cy="274320"/>
          </a:xfrm>
          <a:prstGeom prst="rightArrow">
            <a:avLst/>
          </a:prstGeom>
          <a:solidFill>
            <a:srgbClr val="8B949E"/>
          </a:solidFill>
        </p:spPr>
      </p:sp>
      <p:sp>
        <p:nvSpPr>
          <p:cNvPr id="83" name="Shape 83"/>
          <p:cNvSpPr/>
          <p:nvPr/>
        </p:nvSpPr>
        <p:spPr>
          <a:xfrm>
            <a:off x="8814816" y="2011680"/>
            <a:ext cx="457200" cy="457200"/>
          </a:xfrm>
          <a:prstGeom prst="ellipse">
            <a:avLst/>
          </a:prstGeom>
          <a:solidFill>
            <a:srgbClr val="1565C0"/>
          </a:solidFill>
        </p:spPr>
        <p:txBody>
          <a:bodyPr wrap="square" anchor="ctr" lIns="137160" tIns="137160" rIns="137160" bIns="137160"/>
          <a:lstStyle/>
          <a:p>
            <a:pPr algn="ctr"/>
            <a:r>
              <a:rPr lang="en-US" dirty="0" sz="1400">
                <a:solidFill>
                  <a:srgbClr val="FFFFFF"/>
                </a:solidFill>
              </a:rPr>
              <a:t>5</a:t>
            </a:r>
          </a:p>
        </p:txBody>
      </p:sp>
      <p:sp>
        <p:nvSpPr>
          <p:cNvPr id="84" name="Rectangle 84"/>
          <p:cNvSpPr/>
          <p:nvPr/>
        </p:nvSpPr>
        <p:spPr>
          <a:xfrm>
            <a:off x="8243316" y="2560320"/>
            <a:ext cx="1600200" cy="1645920"/>
          </a:xfrm>
          <a:prstGeom prst="roundRect">
            <a:avLst/>
          </a:prstGeom>
          <a:solidFill>
            <a:srgbClr val="1A1A2E"/>
          </a:solidFill>
        </p:spPr>
      </p:sp>
      <p:sp>
        <p:nvSpPr>
          <p:cNvPr id="85" name="TextBox 85"/>
          <p:cNvSpPr txBox="1"/>
          <p:nvPr/>
        </p:nvSpPr>
        <p:spPr>
          <a:xfrm>
            <a:off x="8243316" y="2834640"/>
            <a:ext cx="1600200" cy="457200"/>
          </a:xfrm>
          <a:prstGeom prst="rect">
            <a:avLst/>
          </a:prstGeom>
          <a:noFill/>
        </p:spPr>
        <p:txBody>
          <a:bodyPr wrap="square" anchor="t" lIns="137160" tIns="137160" rIns="137160" bIns="137160"/>
          <a:lstStyle/>
          <a:p>
            <a:pPr algn="ctr"/>
            <a:r>
              <a:rPr lang="en-US" dirty="0" sz="1200" b="1">
                <a:solidFill>
                  <a:srgbClr val="FFFFFF"/>
                </a:solidFill>
              </a:rPr>
              <a:t>Return</a:t>
            </a:r>
          </a:p>
        </p:txBody>
      </p:sp>
      <p:sp>
        <p:nvSpPr>
          <p:cNvPr id="86" name="TextBox 86"/>
          <p:cNvSpPr txBox="1"/>
          <p:nvPr/>
        </p:nvSpPr>
        <p:spPr>
          <a:xfrm>
            <a:off x="8243316" y="4297680"/>
            <a:ext cx="1600200" cy="731520"/>
          </a:xfrm>
          <a:prstGeom prst="rect">
            <a:avLst/>
          </a:prstGeom>
          <a:noFill/>
        </p:spPr>
        <p:txBody>
          <a:bodyPr wrap="square" anchor="t" lIns="137160" tIns="137160" rIns="137160" bIns="137160"/>
          <a:lstStyle/>
          <a:p>
            <a:pPr algn="ctr"/>
            <a:r>
              <a:rPr lang="en-US" dirty="0" sz="900">
                <a:solidFill>
                  <a:srgbClr val="8B949E"/>
                </a:solidFill>
              </a:rPr>
              <a:t>Free-return
trajectory</a:t>
            </a:r>
          </a:p>
        </p:txBody>
      </p:sp>
      <p:sp>
        <p:nvSpPr>
          <p:cNvPr id="87" name="Shape 87"/>
          <p:cNvSpPr/>
          <p:nvPr/>
        </p:nvSpPr>
        <p:spPr>
          <a:xfrm>
            <a:off x="9980676" y="3246120"/>
            <a:ext cx="274320" cy="274320"/>
          </a:xfrm>
          <a:prstGeom prst="rightArrow">
            <a:avLst/>
          </a:prstGeom>
          <a:solidFill>
            <a:srgbClr val="8B949E"/>
          </a:solidFill>
        </p:spPr>
      </p:sp>
      <p:sp>
        <p:nvSpPr>
          <p:cNvPr id="88" name="Shape 88"/>
          <p:cNvSpPr/>
          <p:nvPr/>
        </p:nvSpPr>
        <p:spPr>
          <a:xfrm>
            <a:off x="10780776" y="2011680"/>
            <a:ext cx="457200" cy="457200"/>
          </a:xfrm>
          <a:prstGeom prst="ellipse">
            <a:avLst/>
          </a:prstGeom>
          <a:solidFill>
            <a:srgbClr val="4FC3F7"/>
          </a:solidFill>
        </p:spPr>
        <p:txBody>
          <a:bodyPr wrap="square" anchor="ctr" lIns="137160" tIns="137160" rIns="137160" bIns="137160"/>
          <a:lstStyle/>
          <a:p>
            <a:pPr algn="ctr"/>
            <a:r>
              <a:rPr lang="en-US" dirty="0" sz="1400">
                <a:solidFill>
                  <a:srgbClr val="333333"/>
                </a:solidFill>
              </a:rPr>
              <a:t>6</a:t>
            </a:r>
          </a:p>
        </p:txBody>
      </p:sp>
      <p:sp>
        <p:nvSpPr>
          <p:cNvPr id="89" name="Rectangle 89"/>
          <p:cNvSpPr/>
          <p:nvPr/>
        </p:nvSpPr>
        <p:spPr>
          <a:xfrm>
            <a:off x="10209276" y="2560320"/>
            <a:ext cx="1600200" cy="1645920"/>
          </a:xfrm>
          <a:prstGeom prst="roundRect">
            <a:avLst/>
          </a:prstGeom>
          <a:solidFill>
            <a:srgbClr val="1A1A2E"/>
          </a:solidFill>
        </p:spPr>
      </p:sp>
      <p:sp>
        <p:nvSpPr>
          <p:cNvPr id="90" name="TextBox 90"/>
          <p:cNvSpPr txBox="1"/>
          <p:nvPr/>
        </p:nvSpPr>
        <p:spPr>
          <a:xfrm>
            <a:off x="10209276" y="2834640"/>
            <a:ext cx="1600200" cy="457200"/>
          </a:xfrm>
          <a:prstGeom prst="rect">
            <a:avLst/>
          </a:prstGeom>
          <a:noFill/>
        </p:spPr>
        <p:txBody>
          <a:bodyPr wrap="square" anchor="t" lIns="137160" tIns="137160" rIns="137160" bIns="137160"/>
          <a:lstStyle/>
          <a:p>
            <a:pPr algn="ctr"/>
            <a:r>
              <a:rPr lang="en-US" dirty="0" sz="1200" b="1">
                <a:solidFill>
                  <a:srgbClr val="FFFFFF"/>
                </a:solidFill>
              </a:rPr>
              <a:t>Splashdown</a:t>
            </a:r>
          </a:p>
        </p:txBody>
      </p:sp>
      <p:sp>
        <p:nvSpPr>
          <p:cNvPr id="91" name="TextBox 91"/>
          <p:cNvSpPr txBox="1"/>
          <p:nvPr/>
        </p:nvSpPr>
        <p:spPr>
          <a:xfrm>
            <a:off x="10209276" y="4297680"/>
            <a:ext cx="1600200" cy="731520"/>
          </a:xfrm>
          <a:prstGeom prst="rect">
            <a:avLst/>
          </a:prstGeom>
          <a:noFill/>
        </p:spPr>
        <p:txBody>
          <a:bodyPr wrap="square" anchor="t" lIns="137160" tIns="137160" rIns="137160" bIns="137160"/>
          <a:lstStyle/>
          <a:p>
            <a:pPr algn="ctr"/>
            <a:r>
              <a:rPr lang="en-US" dirty="0" sz="900">
                <a:solidFill>
                  <a:srgbClr val="8B949E"/>
                </a:solidFill>
              </a:rPr>
              <a:t>April 10
Pacific Ocean</a:t>
            </a:r>
          </a:p>
        </p:txBody>
      </p:sp>
      <p:sp>
        <p:nvSpPr>
          <p:cNvPr id="197" name="TextBox 197"/>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5</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92" name="Image 2"/>
          <p:cNvPicPr>
            <a:picLocks noChangeAspect="1"/>
          </p:cNvPicPr>
          <p:nvPr/>
        </p:nvPicPr>
        <p:blipFill>
          <a:blip r:embed="rId3"/>
          <a:stretch>
            <a:fillRect/>
          </a:stretch>
        </p:blipFill>
        <p:spPr>
          <a:xfrm>
            <a:off x="0" y="0"/>
            <a:ext cx="12191695" cy="6858000"/>
          </a:xfrm>
          <a:prstGeom prst="rect">
            <a:avLst/>
          </a:prstGeom>
        </p:spPr>
      </p:pic>
      <p:sp>
        <p:nvSpPr>
          <p:cNvPr id="93" name="Rectangle 93"/>
          <p:cNvSpPr/>
          <p:nvPr/>
        </p:nvSpPr>
        <p:spPr>
          <a:xfrm>
            <a:off x="0" y="0"/>
            <a:ext cx="12191695" cy="6858000"/>
          </a:xfrm>
          <a:prstGeom prst="rect">
            <a:avLst/>
          </a:prstGeom>
          <a:solidFill>
            <a:srgbClr val="000000">
              <a:alpha val="30000"/>
            </a:srgbClr>
          </a:solidFill>
        </p:spPr>
      </p:sp>
      <p:sp>
        <p:nvSpPr>
          <p:cNvPr id="94" name="TextBox 94"/>
          <p:cNvSpPr txBox="1"/>
          <p:nvPr/>
        </p:nvSpPr>
        <p:spPr>
          <a:xfrm>
            <a:off x="731520" y="2560320"/>
            <a:ext cx="10515600" cy="1371600"/>
          </a:xfrm>
          <a:prstGeom prst="rect">
            <a:avLst/>
          </a:prstGeom>
          <a:noFill/>
        </p:spPr>
        <p:txBody>
          <a:bodyPr wrap="square" anchor="t" lIns="137160" tIns="137160" rIns="137160" bIns="137160"/>
          <a:lstStyle/>
          <a:p>
            <a:pPr algn="l"/>
            <a:r>
              <a:rPr lang="en-US" dirty="0" sz="4800" b="1">
                <a:solidFill>
                  <a:srgbClr val="FFFFFF"/>
                </a:solidFill>
              </a:rPr>
              <a:t>Earthset</a:t>
            </a:r>
          </a:p>
        </p:txBody>
      </p:sp>
      <p:sp>
        <p:nvSpPr>
          <p:cNvPr id="95" name="TextBox 95"/>
          <p:cNvSpPr txBox="1"/>
          <p:nvPr/>
        </p:nvSpPr>
        <p:spPr>
          <a:xfrm>
            <a:off x="731520" y="3840480"/>
            <a:ext cx="10515600" cy="731520"/>
          </a:xfrm>
          <a:prstGeom prst="rect">
            <a:avLst/>
          </a:prstGeom>
          <a:noFill/>
        </p:spPr>
        <p:txBody>
          <a:bodyPr wrap="square" anchor="t" lIns="137160" tIns="137160" rIns="137160" bIns="137160"/>
          <a:lstStyle/>
          <a:p>
            <a:pPr algn="l"/>
            <a:r>
              <a:rPr lang="en-US" dirty="0" sz="1800">
                <a:solidFill>
                  <a:srgbClr val="FFFFFF"/>
                </a:solidFill>
              </a:rPr>
              <a:t>April 6, 2026 — 6:41 PM EDT
Captured by the Artemis II crew as Earth set behind the lunar surface</a:t>
            </a:r>
          </a:p>
        </p:txBody>
      </p:sp>
      <p:sp>
        <p:nvSpPr>
          <p:cNvPr id="198" name="TextBox 198"/>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6</a:t>
            </a:r>
          </a:p>
        </p:txBody>
      </p:sp>
    </p:spTree>
  </p:cSld>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E27"/>
        </a:solidFill>
        <a:effectLst/>
      </p:bgPr>
    </p:bg>
    <p:spTree>
      <p:nvGrpSpPr>
        <p:cNvPr id="1" name=""/>
        <p:cNvGrpSpPr/>
        <p:nvPr/>
      </p:nvGrpSpPr>
      <p:grpSpPr>
        <a:xfrm>
          <a:off x="0" y="0"/>
          <a:ext cx="0" cy="0"/>
          <a:chOff x="0" y="0"/>
          <a:chExt cx="0" cy="0"/>
        </a:xfrm>
      </p:grpSpPr>
      <p:sp>
        <p:nvSpPr>
          <p:cNvPr id="96" name="Rectangle 96"/>
          <p:cNvSpPr/>
          <p:nvPr/>
        </p:nvSpPr>
        <p:spPr>
          <a:xfrm>
            <a:off x="0" y="0"/>
            <a:ext cx="12191695" cy="45720"/>
          </a:xfrm>
          <a:prstGeom prst="rect">
            <a:avLst/>
          </a:prstGeom>
          <a:solidFill>
            <a:srgbClr val="FFD54F"/>
          </a:solidFill>
        </p:spPr>
      </p:sp>
      <p:sp>
        <p:nvSpPr>
          <p:cNvPr id="97" name="TextBox 97"/>
          <p:cNvSpPr txBox="1"/>
          <p:nvPr/>
        </p:nvSpPr>
        <p:spPr>
          <a:xfrm>
            <a:off x="457200" y="274320"/>
            <a:ext cx="7315200" cy="640080"/>
          </a:xfrm>
          <a:prstGeom prst="rect">
            <a:avLst/>
          </a:prstGeom>
          <a:noFill/>
        </p:spPr>
        <p:txBody>
          <a:bodyPr wrap="square" anchor="t" lIns="137160" tIns="137160" rIns="137160" bIns="137160"/>
          <a:lstStyle/>
          <a:p>
            <a:pPr algn="l"/>
            <a:r>
              <a:rPr lang="en-US" dirty="0" sz="3200" b="1">
                <a:solidFill>
                  <a:srgbClr val="FFFFFF"/>
                </a:solidFill>
              </a:rPr>
              <a:t>The Lunar Flyby: April 6, 2026</a:t>
            </a:r>
          </a:p>
        </p:txBody>
      </p:sp>
      <p:sp>
        <p:nvSpPr>
          <p:cNvPr id="98" name="TextBox 98"/>
          <p:cNvSpPr txBox="1"/>
          <p:nvPr/>
        </p:nvSpPr>
        <p:spPr>
          <a:xfrm>
            <a:off x="457200" y="868680"/>
            <a:ext cx="9144000" cy="365760"/>
          </a:xfrm>
          <a:prstGeom prst="rect">
            <a:avLst/>
          </a:prstGeom>
          <a:noFill/>
        </p:spPr>
        <p:txBody>
          <a:bodyPr wrap="square" anchor="t" lIns="137160" tIns="137160" rIns="137160" bIns="137160"/>
          <a:lstStyle/>
          <a:p>
            <a:pPr algn="l"/>
            <a:r>
              <a:rPr lang="en-US" dirty="0" sz="1500" i="1">
                <a:solidFill>
                  <a:srgbClr val="FFD54F"/>
                </a:solidFill>
              </a:rPr>
              <a:t>Humanity's first close-up view of the Moon in over half a century</a:t>
            </a:r>
          </a:p>
        </p:txBody>
      </p:sp>
      <p:sp>
        <p:nvSpPr>
          <p:cNvPr id="99" name="Rectangle 99"/>
          <p:cNvSpPr/>
          <p:nvPr/>
        </p:nvSpPr>
        <p:spPr>
          <a:xfrm>
            <a:off x="365760" y="1463040"/>
            <a:ext cx="5029200" cy="4389120"/>
          </a:xfrm>
          <a:prstGeom prst="roundRect">
            <a:avLst/>
          </a:prstGeom>
          <a:solidFill>
            <a:srgbClr val="0D2137"/>
          </a:solidFill>
        </p:spPr>
      </p:sp>
      <p:sp>
        <p:nvSpPr>
          <p:cNvPr id="100" name="TextBox 100"/>
          <p:cNvSpPr txBox="1"/>
          <p:nvPr/>
        </p:nvSpPr>
        <p:spPr>
          <a:xfrm>
            <a:off x="548640" y="1554480"/>
            <a:ext cx="4663440" cy="365760"/>
          </a:xfrm>
          <a:prstGeom prst="rect">
            <a:avLst/>
          </a:prstGeom>
          <a:noFill/>
        </p:spPr>
        <p:txBody>
          <a:bodyPr wrap="square" anchor="t" lIns="137160" tIns="137160" rIns="137160" bIns="137160"/>
          <a:lstStyle/>
          <a:p>
            <a:pPr algn="l"/>
            <a:r>
              <a:rPr lang="en-US" dirty="0" sz="1600" b="1">
                <a:solidFill>
                  <a:srgbClr val="FFD54F"/>
                </a:solidFill>
              </a:rPr>
              <a:t>FLYBY HIGHLIGHTS</a:t>
            </a:r>
          </a:p>
        </p:txBody>
      </p:sp>
      <p:cxnSp>
        <p:nvCxnSpPr>
          <p:cNvPr id="101" name="Line 101"/>
          <p:cNvCxnSpPr/>
          <p:nvPr/>
        </p:nvCxnSpPr>
        <p:spPr>
          <a:xfrm>
            <a:off x="548640" y="1965960"/>
            <a:ext cx="4663440" cy="1"/>
          </a:xfrm>
          <a:prstGeom prst="line">
            <a:avLst/>
          </a:prstGeom>
          <a:ln w="12700">
            <a:solidFill>
              <a:srgbClr val="FFD54F"/>
            </a:solidFill>
          </a:ln>
        </p:spPr>
      </p:cxnSp>
      <p:sp>
        <p:nvSpPr>
          <p:cNvPr id="102" name="TextBox 102"/>
          <p:cNvSpPr txBox="1"/>
          <p:nvPr/>
        </p:nvSpPr>
        <p:spPr>
          <a:xfrm>
            <a:off x="548640" y="2103120"/>
            <a:ext cx="4663440" cy="3657600"/>
          </a:xfrm>
          <a:prstGeom prst="rect">
            <a:avLst/>
          </a:prstGeom>
          <a:noFill/>
        </p:spPr>
        <p:txBody>
          <a:bodyPr wrap="square" anchor="t" lIns="137160" tIns="137160" rIns="137160" bIns="137160"/>
          <a:lstStyle/>
          <a:p>
            <a:pPr lvl="0" algn="l">
              <a:buClr>
                <a:srgbClr val="FFD54F"/>
              </a:buClr>
              <a:buFont typeface="Arial"/>
              <a:buChar char="•"/>
            </a:pPr>
            <a:r>
              <a:rPr lang="en-US" dirty="0" sz="1300">
                <a:solidFill>
                  <a:srgbClr val="B0BEC5"/>
                </a:solidFill>
              </a:rPr>
              <a:t>7 hours of dedicated lunar observations</a:t>
            </a:r>
          </a:p>
          <a:p>
            <a:pPr lvl="0" algn="l">
              <a:buClr>
                <a:srgbClr val="FFD54F"/>
              </a:buClr>
              <a:buFont typeface="Arial"/>
              <a:buChar char="•"/>
            </a:pPr>
            <a:r>
              <a:rPr lang="en-US" dirty="0" sz="1300">
                <a:solidFill>
                  <a:srgbClr val="B0BEC5"/>
                </a:solidFill>
              </a:rPr>
              <a:t>40 minutes behind the Moon with no Earth contact</a:t>
            </a:r>
          </a:p>
          <a:p>
            <a:pPr lvl="0" algn="l">
              <a:buClr>
                <a:srgbClr val="FFD54F"/>
              </a:buClr>
              <a:buFont typeface="Arial"/>
              <a:buChar char="•"/>
            </a:pPr>
            <a:r>
              <a:rPr lang="en-US" dirty="0" sz="1300">
                <a:solidFill>
                  <a:srgbClr val="B0BEC5"/>
                </a:solidFill>
              </a:rPr>
              <a:t>Closest approach: ~80 miles above lunar surface</a:t>
            </a:r>
          </a:p>
          <a:p>
            <a:pPr lvl="0" algn="l">
              <a:buClr>
                <a:srgbClr val="FFD54F"/>
              </a:buClr>
              <a:buFont typeface="Arial"/>
              <a:buChar char="•"/>
            </a:pPr>
            <a:r>
              <a:rPr lang="en-US" dirty="0" sz="1300">
                <a:solidFill>
                  <a:srgbClr val="B0BEC5"/>
                </a:solidFill>
              </a:rPr>
              <a:t>Crew photographed both near and far sides</a:t>
            </a:r>
          </a:p>
          <a:p>
            <a:pPr lvl="0" algn="l">
              <a:buClr>
                <a:srgbClr val="FFD54F"/>
              </a:buClr>
              <a:buFont typeface="Arial"/>
              <a:buChar char="•"/>
            </a:pPr>
            <a:r>
              <a:rPr lang="en-US" dirty="0" sz="1300">
                <a:solidFill>
                  <a:srgbClr val="B0BEC5"/>
                </a:solidFill>
              </a:rPr>
              <a:t>Orientale Basin (600-mi wide) imaged in detail</a:t>
            </a:r>
          </a:p>
          <a:p>
            <a:pPr lvl="0" algn="l">
              <a:buClr>
                <a:srgbClr val="FFD54F"/>
              </a:buClr>
              <a:buFont typeface="Arial"/>
              <a:buChar char="•"/>
            </a:pPr>
            <a:r>
              <a:rPr lang="en-US" dirty="0" sz="1300">
                <a:solidFill>
                  <a:srgbClr val="B0BEC5"/>
                </a:solidFill>
              </a:rPr>
              <a:t>Hertzsprung Basin ring structures documented</a:t>
            </a:r>
          </a:p>
          <a:p>
            <a:pPr lvl="0" algn="l">
              <a:buClr>
                <a:srgbClr val="FFD54F"/>
              </a:buClr>
              <a:buFont typeface="Arial"/>
              <a:buChar char="•"/>
            </a:pPr>
            <a:r>
              <a:rPr lang="en-US" dirty="0" sz="1300">
                <a:solidFill>
                  <a:srgbClr val="B0BEC5"/>
                </a:solidFill>
              </a:rPr>
              <a:t>Earthset and Earthrise captured on camera</a:t>
            </a:r>
          </a:p>
          <a:p>
            <a:pPr lvl="0" algn="l">
              <a:buClr>
                <a:srgbClr val="FFD54F"/>
              </a:buClr>
              <a:buFont typeface="Arial"/>
              <a:buChar char="•"/>
            </a:pPr>
            <a:r>
              <a:rPr lang="en-US" dirty="0" sz="1300">
                <a:solidFill>
                  <a:srgbClr val="B0BEC5"/>
                </a:solidFill>
              </a:rPr>
              <a:t>Solar eclipse viewed from behind the Moon</a:t>
            </a:r>
          </a:p>
          <a:p>
            <a:pPr lvl="0" algn="l">
              <a:buClr>
                <a:srgbClr val="FFD54F"/>
              </a:buClr>
              <a:buFont typeface="Arial"/>
              <a:buChar char="•"/>
            </a:pPr>
            <a:r>
              <a:rPr lang="en-US" dirty="0" sz="1300">
                <a:solidFill>
                  <a:srgbClr val="B0BEC5"/>
                </a:solidFill>
              </a:rPr>
              <a:t>Science data transmitted to teams on Earth</a:t>
            </a:r>
          </a:p>
        </p:txBody>
      </p:sp>
      <p:pic>
        <p:nvPicPr>
          <p:cNvPr id="103" name="Image 3"/>
          <p:cNvPicPr>
            <a:picLocks noChangeAspect="1"/>
          </p:cNvPicPr>
          <p:nvPr/>
        </p:nvPicPr>
        <p:blipFill>
          <a:blip r:embed="rId3"/>
          <a:srcRect l="4167" t="0" r="4167" b="0"/>
          <a:stretch>
            <a:fillRect/>
          </a:stretch>
        </p:blipFill>
        <p:spPr>
          <a:xfrm>
            <a:off x="5760720" y="1463040"/>
            <a:ext cx="6035040" cy="4389120"/>
          </a:xfrm>
          <a:prstGeom prst="rect">
            <a:avLst/>
          </a:prstGeom>
        </p:spPr>
      </p:pic>
      <p:sp>
        <p:nvSpPr>
          <p:cNvPr id="104" name="Rectangle 104"/>
          <p:cNvSpPr/>
          <p:nvPr/>
        </p:nvSpPr>
        <p:spPr>
          <a:xfrm>
            <a:off x="5760720" y="5120640"/>
            <a:ext cx="6035040" cy="731520"/>
          </a:xfrm>
          <a:prstGeom prst="rect">
            <a:avLst/>
          </a:prstGeom>
          <a:solidFill>
            <a:srgbClr val="000000">
              <a:alpha val="60000"/>
            </a:srgbClr>
          </a:solidFill>
        </p:spPr>
      </p:sp>
      <p:sp>
        <p:nvSpPr>
          <p:cNvPr id="105" name="TextBox 105"/>
          <p:cNvSpPr txBox="1"/>
          <p:nvPr/>
        </p:nvSpPr>
        <p:spPr>
          <a:xfrm>
            <a:off x="5943600" y="5166360"/>
            <a:ext cx="5669280" cy="640080"/>
          </a:xfrm>
          <a:prstGeom prst="rect">
            <a:avLst/>
          </a:prstGeom>
          <a:noFill/>
        </p:spPr>
        <p:txBody>
          <a:bodyPr wrap="square" anchor="t" lIns="137160" tIns="137160" rIns="137160" bIns="137160"/>
          <a:lstStyle/>
          <a:p>
            <a:pPr algn="ctr"/>
            <a:r>
              <a:rPr lang="en-US" dirty="0" sz="1100" i="1">
                <a:solidFill>
                  <a:srgbClr val="FFFFFF"/>
                </a:solidFill>
              </a:rPr>
              <a:t>"The Edge of Two Worlds" — Earth draws closer to passing
behind the Moon, captured by the Artemis II crew</a:t>
            </a:r>
          </a:p>
        </p:txBody>
      </p:sp>
      <p:sp>
        <p:nvSpPr>
          <p:cNvPr id="199" name="TextBox 199"/>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7</a:t>
            </a:r>
          </a:p>
        </p:txBody>
      </p:sp>
    </p:spTree>
  </p:cSld>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E27"/>
        </a:solidFill>
        <a:effectLst/>
      </p:bgPr>
    </p:bg>
    <p:spTree>
      <p:nvGrpSpPr>
        <p:cNvPr id="1" name=""/>
        <p:cNvGrpSpPr/>
        <p:nvPr/>
      </p:nvGrpSpPr>
      <p:grpSpPr>
        <a:xfrm>
          <a:off x="0" y="0"/>
          <a:ext cx="0" cy="0"/>
          <a:chOff x="0" y="0"/>
          <a:chExt cx="0" cy="0"/>
        </a:xfrm>
      </p:grpSpPr>
      <p:sp>
        <p:nvSpPr>
          <p:cNvPr id="106" name="Rectangle 106"/>
          <p:cNvSpPr/>
          <p:nvPr/>
        </p:nvSpPr>
        <p:spPr>
          <a:xfrm>
            <a:off x="0" y="0"/>
            <a:ext cx="12191695" cy="45720"/>
          </a:xfrm>
          <a:prstGeom prst="rect">
            <a:avLst/>
          </a:prstGeom>
          <a:solidFill>
            <a:srgbClr val="4FC3F7"/>
          </a:solidFill>
        </p:spPr>
      </p:sp>
      <p:sp>
        <p:nvSpPr>
          <p:cNvPr id="107" name="TextBox 107"/>
          <p:cNvSpPr txBox="1"/>
          <p:nvPr/>
        </p:nvSpPr>
        <p:spPr>
          <a:xfrm>
            <a:off x="457200" y="228600"/>
            <a:ext cx="10972800" cy="640080"/>
          </a:xfrm>
          <a:prstGeom prst="rect">
            <a:avLst/>
          </a:prstGeom>
          <a:noFill/>
        </p:spPr>
        <p:txBody>
          <a:bodyPr wrap="square" anchor="t" lIns="137160" tIns="137160" rIns="137160" bIns="137160"/>
          <a:lstStyle/>
          <a:p>
            <a:pPr algn="l"/>
            <a:r>
              <a:rPr lang="en-US" dirty="0" sz="3000" b="1">
                <a:solidFill>
                  <a:srgbClr val="FFFFFF"/>
                </a:solidFill>
              </a:rPr>
              <a:t>Inside Orion: The Crew at Work</a:t>
            </a:r>
          </a:p>
        </p:txBody>
      </p:sp>
      <p:pic>
        <p:nvPicPr>
          <p:cNvPr id="108" name="Image 4"/>
          <p:cNvPicPr>
            <a:picLocks noChangeAspect="1"/>
          </p:cNvPicPr>
          <p:nvPr/>
        </p:nvPicPr>
        <p:blipFill>
          <a:blip r:embed="rId3"/>
          <a:srcRect l="794" t="0" r="794" b="0"/>
          <a:stretch>
            <a:fillRect/>
          </a:stretch>
        </p:blipFill>
        <p:spPr>
          <a:xfrm>
            <a:off x="365760" y="1097280"/>
            <a:ext cx="5669280" cy="3840480"/>
          </a:xfrm>
          <a:prstGeom prst="rect">
            <a:avLst/>
          </a:prstGeom>
        </p:spPr>
      </p:pic>
      <p:sp>
        <p:nvSpPr>
          <p:cNvPr id="109" name="Rectangle 109"/>
          <p:cNvSpPr/>
          <p:nvPr/>
        </p:nvSpPr>
        <p:spPr>
          <a:xfrm>
            <a:off x="365760" y="4206240"/>
            <a:ext cx="5669280" cy="731520"/>
          </a:xfrm>
          <a:prstGeom prst="rect">
            <a:avLst/>
          </a:prstGeom>
          <a:solidFill>
            <a:srgbClr val="0D2137"/>
          </a:solidFill>
        </p:spPr>
      </p:sp>
      <p:sp>
        <p:nvSpPr>
          <p:cNvPr id="110" name="TextBox 110"/>
          <p:cNvSpPr txBox="1"/>
          <p:nvPr/>
        </p:nvSpPr>
        <p:spPr>
          <a:xfrm>
            <a:off x="457200" y="4251960"/>
            <a:ext cx="5486400" cy="640080"/>
          </a:xfrm>
          <a:prstGeom prst="rect">
            <a:avLst/>
          </a:prstGeom>
          <a:noFill/>
        </p:spPr>
        <p:txBody>
          <a:bodyPr wrap="square" anchor="t" lIns="137160" tIns="137160" rIns="137160" bIns="137160"/>
          <a:lstStyle/>
          <a:p>
            <a:pPr algn="ctr"/>
            <a:r>
              <a:rPr lang="en-US" dirty="0" sz="1100">
                <a:solidFill>
                  <a:srgbClr val="B0BEC5"/>
                </a:solidFill>
              </a:rPr>
              <a:t>Jeremy Hansen captures images of the lunar
surface through the Orion spacecraft window</a:t>
            </a:r>
          </a:p>
        </p:txBody>
      </p:sp>
      <p:pic>
        <p:nvPicPr>
          <p:cNvPr id="111" name="Image 5"/>
          <p:cNvPicPr>
            <a:picLocks noChangeAspect="1"/>
          </p:cNvPicPr>
          <p:nvPr/>
        </p:nvPicPr>
        <p:blipFill>
          <a:blip r:embed="rId4"/>
          <a:srcRect l="0" t="4098" r="0" b="4098"/>
          <a:stretch>
            <a:fillRect/>
          </a:stretch>
        </p:blipFill>
        <p:spPr>
          <a:xfrm>
            <a:off x="6217920" y="1097280"/>
            <a:ext cx="5577840" cy="3840480"/>
          </a:xfrm>
          <a:prstGeom prst="rect">
            <a:avLst/>
          </a:prstGeom>
        </p:spPr>
      </p:pic>
      <p:sp>
        <p:nvSpPr>
          <p:cNvPr id="112" name="Rectangle 112"/>
          <p:cNvSpPr/>
          <p:nvPr/>
        </p:nvSpPr>
        <p:spPr>
          <a:xfrm>
            <a:off x="6217920" y="4206240"/>
            <a:ext cx="5577840" cy="731520"/>
          </a:xfrm>
          <a:prstGeom prst="rect">
            <a:avLst/>
          </a:prstGeom>
          <a:solidFill>
            <a:srgbClr val="0D2137"/>
          </a:solidFill>
        </p:spPr>
      </p:sp>
      <p:sp>
        <p:nvSpPr>
          <p:cNvPr id="113" name="TextBox 113"/>
          <p:cNvSpPr txBox="1"/>
          <p:nvPr/>
        </p:nvSpPr>
        <p:spPr>
          <a:xfrm>
            <a:off x="6309360" y="4251960"/>
            <a:ext cx="5394960" cy="640080"/>
          </a:xfrm>
          <a:prstGeom prst="rect">
            <a:avLst/>
          </a:prstGeom>
          <a:noFill/>
        </p:spPr>
        <p:txBody>
          <a:bodyPr wrap="square" anchor="t" lIns="137160" tIns="137160" rIns="137160" bIns="137160"/>
          <a:lstStyle/>
          <a:p>
            <a:pPr algn="ctr"/>
            <a:r>
              <a:rPr lang="en-US" dirty="0" sz="1100">
                <a:solidFill>
                  <a:srgbClr val="B0BEC5"/>
                </a:solidFill>
              </a:rPr>
              <a:t>The crew pauses for a selfie aboard Orion —
Wiseman, Glover, Koch &amp; Hansen</a:t>
            </a:r>
          </a:p>
        </p:txBody>
      </p:sp>
      <p:sp>
        <p:nvSpPr>
          <p:cNvPr id="114" name="Rectangle 114"/>
          <p:cNvSpPr/>
          <p:nvPr/>
        </p:nvSpPr>
        <p:spPr>
          <a:xfrm>
            <a:off x="365760" y="5166360"/>
            <a:ext cx="54864" cy="640080"/>
          </a:xfrm>
          <a:prstGeom prst="rect">
            <a:avLst/>
          </a:prstGeom>
          <a:solidFill>
            <a:srgbClr val="4FC3F7"/>
          </a:solidFill>
        </p:spPr>
      </p:sp>
      <p:sp>
        <p:nvSpPr>
          <p:cNvPr id="115" name="Rectangle 115"/>
          <p:cNvSpPr/>
          <p:nvPr/>
        </p:nvSpPr>
        <p:spPr>
          <a:xfrm>
            <a:off x="438912" y="5166360"/>
            <a:ext cx="11356848" cy="640080"/>
          </a:xfrm>
          <a:prstGeom prst="rect">
            <a:avLst/>
          </a:prstGeom>
          <a:solidFill>
            <a:srgbClr val="0D2137"/>
          </a:solidFill>
        </p:spPr>
        <p:txBody>
          <a:bodyPr wrap="square" anchor="ctr" lIns="137160" tIns="137160" rIns="137160" bIns="137160"/>
          <a:lstStyle/>
          <a:p>
            <a:pPr algn="ctr"/>
            <a:r>
              <a:rPr lang="en-US" dirty="0" sz="1300">
                <a:solidFill>
                  <a:srgbClr val="B0BEC5"/>
                </a:solidFill>
              </a:rPr>
              <a:t>The crew spent 7 hours taking turns at the Orion windows during the flyby, capturing photos and recording scientific observations of the lunar surface for teams on Earth.</a:t>
            </a:r>
          </a:p>
        </p:txBody>
      </p:sp>
      <p:sp>
        <p:nvSpPr>
          <p:cNvPr id="200" name="TextBox 200"/>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8</a:t>
            </a:r>
          </a:p>
        </p:txBody>
      </p:sp>
    </p:spTree>
  </p:cSld>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16" name="Image 6"/>
          <p:cNvPicPr>
            <a:picLocks noChangeAspect="1"/>
          </p:cNvPicPr>
          <p:nvPr/>
        </p:nvPicPr>
        <p:blipFill>
          <a:blip r:embed="rId3"/>
          <a:stretch>
            <a:fillRect/>
          </a:stretch>
        </p:blipFill>
        <p:spPr>
          <a:xfrm>
            <a:off x="0" y="0"/>
            <a:ext cx="12191695" cy="6858000"/>
          </a:xfrm>
          <a:prstGeom prst="rect">
            <a:avLst/>
          </a:prstGeom>
        </p:spPr>
      </p:pic>
      <p:sp>
        <p:nvSpPr>
          <p:cNvPr id="117" name="Rectangle 117"/>
          <p:cNvSpPr/>
          <p:nvPr/>
        </p:nvSpPr>
        <p:spPr>
          <a:xfrm>
            <a:off x="0" y="0"/>
            <a:ext cx="12191695" cy="6858000"/>
          </a:xfrm>
          <a:prstGeom prst="rect">
            <a:avLst/>
          </a:prstGeom>
          <a:solidFill>
            <a:srgbClr val="000000">
              <a:alpha val="25000"/>
            </a:srgbClr>
          </a:solidFill>
        </p:spPr>
      </p:sp>
      <p:sp>
        <p:nvSpPr>
          <p:cNvPr id="118" name="TextBox 118"/>
          <p:cNvSpPr txBox="1"/>
          <p:nvPr/>
        </p:nvSpPr>
        <p:spPr>
          <a:xfrm>
            <a:off x="457200" y="2560320"/>
            <a:ext cx="11277295" cy="1371600"/>
          </a:xfrm>
          <a:prstGeom prst="rect">
            <a:avLst/>
          </a:prstGeom>
          <a:noFill/>
        </p:spPr>
        <p:txBody>
          <a:bodyPr wrap="square" anchor="t" lIns="137160" tIns="137160" rIns="137160" bIns="137160"/>
          <a:lstStyle/>
          <a:p>
            <a:pPr algn="ctr"/>
            <a:r>
              <a:rPr lang="en-US" dirty="0" sz="4400" b="1">
                <a:solidFill>
                  <a:srgbClr val="FFFFFF"/>
                </a:solidFill>
              </a:rPr>
              <a:t>Destination and Home</a:t>
            </a:r>
          </a:p>
        </p:txBody>
      </p:sp>
      <p:sp>
        <p:nvSpPr>
          <p:cNvPr id="119" name="TextBox 119"/>
          <p:cNvSpPr txBox="1"/>
          <p:nvPr/>
        </p:nvSpPr>
        <p:spPr>
          <a:xfrm>
            <a:off x="457200" y="3840480"/>
            <a:ext cx="11277295" cy="731520"/>
          </a:xfrm>
          <a:prstGeom prst="rect">
            <a:avLst/>
          </a:prstGeom>
          <a:noFill/>
        </p:spPr>
        <p:txBody>
          <a:bodyPr wrap="square" anchor="t" lIns="137160" tIns="137160" rIns="137160" bIns="137160"/>
          <a:lstStyle/>
          <a:p>
            <a:pPr algn="ctr"/>
            <a:r>
              <a:rPr lang="en-US" dirty="0" sz="1600">
                <a:solidFill>
                  <a:srgbClr val="FFFFFF"/>
                </a:solidFill>
              </a:rPr>
              <a:t>Orion spacecraft with the Moon and a crescent Earth — April 6, 2026, 6:42 PM ET</a:t>
            </a:r>
          </a:p>
        </p:txBody>
      </p:sp>
      <p:sp>
        <p:nvSpPr>
          <p:cNvPr id="201" name="TextBox 201"/>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9</a:t>
            </a:r>
          </a:p>
        </p:txBody>
      </p:sp>
    </p:spTree>
  </p:cSld>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20" name="Image 7"/>
          <p:cNvPicPr>
            <a:picLocks noChangeAspect="1"/>
          </p:cNvPicPr>
          <p:nvPr/>
        </p:nvPicPr>
        <p:blipFill>
          <a:blip r:embed="rId3"/>
          <a:stretch>
            <a:fillRect/>
          </a:stretch>
        </p:blipFill>
        <p:spPr>
          <a:xfrm>
            <a:off x="0" y="0"/>
            <a:ext cx="12191695" cy="6858000"/>
          </a:xfrm>
          <a:prstGeom prst="rect">
            <a:avLst/>
          </a:prstGeom>
        </p:spPr>
      </p:pic>
      <p:sp>
        <p:nvSpPr>
          <p:cNvPr id="121" name="Rectangle 121"/>
          <p:cNvSpPr/>
          <p:nvPr/>
        </p:nvSpPr>
        <p:spPr>
          <a:xfrm>
            <a:off x="0" y="0"/>
            <a:ext cx="12191695" cy="6858000"/>
          </a:xfrm>
          <a:prstGeom prst="rect">
            <a:avLst/>
          </a:prstGeom>
          <a:solidFill>
            <a:srgbClr val="000000">
              <a:alpha val="30000"/>
            </a:srgbClr>
          </a:solidFill>
        </p:spPr>
      </p:sp>
      <p:sp>
        <p:nvSpPr>
          <p:cNvPr id="122" name="TextBox 122"/>
          <p:cNvSpPr txBox="1"/>
          <p:nvPr/>
        </p:nvSpPr>
        <p:spPr>
          <a:xfrm>
            <a:off x="457200" y="2560320"/>
            <a:ext cx="11277295" cy="1371600"/>
          </a:xfrm>
          <a:prstGeom prst="rect">
            <a:avLst/>
          </a:prstGeom>
          <a:noFill/>
        </p:spPr>
        <p:txBody>
          <a:bodyPr wrap="square" anchor="t" lIns="137160" tIns="137160" rIns="137160" bIns="137160"/>
          <a:lstStyle/>
          <a:p>
            <a:pPr algn="ctr"/>
            <a:r>
              <a:rPr lang="en-US" dirty="0" sz="4000" b="1">
                <a:solidFill>
                  <a:srgbClr val="FFFFFF"/>
                </a:solidFill>
              </a:rPr>
              <a:t>Solar Eclipse from the Far Side</a:t>
            </a:r>
          </a:p>
        </p:txBody>
      </p:sp>
      <p:sp>
        <p:nvSpPr>
          <p:cNvPr id="123" name="TextBox 123"/>
          <p:cNvSpPr txBox="1"/>
          <p:nvPr/>
        </p:nvSpPr>
        <p:spPr>
          <a:xfrm>
            <a:off x="457200" y="3840480"/>
            <a:ext cx="11277295" cy="731520"/>
          </a:xfrm>
          <a:prstGeom prst="rect">
            <a:avLst/>
          </a:prstGeom>
          <a:noFill/>
        </p:spPr>
        <p:txBody>
          <a:bodyPr wrap="square" anchor="t" lIns="137160" tIns="137160" rIns="137160" bIns="137160"/>
          <a:lstStyle/>
          <a:p>
            <a:pPr algn="ctr"/>
            <a:r>
              <a:rPr lang="en-US" dirty="0" sz="1600">
                <a:solidFill>
                  <a:srgbClr val="FFFFFF"/>
                </a:solidFill>
              </a:rPr>
              <a:t>Captured from Orion's solar array camera as the Moon blocked the Sun — a view never before seen by human eyes</a:t>
            </a:r>
          </a:p>
        </p:txBody>
      </p:sp>
      <p:sp>
        <p:nvSpPr>
          <p:cNvPr id="202" name="TextBox 202"/>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10</a:t>
            </a:r>
          </a:p>
        </p:txBody>
      </p:sp>
    </p:spTree>
  </p:cSld>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E27"/>
        </a:solidFill>
        <a:effectLst/>
      </p:bgPr>
    </p:bg>
    <p:spTree>
      <p:nvGrpSpPr>
        <p:cNvPr id="1" name=""/>
        <p:cNvGrpSpPr/>
        <p:nvPr/>
      </p:nvGrpSpPr>
      <p:grpSpPr>
        <a:xfrm>
          <a:off x="0" y="0"/>
          <a:ext cx="0" cy="0"/>
          <a:chOff x="0" y="0"/>
          <a:chExt cx="0" cy="0"/>
        </a:xfrm>
      </p:grpSpPr>
      <p:sp>
        <p:nvSpPr>
          <p:cNvPr id="124" name="Rectangle 124"/>
          <p:cNvSpPr/>
          <p:nvPr/>
        </p:nvSpPr>
        <p:spPr>
          <a:xfrm>
            <a:off x="0" y="0"/>
            <a:ext cx="12191695" cy="45720"/>
          </a:xfrm>
          <a:prstGeom prst="rect">
            <a:avLst/>
          </a:prstGeom>
          <a:solidFill>
            <a:srgbClr val="4FC3F7"/>
          </a:solidFill>
        </p:spPr>
      </p:sp>
      <p:sp>
        <p:nvSpPr>
          <p:cNvPr id="125" name="TextBox 125"/>
          <p:cNvSpPr txBox="1"/>
          <p:nvPr/>
        </p:nvSpPr>
        <p:spPr>
          <a:xfrm>
            <a:off x="457200" y="228600"/>
            <a:ext cx="10972800" cy="640080"/>
          </a:xfrm>
          <a:prstGeom prst="rect">
            <a:avLst/>
          </a:prstGeom>
          <a:noFill/>
        </p:spPr>
        <p:txBody>
          <a:bodyPr wrap="square" anchor="t" lIns="137160" tIns="137160" rIns="137160" bIns="137160"/>
          <a:lstStyle/>
          <a:p>
            <a:pPr algn="l"/>
            <a:r>
              <a:rPr lang="en-US" dirty="0" sz="3200" b="1">
                <a:solidFill>
                  <a:srgbClr val="FFFFFF"/>
                </a:solidFill>
              </a:rPr>
              <a:t>Artemis II: By the Numbers</a:t>
            </a:r>
          </a:p>
        </p:txBody>
      </p:sp>
      <p:sp>
        <p:nvSpPr>
          <p:cNvPr id="126" name="TextBox 126"/>
          <p:cNvSpPr txBox="1"/>
          <p:nvPr/>
        </p:nvSpPr>
        <p:spPr>
          <a:xfrm>
            <a:off x="365760" y="1188720"/>
            <a:ext cx="2743200" cy="1371600"/>
          </a:xfrm>
          <a:prstGeom prst="roundRect">
            <a:avLst/>
          </a:prstGeom>
          <a:solidFill>
            <a:srgbClr val="0D2137"/>
          </a:solidFill>
        </p:spPr>
        <p:txBody>
          <a:bodyPr wrap="square" anchor="ctr" lIns="137160" tIns="137160" rIns="137160" bIns="137160"/>
          <a:lstStyle/>
          <a:p>
            <a:pPr algn="ctr"/>
            <a:r>
              <a:rPr lang="en-US" dirty="0" sz="3200" b="1">
                <a:solidFill>
                  <a:srgbClr val="4FC3F7"/>
                </a:solidFill>
              </a:rPr>
              <a:t>6:35 PM</a:t>
            </a:r>
          </a:p>
          <a:p>
            <a:pPr algn="ctr"/>
            <a:r>
              <a:rPr lang="en-US" dirty="0" sz="1100">
                <a:solidFill>
                  <a:srgbClr val="78909C"/>
                </a:solidFill>
              </a:rPr>
              <a:t>ET LIFTOFF TIME</a:t>
            </a:r>
          </a:p>
        </p:txBody>
      </p:sp>
      <p:sp>
        <p:nvSpPr>
          <p:cNvPr id="127" name="TextBox 127"/>
          <p:cNvSpPr txBox="1"/>
          <p:nvPr/>
        </p:nvSpPr>
        <p:spPr>
          <a:xfrm>
            <a:off x="3291840" y="1188720"/>
            <a:ext cx="2743200" cy="1371600"/>
          </a:xfrm>
          <a:prstGeom prst="roundRect">
            <a:avLst/>
          </a:prstGeom>
          <a:solidFill>
            <a:srgbClr val="0D2137"/>
          </a:solidFill>
        </p:spPr>
        <p:txBody>
          <a:bodyPr wrap="square" anchor="ctr" lIns="137160" tIns="137160" rIns="137160" bIns="137160"/>
          <a:lstStyle/>
          <a:p>
            <a:pPr algn="ctr"/>
            <a:r>
              <a:rPr lang="en-US" dirty="0" sz="3200" b="1">
                <a:solidFill>
                  <a:srgbClr val="4FC3F7"/>
                </a:solidFill>
              </a:rPr>
              <a:t>8.8M</a:t>
            </a:r>
          </a:p>
          <a:p>
            <a:pPr algn="ctr"/>
            <a:r>
              <a:rPr lang="en-US" dirty="0" sz="1100">
                <a:solidFill>
                  <a:srgbClr val="78909C"/>
                </a:solidFill>
              </a:rPr>
              <a:t>POUNDS OF THRUST</a:t>
            </a:r>
          </a:p>
        </p:txBody>
      </p:sp>
      <p:sp>
        <p:nvSpPr>
          <p:cNvPr id="128" name="TextBox 128"/>
          <p:cNvSpPr txBox="1"/>
          <p:nvPr/>
        </p:nvSpPr>
        <p:spPr>
          <a:xfrm>
            <a:off x="6217920" y="1188720"/>
            <a:ext cx="2743200" cy="1371600"/>
          </a:xfrm>
          <a:prstGeom prst="roundRect">
            <a:avLst/>
          </a:prstGeom>
          <a:solidFill>
            <a:srgbClr val="0D2137"/>
          </a:solidFill>
        </p:spPr>
        <p:txBody>
          <a:bodyPr wrap="square" anchor="ctr" lIns="137160" tIns="137160" rIns="137160" bIns="137160"/>
          <a:lstStyle/>
          <a:p>
            <a:pPr algn="ctr"/>
            <a:r>
              <a:rPr lang="en-US" dirty="0" sz="3200" b="1">
                <a:solidFill>
                  <a:srgbClr val="4FC3F7"/>
                </a:solidFill>
              </a:rPr>
              <a:t>322 ft</a:t>
            </a:r>
          </a:p>
          <a:p>
            <a:pPr algn="ctr"/>
            <a:r>
              <a:rPr lang="en-US" dirty="0" sz="1100">
                <a:solidFill>
                  <a:srgbClr val="78909C"/>
                </a:solidFill>
              </a:rPr>
              <a:t>SLS ROCKET HEIGHT</a:t>
            </a:r>
          </a:p>
        </p:txBody>
      </p:sp>
      <p:sp>
        <p:nvSpPr>
          <p:cNvPr id="129" name="TextBox 129"/>
          <p:cNvSpPr txBox="1"/>
          <p:nvPr/>
        </p:nvSpPr>
        <p:spPr>
          <a:xfrm>
            <a:off x="9144000" y="1188720"/>
            <a:ext cx="2743200" cy="1371600"/>
          </a:xfrm>
          <a:prstGeom prst="roundRect">
            <a:avLst/>
          </a:prstGeom>
          <a:solidFill>
            <a:srgbClr val="0D2137"/>
          </a:solidFill>
        </p:spPr>
        <p:txBody>
          <a:bodyPr wrap="square" anchor="ctr" lIns="137160" tIns="137160" rIns="137160" bIns="137160"/>
          <a:lstStyle/>
          <a:p>
            <a:pPr algn="ctr"/>
            <a:r>
              <a:rPr lang="en-US" dirty="0" sz="2800" b="1">
                <a:solidFill>
                  <a:srgbClr val="4FC3F7"/>
                </a:solidFill>
              </a:rPr>
              <a:t>~17,500</a:t>
            </a:r>
          </a:p>
          <a:p>
            <a:pPr algn="ctr"/>
            <a:r>
              <a:rPr lang="en-US" dirty="0" sz="1100">
                <a:solidFill>
                  <a:srgbClr val="78909C"/>
                </a:solidFill>
              </a:rPr>
              <a:t>MPH ORBITAL VELOCITY</a:t>
            </a:r>
          </a:p>
        </p:txBody>
      </p:sp>
      <p:sp>
        <p:nvSpPr>
          <p:cNvPr id="130" name="TextBox 130"/>
          <p:cNvSpPr txBox="1"/>
          <p:nvPr/>
        </p:nvSpPr>
        <p:spPr>
          <a:xfrm>
            <a:off x="365760" y="2743200"/>
            <a:ext cx="2743200" cy="1371600"/>
          </a:xfrm>
          <a:prstGeom prst="roundRect">
            <a:avLst/>
          </a:prstGeom>
          <a:solidFill>
            <a:srgbClr val="0D2137"/>
          </a:solidFill>
        </p:spPr>
        <p:txBody>
          <a:bodyPr wrap="square" anchor="ctr" lIns="137160" tIns="137160" rIns="137160" bIns="137160"/>
          <a:lstStyle/>
          <a:p>
            <a:pPr algn="ctr"/>
            <a:r>
              <a:rPr lang="en-US" dirty="0" sz="3200" b="1">
                <a:solidFill>
                  <a:srgbClr val="FFD54F"/>
                </a:solidFill>
              </a:rPr>
              <a:t>~240K</a:t>
            </a:r>
          </a:p>
          <a:p>
            <a:pPr algn="ctr"/>
            <a:r>
              <a:rPr lang="en-US" dirty="0" sz="1100">
                <a:solidFill>
                  <a:srgbClr val="78909C"/>
                </a:solidFill>
              </a:rPr>
              <a:t>MILES TO THE MOON</a:t>
            </a:r>
          </a:p>
        </p:txBody>
      </p:sp>
      <p:sp>
        <p:nvSpPr>
          <p:cNvPr id="131" name="TextBox 131"/>
          <p:cNvSpPr txBox="1"/>
          <p:nvPr/>
        </p:nvSpPr>
        <p:spPr>
          <a:xfrm>
            <a:off x="3291840" y="2743200"/>
            <a:ext cx="2743200" cy="1371600"/>
          </a:xfrm>
          <a:prstGeom prst="roundRect">
            <a:avLst/>
          </a:prstGeom>
          <a:solidFill>
            <a:srgbClr val="0D2137"/>
          </a:solidFill>
        </p:spPr>
        <p:txBody>
          <a:bodyPr wrap="square" anchor="ctr" lIns="137160" tIns="137160" rIns="137160" bIns="137160"/>
          <a:lstStyle/>
          <a:p>
            <a:pPr algn="ctr"/>
            <a:r>
              <a:rPr lang="en-US" dirty="0" sz="3200" b="1">
                <a:solidFill>
                  <a:srgbClr val="FFD54F"/>
                </a:solidFill>
              </a:rPr>
              <a:t>~80 mi</a:t>
            </a:r>
          </a:p>
          <a:p>
            <a:pPr algn="ctr"/>
            <a:r>
              <a:rPr lang="en-US" dirty="0" sz="1100">
                <a:solidFill>
                  <a:srgbClr val="78909C"/>
                </a:solidFill>
              </a:rPr>
              <a:t>CLOSEST LUNAR APPROACH</a:t>
            </a:r>
          </a:p>
        </p:txBody>
      </p:sp>
      <p:sp>
        <p:nvSpPr>
          <p:cNvPr id="132" name="TextBox 132"/>
          <p:cNvSpPr txBox="1"/>
          <p:nvPr/>
        </p:nvSpPr>
        <p:spPr>
          <a:xfrm>
            <a:off x="6217920" y="2743200"/>
            <a:ext cx="2743200" cy="1371600"/>
          </a:xfrm>
          <a:prstGeom prst="roundRect">
            <a:avLst/>
          </a:prstGeom>
          <a:solidFill>
            <a:srgbClr val="0D2137"/>
          </a:solidFill>
        </p:spPr>
        <p:txBody>
          <a:bodyPr wrap="square" anchor="ctr" lIns="137160" tIns="137160" rIns="137160" bIns="137160"/>
          <a:lstStyle/>
          <a:p>
            <a:pPr algn="ctr"/>
            <a:r>
              <a:rPr lang="en-US" dirty="0" sz="3200" b="1">
                <a:solidFill>
                  <a:srgbClr val="FFD54F"/>
                </a:solidFill>
              </a:rPr>
              <a:t>40 min</a:t>
            </a:r>
          </a:p>
          <a:p>
            <a:pPr algn="ctr"/>
            <a:r>
              <a:rPr lang="en-US" dirty="0" sz="1100">
                <a:solidFill>
                  <a:srgbClr val="78909C"/>
                </a:solidFill>
              </a:rPr>
              <a:t>BEHIND THE MOON (LOS)</a:t>
            </a:r>
          </a:p>
        </p:txBody>
      </p:sp>
      <p:sp>
        <p:nvSpPr>
          <p:cNvPr id="133" name="TextBox 133"/>
          <p:cNvSpPr txBox="1"/>
          <p:nvPr/>
        </p:nvSpPr>
        <p:spPr>
          <a:xfrm>
            <a:off x="9144000" y="2743200"/>
            <a:ext cx="2743200" cy="1371600"/>
          </a:xfrm>
          <a:prstGeom prst="roundRect">
            <a:avLst/>
          </a:prstGeom>
          <a:solidFill>
            <a:srgbClr val="0D2137"/>
          </a:solidFill>
        </p:spPr>
        <p:txBody>
          <a:bodyPr wrap="square" anchor="ctr" lIns="137160" tIns="137160" rIns="137160" bIns="137160"/>
          <a:lstStyle/>
          <a:p>
            <a:pPr algn="ctr"/>
            <a:r>
              <a:rPr lang="en-US" dirty="0" sz="3200" b="1">
                <a:solidFill>
                  <a:srgbClr val="FFD54F"/>
                </a:solidFill>
              </a:rPr>
              <a:t>7 hrs</a:t>
            </a:r>
          </a:p>
          <a:p>
            <a:pPr algn="ctr"/>
            <a:r>
              <a:rPr lang="en-US" dirty="0" sz="1100">
                <a:solidFill>
                  <a:srgbClr val="78909C"/>
                </a:solidFill>
              </a:rPr>
              <a:t>LUNAR OBSERVATIONS</a:t>
            </a:r>
          </a:p>
        </p:txBody>
      </p:sp>
      <p:sp>
        <p:nvSpPr>
          <p:cNvPr id="134" name="TextBox 134"/>
          <p:cNvSpPr txBox="1"/>
          <p:nvPr/>
        </p:nvSpPr>
        <p:spPr>
          <a:xfrm>
            <a:off x="365760" y="4297680"/>
            <a:ext cx="2743200" cy="1371600"/>
          </a:xfrm>
          <a:prstGeom prst="roundRect">
            <a:avLst/>
          </a:prstGeom>
          <a:solidFill>
            <a:srgbClr val="0D2137"/>
          </a:solidFill>
        </p:spPr>
        <p:txBody>
          <a:bodyPr wrap="square" anchor="ctr" lIns="137160" tIns="137160" rIns="137160" bIns="137160"/>
          <a:lstStyle/>
          <a:p>
            <a:pPr algn="ctr"/>
            <a:r>
              <a:rPr lang="en-US" dirty="0" sz="3200" b="1">
                <a:solidFill>
                  <a:srgbClr val="EF5350"/>
                </a:solidFill>
              </a:rPr>
              <a:t>25,000</a:t>
            </a:r>
          </a:p>
          <a:p>
            <a:pPr algn="ctr"/>
            <a:r>
              <a:rPr lang="en-US" dirty="0" sz="1100">
                <a:solidFill>
                  <a:srgbClr val="78909C"/>
                </a:solidFill>
              </a:rPr>
              <a:t>MPH RE-ENTRY SPEED</a:t>
            </a:r>
          </a:p>
        </p:txBody>
      </p:sp>
      <p:sp>
        <p:nvSpPr>
          <p:cNvPr id="135" name="TextBox 135"/>
          <p:cNvSpPr txBox="1"/>
          <p:nvPr/>
        </p:nvSpPr>
        <p:spPr>
          <a:xfrm>
            <a:off x="3291840" y="4297680"/>
            <a:ext cx="2743200" cy="1371600"/>
          </a:xfrm>
          <a:prstGeom prst="roundRect">
            <a:avLst/>
          </a:prstGeom>
          <a:solidFill>
            <a:srgbClr val="0D2137"/>
          </a:solidFill>
        </p:spPr>
        <p:txBody>
          <a:bodyPr wrap="square" anchor="ctr" lIns="137160" tIns="137160" rIns="137160" bIns="137160"/>
          <a:lstStyle/>
          <a:p>
            <a:pPr algn="ctr"/>
            <a:r>
              <a:rPr lang="en-US" dirty="0" sz="3200" b="1">
                <a:solidFill>
                  <a:srgbClr val="EF5350"/>
                </a:solidFill>
              </a:rPr>
              <a:t>5,000°F</a:t>
            </a:r>
          </a:p>
          <a:p>
            <a:pPr algn="ctr"/>
            <a:r>
              <a:rPr lang="en-US" dirty="0" sz="1100">
                <a:solidFill>
                  <a:srgbClr val="78909C"/>
                </a:solidFill>
              </a:rPr>
              <a:t>HEAT SHIELD TEMP</a:t>
            </a:r>
          </a:p>
        </p:txBody>
      </p:sp>
      <p:sp>
        <p:nvSpPr>
          <p:cNvPr id="136" name="TextBox 136"/>
          <p:cNvSpPr txBox="1"/>
          <p:nvPr/>
        </p:nvSpPr>
        <p:spPr>
          <a:xfrm>
            <a:off x="6217920" y="4297680"/>
            <a:ext cx="2743200" cy="1371600"/>
          </a:xfrm>
          <a:prstGeom prst="roundRect">
            <a:avLst/>
          </a:prstGeom>
          <a:solidFill>
            <a:srgbClr val="0D2137"/>
          </a:solidFill>
        </p:spPr>
        <p:txBody>
          <a:bodyPr wrap="square" anchor="ctr" lIns="137160" tIns="137160" rIns="137160" bIns="137160"/>
          <a:lstStyle/>
          <a:p>
            <a:pPr algn="ctr"/>
            <a:r>
              <a:rPr lang="en-US" dirty="0" sz="3200" b="1">
                <a:solidFill>
                  <a:srgbClr val="EF5350"/>
                </a:solidFill>
              </a:rPr>
              <a:t>10 days</a:t>
            </a:r>
          </a:p>
          <a:p>
            <a:pPr algn="ctr"/>
            <a:r>
              <a:rPr lang="en-US" dirty="0" sz="1100">
                <a:solidFill>
                  <a:srgbClr val="78909C"/>
                </a:solidFill>
              </a:rPr>
              <a:t>TOTAL MISSION DURATION</a:t>
            </a:r>
          </a:p>
        </p:txBody>
      </p:sp>
      <p:sp>
        <p:nvSpPr>
          <p:cNvPr id="137" name="TextBox 137"/>
          <p:cNvSpPr txBox="1"/>
          <p:nvPr/>
        </p:nvSpPr>
        <p:spPr>
          <a:xfrm>
            <a:off x="9144000" y="4297680"/>
            <a:ext cx="2743200" cy="1371600"/>
          </a:xfrm>
          <a:prstGeom prst="roundRect">
            <a:avLst/>
          </a:prstGeom>
          <a:solidFill>
            <a:srgbClr val="0D2137"/>
          </a:solidFill>
        </p:spPr>
        <p:txBody>
          <a:bodyPr wrap="square" anchor="ctr" lIns="137160" tIns="137160" rIns="137160" bIns="137160"/>
          <a:lstStyle/>
          <a:p>
            <a:pPr algn="ctr"/>
            <a:r>
              <a:rPr lang="en-US" dirty="0" sz="3200" b="1">
                <a:solidFill>
                  <a:srgbClr val="EF5350"/>
                </a:solidFill>
              </a:rPr>
              <a:t>4</a:t>
            </a:r>
          </a:p>
          <a:p>
            <a:pPr algn="ctr"/>
            <a:r>
              <a:rPr lang="en-US" dirty="0" sz="1100">
                <a:solidFill>
                  <a:srgbClr val="78909C"/>
                </a:solidFill>
              </a:rPr>
              <a:t>NATIONS / AGENCIES</a:t>
            </a:r>
          </a:p>
        </p:txBody>
      </p:sp>
      <p:sp>
        <p:nvSpPr>
          <p:cNvPr id="203" name="TextBox 203"/>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11</a:t>
            </a:r>
          </a:p>
        </p:txBody>
      </p:sp>
    </p:spTree>
  </p:cSld>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38" name="Image 8"/>
          <p:cNvPicPr>
            <a:picLocks noChangeAspect="1"/>
          </p:cNvPicPr>
          <p:nvPr/>
        </p:nvPicPr>
        <p:blipFill>
          <a:blip r:embed="rId3"/>
          <a:stretch>
            <a:fillRect/>
          </a:stretch>
        </p:blipFill>
        <p:spPr>
          <a:xfrm>
            <a:off x="0" y="0"/>
            <a:ext cx="12191695" cy="6858000"/>
          </a:xfrm>
          <a:prstGeom prst="rect">
            <a:avLst/>
          </a:prstGeom>
        </p:spPr>
      </p:pic>
      <p:sp>
        <p:nvSpPr>
          <p:cNvPr id="139" name="Rectangle 139"/>
          <p:cNvSpPr/>
          <p:nvPr/>
        </p:nvSpPr>
        <p:spPr>
          <a:xfrm>
            <a:off x="0" y="0"/>
            <a:ext cx="12191695" cy="6858000"/>
          </a:xfrm>
          <a:prstGeom prst="rect">
            <a:avLst/>
          </a:prstGeom>
          <a:solidFill>
            <a:srgbClr val="0A0E27">
              <a:alpha val="35000"/>
            </a:srgbClr>
          </a:solidFill>
        </p:spPr>
      </p:sp>
      <p:sp>
        <p:nvSpPr>
          <p:cNvPr id="140" name="TextBox 140"/>
          <p:cNvSpPr txBox="1"/>
          <p:nvPr/>
        </p:nvSpPr>
        <p:spPr>
          <a:xfrm>
            <a:off x="731520" y="2560320"/>
            <a:ext cx="10515600" cy="1371600"/>
          </a:xfrm>
          <a:prstGeom prst="rect">
            <a:avLst/>
          </a:prstGeom>
          <a:noFill/>
        </p:spPr>
        <p:txBody>
          <a:bodyPr wrap="square" anchor="t" lIns="137160" tIns="137160" rIns="137160" bIns="137160"/>
          <a:lstStyle/>
          <a:p>
            <a:pPr algn="l"/>
            <a:r>
              <a:rPr lang="en-US" dirty="0" sz="4400" b="1">
                <a:solidFill>
                  <a:srgbClr val="FFFFFF"/>
                </a:solidFill>
              </a:rPr>
              <a:t>Welcome Home</a:t>
            </a:r>
          </a:p>
        </p:txBody>
      </p:sp>
      <p:sp>
        <p:nvSpPr>
          <p:cNvPr id="141" name="TextBox 141"/>
          <p:cNvSpPr txBox="1"/>
          <p:nvPr/>
        </p:nvSpPr>
        <p:spPr>
          <a:xfrm>
            <a:off x="731520" y="3840480"/>
            <a:ext cx="10515600" cy="731520"/>
          </a:xfrm>
          <a:prstGeom prst="rect">
            <a:avLst/>
          </a:prstGeom>
          <a:noFill/>
        </p:spPr>
        <p:txBody>
          <a:bodyPr wrap="square" anchor="t" lIns="137160" tIns="137160" rIns="137160" bIns="137160"/>
          <a:lstStyle/>
          <a:p>
            <a:pPr algn="l"/>
            <a:r>
              <a:rPr lang="en-US" dirty="0" sz="1600">
                <a:solidFill>
                  <a:srgbClr val="FFFFFF"/>
                </a:solidFill>
              </a:rPr>
              <a:t>April 10, 2026 — Crew recovery in the Pacific Ocean
U.S. Navy divers support the Artemis II astronauts after splashdown</a:t>
            </a:r>
          </a:p>
        </p:txBody>
      </p:sp>
      <p:sp>
        <p:nvSpPr>
          <p:cNvPr id="204" name="TextBox 204"/>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12</a:t>
            </a:r>
          </a:p>
        </p:txBody>
      </p:sp>
    </p:spTree>
  </p:cSld>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E27"/>
        </a:solidFill>
        <a:effectLst/>
      </p:bgPr>
    </p:bg>
    <p:spTree>
      <p:nvGrpSpPr>
        <p:cNvPr id="1" name=""/>
        <p:cNvGrpSpPr/>
        <p:nvPr/>
      </p:nvGrpSpPr>
      <p:grpSpPr>
        <a:xfrm>
          <a:off x="0" y="0"/>
          <a:ext cx="0" cy="0"/>
          <a:chOff x="0" y="0"/>
          <a:chExt cx="0" cy="0"/>
        </a:xfrm>
      </p:grpSpPr>
      <p:sp>
        <p:nvSpPr>
          <p:cNvPr id="142" name="Rectangle 142"/>
          <p:cNvSpPr/>
          <p:nvPr/>
        </p:nvSpPr>
        <p:spPr>
          <a:xfrm>
            <a:off x="0" y="0"/>
            <a:ext cx="12191695" cy="45720"/>
          </a:xfrm>
          <a:prstGeom prst="rect">
            <a:avLst/>
          </a:prstGeom>
          <a:solidFill>
            <a:srgbClr val="4FC3F7"/>
          </a:solidFill>
        </p:spPr>
      </p:sp>
      <p:sp>
        <p:nvSpPr>
          <p:cNvPr id="143" name="TextBox 143"/>
          <p:cNvSpPr txBox="1"/>
          <p:nvPr/>
        </p:nvSpPr>
        <p:spPr>
          <a:xfrm>
            <a:off x="457200" y="228600"/>
            <a:ext cx="10972800" cy="640080"/>
          </a:xfrm>
          <a:prstGeom prst="rect">
            <a:avLst/>
          </a:prstGeom>
          <a:noFill/>
        </p:spPr>
        <p:txBody>
          <a:bodyPr wrap="square" anchor="t" lIns="137160" tIns="137160" rIns="137160" bIns="137160"/>
          <a:lstStyle/>
          <a:p>
            <a:pPr algn="l"/>
            <a:r>
              <a:rPr lang="en-US" dirty="0" sz="3200" b="1">
                <a:solidFill>
                  <a:srgbClr val="FFFFFF"/>
                </a:solidFill>
              </a:rPr>
              <a:t>The Artemis Roadmap: What's Next?</a:t>
            </a:r>
          </a:p>
        </p:txBody>
      </p:sp>
      <p:sp>
        <p:nvSpPr>
          <p:cNvPr id="144" name="TextBox 144"/>
          <p:cNvSpPr txBox="1"/>
          <p:nvPr/>
        </p:nvSpPr>
        <p:spPr>
          <a:xfrm>
            <a:off x="457200" y="822960"/>
            <a:ext cx="10972800" cy="320040"/>
          </a:xfrm>
          <a:prstGeom prst="rect">
            <a:avLst/>
          </a:prstGeom>
          <a:noFill/>
        </p:spPr>
        <p:txBody>
          <a:bodyPr wrap="square" anchor="t" lIns="137160" tIns="137160" rIns="137160" bIns="137160"/>
          <a:lstStyle/>
          <a:p>
            <a:pPr algn="l"/>
            <a:r>
              <a:rPr lang="en-US" dirty="0" sz="1400" i="1">
                <a:solidFill>
                  <a:srgbClr val="90CAF9"/>
                </a:solidFill>
              </a:rPr>
              <a:t>Each mission builds on the last — leading to a sustained presence on the Moon and beyond</a:t>
            </a:r>
          </a:p>
        </p:txBody>
      </p:sp>
      <p:sp>
        <p:nvSpPr>
          <p:cNvPr id="145" name="Rectangle 145"/>
          <p:cNvSpPr/>
          <p:nvPr/>
        </p:nvSpPr>
        <p:spPr>
          <a:xfrm>
            <a:off x="365760" y="1371600"/>
            <a:ext cx="2743200" cy="2286000"/>
          </a:xfrm>
          <a:prstGeom prst="roundRect">
            <a:avLst/>
          </a:prstGeom>
          <a:solidFill>
            <a:srgbClr val="1B5E20"/>
          </a:solidFill>
        </p:spPr>
      </p:sp>
      <p:sp>
        <p:nvSpPr>
          <p:cNvPr id="146" name="TextBox 146"/>
          <p:cNvSpPr txBox="1"/>
          <p:nvPr/>
        </p:nvSpPr>
        <p:spPr>
          <a:xfrm>
            <a:off x="457200" y="1463040"/>
            <a:ext cx="2560320" cy="320040"/>
          </a:xfrm>
          <a:prstGeom prst="rect">
            <a:avLst/>
          </a:prstGeom>
          <a:noFill/>
        </p:spPr>
        <p:txBody>
          <a:bodyPr wrap="square" anchor="t" lIns="137160" tIns="137160" rIns="137160" bIns="137160"/>
          <a:lstStyle/>
          <a:p>
            <a:pPr algn="ctr"/>
            <a:r>
              <a:rPr lang="en-US" dirty="0" sz="1600" b="1">
                <a:solidFill>
                  <a:srgbClr val="FFFFFF"/>
                </a:solidFill>
              </a:rPr>
              <a:t>ARTEMIS I</a:t>
            </a:r>
          </a:p>
        </p:txBody>
      </p:sp>
      <p:sp>
        <p:nvSpPr>
          <p:cNvPr id="147" name="TextBox 147"/>
          <p:cNvSpPr txBox="1"/>
          <p:nvPr/>
        </p:nvSpPr>
        <p:spPr>
          <a:xfrm>
            <a:off x="457200" y="1783080"/>
            <a:ext cx="2560320" cy="274320"/>
          </a:xfrm>
          <a:prstGeom prst="rect">
            <a:avLst/>
          </a:prstGeom>
          <a:noFill/>
        </p:spPr>
        <p:txBody>
          <a:bodyPr wrap="square" anchor="t" lIns="137160" tIns="137160" rIns="137160" bIns="137160"/>
          <a:lstStyle/>
          <a:p>
            <a:pPr algn="ctr"/>
            <a:r>
              <a:rPr lang="en-US" dirty="0" sz="1100">
                <a:solidFill>
                  <a:srgbClr val="81C784"/>
                </a:solidFill>
              </a:rPr>
              <a:t>Nov 2022 ✓ COMPLETE</a:t>
            </a:r>
          </a:p>
        </p:txBody>
      </p:sp>
      <p:sp>
        <p:nvSpPr>
          <p:cNvPr id="148" name="TextBox 148"/>
          <p:cNvSpPr txBox="1"/>
          <p:nvPr/>
        </p:nvSpPr>
        <p:spPr>
          <a:xfrm>
            <a:off x="457200" y="2103120"/>
            <a:ext cx="2560320" cy="1463040"/>
          </a:xfrm>
          <a:prstGeom prst="rect">
            <a:avLst/>
          </a:prstGeom>
          <a:noFill/>
        </p:spPr>
        <p:txBody>
          <a:bodyPr wrap="square" anchor="t" lIns="137160" tIns="137160" rIns="137160" bIns="137160"/>
          <a:lstStyle/>
          <a:p>
            <a:pPr lvl="0" algn="l">
              <a:buClr>
                <a:srgbClr val="81C784"/>
              </a:buClr>
              <a:buFont typeface="Arial"/>
              <a:buChar char="•"/>
            </a:pPr>
            <a:r>
              <a:rPr lang="en-US" dirty="0" sz="1100">
                <a:solidFill>
                  <a:srgbClr val="C8E6C9"/>
                </a:solidFill>
              </a:rPr>
              <a:t>Uncrewed test flight</a:t>
            </a:r>
          </a:p>
          <a:p>
            <a:pPr lvl="0" algn="l">
              <a:buClr>
                <a:srgbClr val="81C784"/>
              </a:buClr>
              <a:buFont typeface="Arial"/>
              <a:buChar char="•"/>
            </a:pPr>
            <a:r>
              <a:rPr lang="en-US" dirty="0" sz="1100">
                <a:solidFill>
                  <a:srgbClr val="C8E6C9"/>
                </a:solidFill>
              </a:rPr>
              <a:t>Orion flew 1.4M miles</a:t>
            </a:r>
          </a:p>
          <a:p>
            <a:pPr lvl="0" algn="l">
              <a:buClr>
                <a:srgbClr val="81C784"/>
              </a:buClr>
              <a:buFont typeface="Arial"/>
              <a:buChar char="•"/>
            </a:pPr>
            <a:r>
              <a:rPr lang="en-US" dirty="0" sz="1100">
                <a:solidFill>
                  <a:srgbClr val="C8E6C9"/>
                </a:solidFill>
              </a:rPr>
              <a:t>25.5 day mission</a:t>
            </a:r>
          </a:p>
          <a:p>
            <a:pPr lvl="0" algn="l">
              <a:buClr>
                <a:srgbClr val="81C784"/>
              </a:buClr>
              <a:buFont typeface="Arial"/>
              <a:buChar char="•"/>
            </a:pPr>
            <a:r>
              <a:rPr lang="en-US" dirty="0" sz="1100">
                <a:solidFill>
                  <a:srgbClr val="C8E6C9"/>
                </a:solidFill>
              </a:rPr>
              <a:t>Heat shield validated</a:t>
            </a:r>
          </a:p>
        </p:txBody>
      </p:sp>
      <p:sp>
        <p:nvSpPr>
          <p:cNvPr id="149" name="Rectangle 149"/>
          <p:cNvSpPr/>
          <p:nvPr/>
        </p:nvSpPr>
        <p:spPr>
          <a:xfrm>
            <a:off x="3291840" y="1371600"/>
            <a:ext cx="2743200" cy="2286000"/>
          </a:xfrm>
          <a:prstGeom prst="roundRect">
            <a:avLst/>
          </a:prstGeom>
          <a:solidFill>
            <a:srgbClr val="0D47A1"/>
          </a:solidFill>
          <a:ln w="25400">
            <a:solidFill>
              <a:srgbClr val="4FC3F7"/>
            </a:solidFill>
          </a:ln>
        </p:spPr>
      </p:sp>
      <p:sp>
        <p:nvSpPr>
          <p:cNvPr id="150" name="TextBox 150"/>
          <p:cNvSpPr txBox="1"/>
          <p:nvPr/>
        </p:nvSpPr>
        <p:spPr>
          <a:xfrm>
            <a:off x="3383280" y="1463040"/>
            <a:ext cx="2560320" cy="320040"/>
          </a:xfrm>
          <a:prstGeom prst="rect">
            <a:avLst/>
          </a:prstGeom>
          <a:noFill/>
        </p:spPr>
        <p:txBody>
          <a:bodyPr wrap="square" anchor="t" lIns="137160" tIns="137160" rIns="137160" bIns="137160"/>
          <a:lstStyle/>
          <a:p>
            <a:pPr algn="ctr"/>
            <a:r>
              <a:rPr lang="en-US" dirty="0" sz="1600" b="1">
                <a:solidFill>
                  <a:srgbClr val="FFFFFF"/>
                </a:solidFill>
              </a:rPr>
              <a:t>ARTEMIS II</a:t>
            </a:r>
          </a:p>
        </p:txBody>
      </p:sp>
      <p:sp>
        <p:nvSpPr>
          <p:cNvPr id="151" name="TextBox 151"/>
          <p:cNvSpPr txBox="1"/>
          <p:nvPr/>
        </p:nvSpPr>
        <p:spPr>
          <a:xfrm>
            <a:off x="3383280" y="1783080"/>
            <a:ext cx="2560320" cy="274320"/>
          </a:xfrm>
          <a:prstGeom prst="rect">
            <a:avLst/>
          </a:prstGeom>
          <a:noFill/>
        </p:spPr>
        <p:txBody>
          <a:bodyPr wrap="square" anchor="t" lIns="137160" tIns="137160" rIns="137160" bIns="137160"/>
          <a:lstStyle/>
          <a:p>
            <a:pPr algn="ctr"/>
            <a:r>
              <a:rPr lang="en-US" dirty="0" sz="1100">
                <a:solidFill>
                  <a:srgbClr val="4FC3F7"/>
                </a:solidFill>
              </a:rPr>
              <a:t>Apr 2026 ✓ COMPLETE</a:t>
            </a:r>
          </a:p>
        </p:txBody>
      </p:sp>
      <p:sp>
        <p:nvSpPr>
          <p:cNvPr id="152" name="TextBox 152"/>
          <p:cNvSpPr txBox="1"/>
          <p:nvPr/>
        </p:nvSpPr>
        <p:spPr>
          <a:xfrm>
            <a:off x="3383280" y="2103120"/>
            <a:ext cx="2560320" cy="1463040"/>
          </a:xfrm>
          <a:prstGeom prst="rect">
            <a:avLst/>
          </a:prstGeom>
          <a:noFill/>
        </p:spPr>
        <p:txBody>
          <a:bodyPr wrap="square" anchor="t" lIns="137160" tIns="137160" rIns="137160" bIns="137160"/>
          <a:lstStyle/>
          <a:p>
            <a:pPr lvl="0" algn="l">
              <a:buClr>
                <a:srgbClr val="4FC3F7"/>
              </a:buClr>
              <a:buFont typeface="Arial"/>
              <a:buChar char="•"/>
            </a:pPr>
            <a:r>
              <a:rPr lang="en-US" dirty="0" sz="1100">
                <a:solidFill>
                  <a:srgbClr val="BBDEFB"/>
                </a:solidFill>
              </a:rPr>
              <a:t>First crewed lunar flyby</a:t>
            </a:r>
          </a:p>
          <a:p>
            <a:pPr lvl="0" algn="l">
              <a:buClr>
                <a:srgbClr val="4FC3F7"/>
              </a:buClr>
              <a:buFont typeface="Arial"/>
              <a:buChar char="•"/>
            </a:pPr>
            <a:r>
              <a:rPr lang="en-US" dirty="0" sz="1100">
                <a:solidFill>
                  <a:srgbClr val="BBDEFB"/>
                </a:solidFill>
              </a:rPr>
              <a:t>4 astronauts, 10 days</a:t>
            </a:r>
          </a:p>
          <a:p>
            <a:pPr lvl="0" algn="l">
              <a:buClr>
                <a:srgbClr val="4FC3F7"/>
              </a:buClr>
              <a:buFont typeface="Arial"/>
              <a:buChar char="•"/>
            </a:pPr>
            <a:r>
              <a:rPr lang="en-US" dirty="0" sz="1100">
                <a:solidFill>
                  <a:srgbClr val="BBDEFB"/>
                </a:solidFill>
              </a:rPr>
              <a:t>Tested life support</a:t>
            </a:r>
          </a:p>
          <a:p>
            <a:pPr lvl="0" algn="l">
              <a:buClr>
                <a:srgbClr val="4FC3F7"/>
              </a:buClr>
              <a:buFont typeface="Arial"/>
              <a:buChar char="•"/>
            </a:pPr>
            <a:r>
              <a:rPr lang="en-US" dirty="0" sz="1100">
                <a:solidFill>
                  <a:srgbClr val="BBDEFB"/>
                </a:solidFill>
              </a:rPr>
              <a:t>Earthset captured</a:t>
            </a:r>
          </a:p>
        </p:txBody>
      </p:sp>
      <p:sp>
        <p:nvSpPr>
          <p:cNvPr id="153" name="Rectangle 153"/>
          <p:cNvSpPr/>
          <p:nvPr/>
        </p:nvSpPr>
        <p:spPr>
          <a:xfrm>
            <a:off x="6217920" y="1371600"/>
            <a:ext cx="2743200" cy="2286000"/>
          </a:xfrm>
          <a:prstGeom prst="roundRect">
            <a:avLst/>
          </a:prstGeom>
          <a:solidFill>
            <a:srgbClr val="E65100"/>
          </a:solidFill>
        </p:spPr>
      </p:sp>
      <p:sp>
        <p:nvSpPr>
          <p:cNvPr id="154" name="TextBox 154"/>
          <p:cNvSpPr txBox="1"/>
          <p:nvPr/>
        </p:nvSpPr>
        <p:spPr>
          <a:xfrm>
            <a:off x="6309360" y="1463040"/>
            <a:ext cx="2560320" cy="320040"/>
          </a:xfrm>
          <a:prstGeom prst="rect">
            <a:avLst/>
          </a:prstGeom>
          <a:noFill/>
        </p:spPr>
        <p:txBody>
          <a:bodyPr wrap="square" anchor="t" lIns="137160" tIns="137160" rIns="137160" bIns="137160"/>
          <a:lstStyle/>
          <a:p>
            <a:pPr algn="ctr"/>
            <a:r>
              <a:rPr lang="en-US" dirty="0" sz="1600" b="1">
                <a:solidFill>
                  <a:srgbClr val="FFFFFF"/>
                </a:solidFill>
              </a:rPr>
              <a:t>ARTEMIS III</a:t>
            </a:r>
          </a:p>
        </p:txBody>
      </p:sp>
      <p:sp>
        <p:nvSpPr>
          <p:cNvPr id="155" name="TextBox 155"/>
          <p:cNvSpPr txBox="1"/>
          <p:nvPr/>
        </p:nvSpPr>
        <p:spPr>
          <a:xfrm>
            <a:off x="6309360" y="1783080"/>
            <a:ext cx="2560320" cy="274320"/>
          </a:xfrm>
          <a:prstGeom prst="rect">
            <a:avLst/>
          </a:prstGeom>
          <a:noFill/>
        </p:spPr>
        <p:txBody>
          <a:bodyPr wrap="square" anchor="t" lIns="137160" tIns="137160" rIns="137160" bIns="137160"/>
          <a:lstStyle/>
          <a:p>
            <a:pPr algn="ctr"/>
            <a:r>
              <a:rPr lang="en-US" dirty="0" sz="1100">
                <a:solidFill>
                  <a:srgbClr val="FFB74D"/>
                </a:solidFill>
              </a:rPr>
              <a:t>~2028 | UPCOMING</a:t>
            </a:r>
          </a:p>
        </p:txBody>
      </p:sp>
      <p:sp>
        <p:nvSpPr>
          <p:cNvPr id="156" name="TextBox 156"/>
          <p:cNvSpPr txBox="1"/>
          <p:nvPr/>
        </p:nvSpPr>
        <p:spPr>
          <a:xfrm>
            <a:off x="6309360" y="2103120"/>
            <a:ext cx="2560320" cy="1463040"/>
          </a:xfrm>
          <a:prstGeom prst="rect">
            <a:avLst/>
          </a:prstGeom>
          <a:noFill/>
        </p:spPr>
        <p:txBody>
          <a:bodyPr wrap="square" anchor="t" lIns="137160" tIns="137160" rIns="137160" bIns="137160"/>
          <a:lstStyle/>
          <a:p>
            <a:pPr lvl="0" algn="l">
              <a:buClr>
                <a:srgbClr val="FFB74D"/>
              </a:buClr>
              <a:buFont typeface="Arial"/>
              <a:buChar char="•"/>
            </a:pPr>
            <a:r>
              <a:rPr lang="en-US" dirty="0" sz="1100">
                <a:solidFill>
                  <a:srgbClr val="FFE0B2"/>
                </a:solidFill>
              </a:rPr>
              <a:t>First lunar landing</a:t>
            </a:r>
          </a:p>
          <a:p>
            <a:pPr lvl="0" algn="l">
              <a:buClr>
                <a:srgbClr val="FFB74D"/>
              </a:buClr>
              <a:buFont typeface="Arial"/>
              <a:buChar char="•"/>
            </a:pPr>
            <a:r>
              <a:rPr lang="en-US" dirty="0" sz="1100">
                <a:solidFill>
                  <a:srgbClr val="FFE0B2"/>
                </a:solidFill>
              </a:rPr>
              <a:t>SpaceX Starship HLS</a:t>
            </a:r>
          </a:p>
          <a:p>
            <a:pPr lvl="0" algn="l">
              <a:buClr>
                <a:srgbClr val="FFB74D"/>
              </a:buClr>
              <a:buFont typeface="Arial"/>
              <a:buChar char="•"/>
            </a:pPr>
            <a:r>
              <a:rPr lang="en-US" dirty="0" sz="1100">
                <a:solidFill>
                  <a:srgbClr val="FFE0B2"/>
                </a:solidFill>
              </a:rPr>
              <a:t>South Pole region</a:t>
            </a:r>
          </a:p>
          <a:p>
            <a:pPr lvl="0" algn="l">
              <a:buClr>
                <a:srgbClr val="FFB74D"/>
              </a:buClr>
              <a:buFont typeface="Arial"/>
              <a:buChar char="•"/>
            </a:pPr>
            <a:r>
              <a:rPr lang="en-US" dirty="0" sz="1100">
                <a:solidFill>
                  <a:srgbClr val="FFE0B2"/>
                </a:solidFill>
              </a:rPr>
              <a:t>First woman on Moon</a:t>
            </a:r>
          </a:p>
        </p:txBody>
      </p:sp>
      <p:sp>
        <p:nvSpPr>
          <p:cNvPr id="157" name="Rectangle 157"/>
          <p:cNvSpPr/>
          <p:nvPr/>
        </p:nvSpPr>
        <p:spPr>
          <a:xfrm>
            <a:off x="9144000" y="1371600"/>
            <a:ext cx="2743200" cy="2286000"/>
          </a:xfrm>
          <a:prstGeom prst="roundRect">
            <a:avLst/>
          </a:prstGeom>
          <a:solidFill>
            <a:srgbClr val="4A148C"/>
          </a:solidFill>
        </p:spPr>
      </p:sp>
      <p:sp>
        <p:nvSpPr>
          <p:cNvPr id="158" name="TextBox 158"/>
          <p:cNvSpPr txBox="1"/>
          <p:nvPr/>
        </p:nvSpPr>
        <p:spPr>
          <a:xfrm>
            <a:off x="9235440" y="1463040"/>
            <a:ext cx="2560320" cy="320040"/>
          </a:xfrm>
          <a:prstGeom prst="rect">
            <a:avLst/>
          </a:prstGeom>
          <a:noFill/>
        </p:spPr>
        <p:txBody>
          <a:bodyPr wrap="square" anchor="t" lIns="137160" tIns="137160" rIns="137160" bIns="137160"/>
          <a:lstStyle/>
          <a:p>
            <a:pPr algn="ctr"/>
            <a:r>
              <a:rPr lang="en-US" dirty="0" sz="1600" b="1">
                <a:solidFill>
                  <a:srgbClr val="FFFFFF"/>
                </a:solidFill>
              </a:rPr>
              <a:t>ARTEMIS IV+</a:t>
            </a:r>
          </a:p>
        </p:txBody>
      </p:sp>
      <p:sp>
        <p:nvSpPr>
          <p:cNvPr id="159" name="TextBox 159"/>
          <p:cNvSpPr txBox="1"/>
          <p:nvPr/>
        </p:nvSpPr>
        <p:spPr>
          <a:xfrm>
            <a:off x="9235440" y="1783080"/>
            <a:ext cx="2560320" cy="274320"/>
          </a:xfrm>
          <a:prstGeom prst="rect">
            <a:avLst/>
          </a:prstGeom>
          <a:noFill/>
        </p:spPr>
        <p:txBody>
          <a:bodyPr wrap="square" anchor="t" lIns="137160" tIns="137160" rIns="137160" bIns="137160"/>
          <a:lstStyle/>
          <a:p>
            <a:pPr algn="ctr"/>
            <a:r>
              <a:rPr lang="en-US" dirty="0" sz="1100">
                <a:solidFill>
                  <a:srgbClr val="CE93D8"/>
                </a:solidFill>
              </a:rPr>
              <a:t>2029+ | FUTURE</a:t>
            </a:r>
          </a:p>
        </p:txBody>
      </p:sp>
      <p:sp>
        <p:nvSpPr>
          <p:cNvPr id="160" name="TextBox 160"/>
          <p:cNvSpPr txBox="1"/>
          <p:nvPr/>
        </p:nvSpPr>
        <p:spPr>
          <a:xfrm>
            <a:off x="9235440" y="2103120"/>
            <a:ext cx="2560320" cy="1463040"/>
          </a:xfrm>
          <a:prstGeom prst="rect">
            <a:avLst/>
          </a:prstGeom>
          <a:noFill/>
        </p:spPr>
        <p:txBody>
          <a:bodyPr wrap="square" anchor="t" lIns="137160" tIns="137160" rIns="137160" bIns="137160"/>
          <a:lstStyle/>
          <a:p>
            <a:pPr lvl="0" algn="l">
              <a:buClr>
                <a:srgbClr val="CE93D8"/>
              </a:buClr>
              <a:buFont typeface="Arial"/>
              <a:buChar char="•"/>
            </a:pPr>
            <a:r>
              <a:rPr lang="en-US" dirty="0" sz="1100">
                <a:solidFill>
                  <a:srgbClr val="E1BEE7"/>
                </a:solidFill>
              </a:rPr>
              <a:t>Gateway space station</a:t>
            </a:r>
          </a:p>
          <a:p>
            <a:pPr lvl="0" algn="l">
              <a:buClr>
                <a:srgbClr val="CE93D8"/>
              </a:buClr>
              <a:buFont typeface="Arial"/>
              <a:buChar char="•"/>
            </a:pPr>
            <a:r>
              <a:rPr lang="en-US" dirty="0" sz="1100">
                <a:solidFill>
                  <a:srgbClr val="E1BEE7"/>
                </a:solidFill>
              </a:rPr>
              <a:t>Sustained lunar presence</a:t>
            </a:r>
          </a:p>
          <a:p>
            <a:pPr lvl="0" algn="l">
              <a:buClr>
                <a:srgbClr val="CE93D8"/>
              </a:buClr>
              <a:buFont typeface="Arial"/>
              <a:buChar char="•"/>
            </a:pPr>
            <a:r>
              <a:rPr lang="en-US" dirty="0" sz="1100">
                <a:solidFill>
                  <a:srgbClr val="E1BEE7"/>
                </a:solidFill>
              </a:rPr>
              <a:t>SLS Block 1B upgrade</a:t>
            </a:r>
          </a:p>
          <a:p>
            <a:pPr lvl="0" algn="l">
              <a:buClr>
                <a:srgbClr val="CE93D8"/>
              </a:buClr>
              <a:buFont typeface="Arial"/>
              <a:buChar char="•"/>
            </a:pPr>
            <a:r>
              <a:rPr lang="en-US" dirty="0" sz="1100">
                <a:solidFill>
                  <a:srgbClr val="E1BEE7"/>
                </a:solidFill>
              </a:rPr>
              <a:t>Path to Mars</a:t>
            </a:r>
          </a:p>
        </p:txBody>
      </p:sp>
      <p:sp>
        <p:nvSpPr>
          <p:cNvPr id="161" name="TextBox 161"/>
          <p:cNvSpPr txBox="1"/>
          <p:nvPr/>
        </p:nvSpPr>
        <p:spPr>
          <a:xfrm>
            <a:off x="457200" y="3977640"/>
            <a:ext cx="10972800" cy="457200"/>
          </a:xfrm>
          <a:prstGeom prst="rect">
            <a:avLst/>
          </a:prstGeom>
          <a:noFill/>
        </p:spPr>
        <p:txBody>
          <a:bodyPr wrap="square" anchor="t" lIns="137160" tIns="137160" rIns="137160" bIns="137160"/>
          <a:lstStyle/>
          <a:p>
            <a:pPr algn="l"/>
            <a:r>
              <a:rPr lang="en-US" dirty="0" sz="1800" b="1">
                <a:solidFill>
                  <a:srgbClr val="FFFFFF"/>
                </a:solidFill>
              </a:rPr>
              <a:t>Artemis II Mission Achievements</a:t>
            </a:r>
          </a:p>
        </p:txBody>
      </p:sp>
      <p:cxnSp>
        <p:nvCxnSpPr>
          <p:cNvPr id="162" name="Line 162"/>
          <p:cNvCxnSpPr/>
          <p:nvPr/>
        </p:nvCxnSpPr>
        <p:spPr>
          <a:xfrm>
            <a:off x="457200" y="4389120"/>
            <a:ext cx="11247120" cy="1"/>
          </a:xfrm>
          <a:prstGeom prst="line">
            <a:avLst/>
          </a:prstGeom>
          <a:ln w="12700">
            <a:solidFill>
              <a:srgbClr val="1565C0"/>
            </a:solidFill>
          </a:ln>
        </p:spPr>
      </p:cxnSp>
      <p:graphicFrame>
        <p:nvGraphicFramePr>
          <p:cNvPr id="163" name="Table"/>
          <p:cNvGraphicFramePr>
            <a:graphicFrameLocks noGrp="1"/>
          </p:cNvGraphicFramePr>
          <p:nvPr/>
        </p:nvGraphicFramePr>
        <p:xfrm>
          <a:off x="365760" y="4480560"/>
          <a:ext cx="11430000" cy="1600200"/>
        </p:xfrm>
        <a:graphic>
          <a:graphicData uri="http://schemas.openxmlformats.org/drawingml/2006/table">
            <a:tbl>
              <a:tblPr firstRow="1" bandRow="1"/>
              <a:tblGrid>
                <a:gridCol w="3810000"/>
                <a:gridCol w="3810000"/>
                <a:gridCol w="3810000"/>
              </a:tblGrid>
              <a:tr h="320040">
                <a:tc>
                  <a:txBody>
                    <a:bodyPr/>
                    <a:lstStyle/>
                    <a:p>
                      <a:pPr algn="ctr"/>
                      <a:r>
                        <a:rPr lang="en-US" sz="1100" b="1" dirty="0">
                          <a:solidFill>
                            <a:srgbClr val="FFFFFF"/>
                          </a:solidFill>
                        </a:rPr>
                        <a:t>Achievement</a:t>
                      </a:r>
                    </a:p>
                  </a:txBody>
                  <a:tcPr marL="68580" marR="68580" marT="34290" marB="34290">
                    <a:lnL w="12700">
                      <a:solidFill>
                        <a:srgbClr val="263238"/>
                      </a:solidFill>
                    </a:lnL>
                    <a:lnR w="12700">
                      <a:solidFill>
                        <a:srgbClr val="263238"/>
                      </a:solidFill>
                    </a:lnR>
                    <a:lnT w="12700">
                      <a:solidFill>
                        <a:srgbClr val="263238"/>
                      </a:solidFill>
                    </a:lnT>
                    <a:lnB w="12700">
                      <a:solidFill>
                        <a:srgbClr val="263238"/>
                      </a:solidFill>
                    </a:lnB>
                    <a:solidFill>
                      <a:srgbClr val="1565C0"/>
                    </a:solidFill>
                  </a:tcPr>
                </a:tc>
                <a:tc>
                  <a:txBody>
                    <a:bodyPr/>
                    <a:lstStyle/>
                    <a:p>
                      <a:pPr algn="ctr"/>
                      <a:r>
                        <a:rPr lang="en-US" sz="1100" b="1" dirty="0">
                          <a:solidFill>
                            <a:srgbClr val="FFFFFF"/>
                          </a:solidFill>
                        </a:rPr>
                        <a:t>Detail</a:t>
                      </a:r>
                    </a:p>
                  </a:txBody>
                  <a:tcPr marL="68580" marR="68580" marT="34290" marB="34290">
                    <a:lnL w="12700">
                      <a:solidFill>
                        <a:srgbClr val="263238"/>
                      </a:solidFill>
                    </a:lnL>
                    <a:lnR w="12700">
                      <a:solidFill>
                        <a:srgbClr val="263238"/>
                      </a:solidFill>
                    </a:lnR>
                    <a:lnT w="12700">
                      <a:solidFill>
                        <a:srgbClr val="263238"/>
                      </a:solidFill>
                    </a:lnT>
                    <a:lnB w="12700">
                      <a:solidFill>
                        <a:srgbClr val="263238"/>
                      </a:solidFill>
                    </a:lnB>
                    <a:solidFill>
                      <a:srgbClr val="1565C0"/>
                    </a:solidFill>
                  </a:tcPr>
                </a:tc>
                <a:tc>
                  <a:txBody>
                    <a:bodyPr/>
                    <a:lstStyle/>
                    <a:p>
                      <a:pPr algn="ctr"/>
                      <a:r>
                        <a:rPr lang="en-US" sz="1100" b="1" dirty="0">
                          <a:solidFill>
                            <a:srgbClr val="FFFFFF"/>
                          </a:solidFill>
                        </a:rPr>
                        <a:t>Significance</a:t>
                      </a:r>
                    </a:p>
                  </a:txBody>
                  <a:tcPr marL="68580" marR="68580" marT="34290" marB="34290">
                    <a:lnL w="12700">
                      <a:solidFill>
                        <a:srgbClr val="263238"/>
                      </a:solidFill>
                    </a:lnL>
                    <a:lnR w="12700">
                      <a:solidFill>
                        <a:srgbClr val="263238"/>
                      </a:solidFill>
                    </a:lnR>
                    <a:lnT w="12700">
                      <a:solidFill>
                        <a:srgbClr val="263238"/>
                      </a:solidFill>
                    </a:lnT>
                    <a:lnB w="12700">
                      <a:solidFill>
                        <a:srgbClr val="263238"/>
                      </a:solidFill>
                    </a:lnB>
                    <a:solidFill>
                      <a:srgbClr val="1565C0"/>
                    </a:solidFill>
                  </a:tcPr>
                </a:tc>
              </a:tr>
              <a:tr h="320040">
                <a:tc>
                  <a:txBody>
                    <a:bodyPr/>
                    <a:lstStyle/>
                    <a:p>
                      <a:pPr algn="l"/>
                      <a:r>
                        <a:rPr lang="en-US" sz="1000" dirty="0">
                          <a:solidFill>
                            <a:srgbClr val="333333"/>
                          </a:solidFill>
                        </a:rPr>
                        <a:t>First crewed lunar flight since 1972</a:t>
                      </a:r>
                    </a:p>
                  </a:txBody>
                  <a:tcPr marL="68580" marR="68580" marT="34290" marB="34290">
                    <a:lnL w="12700">
                      <a:solidFill>
                        <a:srgbClr val="263238"/>
                      </a:solidFill>
                    </a:lnL>
                    <a:lnR w="12700">
                      <a:solidFill>
                        <a:srgbClr val="263238"/>
                      </a:solidFill>
                    </a:lnR>
                    <a:lnT w="12700">
                      <a:solidFill>
                        <a:srgbClr val="263238"/>
                      </a:solidFill>
                    </a:lnT>
                    <a:lnB w="12700">
                      <a:solidFill>
                        <a:srgbClr val="263238"/>
                      </a:solidFill>
                    </a:lnB>
                  </a:tcPr>
                </a:tc>
                <a:tc>
                  <a:txBody>
                    <a:bodyPr/>
                    <a:lstStyle/>
                    <a:p>
                      <a:pPr algn="l"/>
                      <a:r>
                        <a:rPr lang="en-US" sz="1000" dirty="0">
                          <a:solidFill>
                            <a:srgbClr val="333333"/>
                          </a:solidFill>
                        </a:rPr>
                        <a:t>4 astronauts to lunar distance</a:t>
                      </a:r>
                    </a:p>
                  </a:txBody>
                  <a:tcPr marL="68580" marR="68580" marT="34290" marB="34290">
                    <a:lnL w="12700">
                      <a:solidFill>
                        <a:srgbClr val="263238"/>
                      </a:solidFill>
                    </a:lnL>
                    <a:lnR w="12700">
                      <a:solidFill>
                        <a:srgbClr val="263238"/>
                      </a:solidFill>
                    </a:lnR>
                    <a:lnT w="12700">
                      <a:solidFill>
                        <a:srgbClr val="263238"/>
                      </a:solidFill>
                    </a:lnT>
                    <a:lnB w="12700">
                      <a:solidFill>
                        <a:srgbClr val="263238"/>
                      </a:solidFill>
                    </a:lnB>
                  </a:tcPr>
                </a:tc>
                <a:tc>
                  <a:txBody>
                    <a:bodyPr/>
                    <a:lstStyle/>
                    <a:p>
                      <a:pPr algn="l"/>
                      <a:r>
                        <a:rPr lang="en-US" sz="1000" dirty="0">
                          <a:solidFill>
                            <a:srgbClr val="333333"/>
                          </a:solidFill>
                        </a:rPr>
                        <a:t>Proves Orion + SLS crew-rated</a:t>
                      </a:r>
                    </a:p>
                  </a:txBody>
                  <a:tcPr marL="68580" marR="68580" marT="34290" marB="34290">
                    <a:lnL w="12700">
                      <a:solidFill>
                        <a:srgbClr val="263238"/>
                      </a:solidFill>
                    </a:lnL>
                    <a:lnR w="12700">
                      <a:solidFill>
                        <a:srgbClr val="263238"/>
                      </a:solidFill>
                    </a:lnR>
                    <a:lnT w="12700">
                      <a:solidFill>
                        <a:srgbClr val="263238"/>
                      </a:solidFill>
                    </a:lnT>
                    <a:lnB w="12700">
                      <a:solidFill>
                        <a:srgbClr val="263238"/>
                      </a:solidFill>
                    </a:lnB>
                  </a:tcPr>
                </a:tc>
              </a:tr>
              <a:tr h="320040">
                <a:tc>
                  <a:txBody>
                    <a:bodyPr/>
                    <a:lstStyle/>
                    <a:p>
                      <a:pPr algn="l"/>
                      <a:r>
                        <a:rPr lang="en-US" sz="1000" dirty="0">
                          <a:solidFill>
                            <a:srgbClr val="FFFFFF"/>
                          </a:solidFill>
                        </a:rPr>
                        <a:t>First Canadian beyond LEO</a:t>
                      </a:r>
                    </a:p>
                  </a:txBody>
                  <a:tcPr marL="68580" marR="68580" marT="34290" marB="34290">
                    <a:lnL w="12700">
                      <a:solidFill>
                        <a:srgbClr val="263238"/>
                      </a:solidFill>
                    </a:lnL>
                    <a:lnR w="12700">
                      <a:solidFill>
                        <a:srgbClr val="263238"/>
                      </a:solidFill>
                    </a:lnR>
                    <a:lnT w="12700">
                      <a:solidFill>
                        <a:srgbClr val="263238"/>
                      </a:solidFill>
                    </a:lnT>
                    <a:lnB w="12700">
                      <a:solidFill>
                        <a:srgbClr val="263238"/>
                      </a:solidFill>
                    </a:lnB>
                    <a:solidFill>
                      <a:srgbClr val="0D2137"/>
                    </a:solidFill>
                  </a:tcPr>
                </a:tc>
                <a:tc>
                  <a:txBody>
                    <a:bodyPr/>
                    <a:lstStyle/>
                    <a:p>
                      <a:pPr algn="l"/>
                      <a:r>
                        <a:rPr lang="en-US" sz="1000" dirty="0">
                          <a:solidFill>
                            <a:srgbClr val="FFFFFF"/>
                          </a:solidFill>
                        </a:rPr>
                        <a:t>Jeremy Hansen (CSA)</a:t>
                      </a:r>
                    </a:p>
                  </a:txBody>
                  <a:tcPr marL="68580" marR="68580" marT="34290" marB="34290">
                    <a:lnL w="12700">
                      <a:solidFill>
                        <a:srgbClr val="263238"/>
                      </a:solidFill>
                    </a:lnL>
                    <a:lnR w="12700">
                      <a:solidFill>
                        <a:srgbClr val="263238"/>
                      </a:solidFill>
                    </a:lnR>
                    <a:lnT w="12700">
                      <a:solidFill>
                        <a:srgbClr val="263238"/>
                      </a:solidFill>
                    </a:lnT>
                    <a:lnB w="12700">
                      <a:solidFill>
                        <a:srgbClr val="263238"/>
                      </a:solidFill>
                    </a:lnB>
                    <a:solidFill>
                      <a:srgbClr val="0D2137"/>
                    </a:solidFill>
                  </a:tcPr>
                </a:tc>
                <a:tc>
                  <a:txBody>
                    <a:bodyPr/>
                    <a:lstStyle/>
                    <a:p>
                      <a:pPr algn="l"/>
                      <a:r>
                        <a:rPr lang="en-US" sz="1000" dirty="0">
                          <a:solidFill>
                            <a:srgbClr val="FFFFFF"/>
                          </a:solidFill>
                        </a:rPr>
                        <a:t>International exploration partnership</a:t>
                      </a:r>
                    </a:p>
                  </a:txBody>
                  <a:tcPr marL="68580" marR="68580" marT="34290" marB="34290">
                    <a:lnL w="12700">
                      <a:solidFill>
                        <a:srgbClr val="263238"/>
                      </a:solidFill>
                    </a:lnL>
                    <a:lnR w="12700">
                      <a:solidFill>
                        <a:srgbClr val="263238"/>
                      </a:solidFill>
                    </a:lnR>
                    <a:lnT w="12700">
                      <a:solidFill>
                        <a:srgbClr val="263238"/>
                      </a:solidFill>
                    </a:lnT>
                    <a:lnB w="12700">
                      <a:solidFill>
                        <a:srgbClr val="263238"/>
                      </a:solidFill>
                    </a:lnB>
                    <a:solidFill>
                      <a:srgbClr val="0D2137"/>
                    </a:solidFill>
                  </a:tcPr>
                </a:tc>
              </a:tr>
              <a:tr h="320040">
                <a:tc>
                  <a:txBody>
                    <a:bodyPr/>
                    <a:lstStyle/>
                    <a:p>
                      <a:pPr algn="l"/>
                      <a:r>
                        <a:rPr lang="en-US" sz="1000" dirty="0">
                          <a:solidFill>
                            <a:srgbClr val="333333"/>
                          </a:solidFill>
                        </a:rPr>
                        <a:t>Crew photos of Earth from Moon</a:t>
                      </a:r>
                    </a:p>
                  </a:txBody>
                  <a:tcPr marL="68580" marR="68580" marT="34290" marB="34290">
                    <a:lnL w="12700">
                      <a:solidFill>
                        <a:srgbClr val="263238"/>
                      </a:solidFill>
                    </a:lnL>
                    <a:lnR w="12700">
                      <a:solidFill>
                        <a:srgbClr val="263238"/>
                      </a:solidFill>
                    </a:lnR>
                    <a:lnT w="12700">
                      <a:solidFill>
                        <a:srgbClr val="263238"/>
                      </a:solidFill>
                    </a:lnT>
                    <a:lnB w="12700">
                      <a:solidFill>
                        <a:srgbClr val="263238"/>
                      </a:solidFill>
                    </a:lnB>
                  </a:tcPr>
                </a:tc>
                <a:tc>
                  <a:txBody>
                    <a:bodyPr/>
                    <a:lstStyle/>
                    <a:p>
                      <a:pPr algn="l"/>
                      <a:r>
                        <a:rPr lang="en-US" sz="1000" dirty="0">
                          <a:solidFill>
                            <a:srgbClr val="333333"/>
                          </a:solidFill>
                        </a:rPr>
                        <a:t>7 hrs of observations</a:t>
                      </a:r>
                    </a:p>
                  </a:txBody>
                  <a:tcPr marL="68580" marR="68580" marT="34290" marB="34290">
                    <a:lnL w="12700">
                      <a:solidFill>
                        <a:srgbClr val="263238"/>
                      </a:solidFill>
                    </a:lnL>
                    <a:lnR w="12700">
                      <a:solidFill>
                        <a:srgbClr val="263238"/>
                      </a:solidFill>
                    </a:lnR>
                    <a:lnT w="12700">
                      <a:solidFill>
                        <a:srgbClr val="263238"/>
                      </a:solidFill>
                    </a:lnT>
                    <a:lnB w="12700">
                      <a:solidFill>
                        <a:srgbClr val="263238"/>
                      </a:solidFill>
                    </a:lnB>
                  </a:tcPr>
                </a:tc>
                <a:tc>
                  <a:txBody>
                    <a:bodyPr/>
                    <a:lstStyle/>
                    <a:p>
                      <a:pPr algn="l"/>
                      <a:r>
                        <a:rPr lang="en-US" sz="1000" dirty="0">
                          <a:solidFill>
                            <a:srgbClr val="333333"/>
                          </a:solidFill>
                        </a:rPr>
                        <a:t>New science + public engagement</a:t>
                      </a:r>
                    </a:p>
                  </a:txBody>
                  <a:tcPr marL="68580" marR="68580" marT="34290" marB="34290">
                    <a:lnL w="12700">
                      <a:solidFill>
                        <a:srgbClr val="263238"/>
                      </a:solidFill>
                    </a:lnL>
                    <a:lnR w="12700">
                      <a:solidFill>
                        <a:srgbClr val="263238"/>
                      </a:solidFill>
                    </a:lnR>
                    <a:lnT w="12700">
                      <a:solidFill>
                        <a:srgbClr val="263238"/>
                      </a:solidFill>
                    </a:lnT>
                    <a:lnB w="12700">
                      <a:solidFill>
                        <a:srgbClr val="263238"/>
                      </a:solidFill>
                    </a:lnB>
                  </a:tcPr>
                </a:tc>
              </a:tr>
              <a:tr h="320040">
                <a:tc>
                  <a:txBody>
                    <a:bodyPr/>
                    <a:lstStyle/>
                    <a:p>
                      <a:pPr algn="l"/>
                      <a:r>
                        <a:rPr lang="en-US" sz="1000" dirty="0">
                          <a:solidFill>
                            <a:srgbClr val="FFFFFF"/>
                          </a:solidFill>
                        </a:rPr>
                        <a:t>Solar eclipse from far side</a:t>
                      </a:r>
                    </a:p>
                  </a:txBody>
                  <a:tcPr marL="68580" marR="68580" marT="34290" marB="34290">
                    <a:lnL w="12700">
                      <a:solidFill>
                        <a:srgbClr val="263238"/>
                      </a:solidFill>
                    </a:lnL>
                    <a:lnR w="12700">
                      <a:solidFill>
                        <a:srgbClr val="263238"/>
                      </a:solidFill>
                    </a:lnR>
                    <a:lnT w="12700">
                      <a:solidFill>
                        <a:srgbClr val="263238"/>
                      </a:solidFill>
                    </a:lnT>
                    <a:lnB w="12700">
                      <a:solidFill>
                        <a:srgbClr val="263238"/>
                      </a:solidFill>
                    </a:lnB>
                    <a:solidFill>
                      <a:srgbClr val="0D2137"/>
                    </a:solidFill>
                  </a:tcPr>
                </a:tc>
                <a:tc>
                  <a:txBody>
                    <a:bodyPr/>
                    <a:lstStyle/>
                    <a:p>
                      <a:pPr algn="l"/>
                      <a:r>
                        <a:rPr lang="en-US" sz="1000" dirty="0">
                          <a:solidFill>
                            <a:srgbClr val="FFFFFF"/>
                          </a:solidFill>
                        </a:rPr>
                        <a:t>Captured by Orion cameras</a:t>
                      </a:r>
                    </a:p>
                  </a:txBody>
                  <a:tcPr marL="68580" marR="68580" marT="34290" marB="34290">
                    <a:lnL w="12700">
                      <a:solidFill>
                        <a:srgbClr val="263238"/>
                      </a:solidFill>
                    </a:lnL>
                    <a:lnR w="12700">
                      <a:solidFill>
                        <a:srgbClr val="263238"/>
                      </a:solidFill>
                    </a:lnR>
                    <a:lnT w="12700">
                      <a:solidFill>
                        <a:srgbClr val="263238"/>
                      </a:solidFill>
                    </a:lnT>
                    <a:lnB w="12700">
                      <a:solidFill>
                        <a:srgbClr val="263238"/>
                      </a:solidFill>
                    </a:lnB>
                    <a:solidFill>
                      <a:srgbClr val="0D2137"/>
                    </a:solidFill>
                  </a:tcPr>
                </a:tc>
                <a:tc>
                  <a:txBody>
                    <a:bodyPr/>
                    <a:lstStyle/>
                    <a:p>
                      <a:pPr algn="l"/>
                      <a:r>
                        <a:rPr lang="en-US" sz="1000" dirty="0">
                          <a:solidFill>
                            <a:srgbClr val="FFFFFF"/>
                          </a:solidFill>
                        </a:rPr>
                        <a:t>Unprecedented scientific view</a:t>
                      </a:r>
                    </a:p>
                  </a:txBody>
                  <a:tcPr marL="68580" marR="68580" marT="34290" marB="34290">
                    <a:lnL w="12700">
                      <a:solidFill>
                        <a:srgbClr val="263238"/>
                      </a:solidFill>
                    </a:lnL>
                    <a:lnR w="12700">
                      <a:solidFill>
                        <a:srgbClr val="263238"/>
                      </a:solidFill>
                    </a:lnR>
                    <a:lnT w="12700">
                      <a:solidFill>
                        <a:srgbClr val="263238"/>
                      </a:solidFill>
                    </a:lnT>
                    <a:lnB w="12700">
                      <a:solidFill>
                        <a:srgbClr val="263238"/>
                      </a:solidFill>
                    </a:lnB>
                    <a:solidFill>
                      <a:srgbClr val="0D2137"/>
                    </a:solidFill>
                  </a:tcPr>
                </a:tc>
              </a:tr>
            </a:tbl>
          </a:graphicData>
        </a:graphic>
      </p:graphicFrame>
      <p:sp>
        <p:nvSpPr>
          <p:cNvPr id="205" name="TextBox 205"/>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13</a:t>
            </a:r>
          </a:p>
        </p:txBody>
      </p:sp>
    </p:spTree>
  </p:cSld>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64" name="TextBox 164"/>
          <p:cNvSpPr txBox="1"/>
          <p:nvPr/>
        </p:nvSpPr>
        <p:spPr>
          <a:xfrm>
            <a:off x="731520" y="1097280"/>
            <a:ext cx="914400" cy="1097280"/>
          </a:xfrm>
          <a:prstGeom prst="rect">
            <a:avLst/>
          </a:prstGeom>
          <a:noFill/>
        </p:spPr>
        <p:txBody>
          <a:bodyPr wrap="square" anchor="t" lIns="137160" tIns="137160" rIns="137160" bIns="137160"/>
          <a:lstStyle/>
          <a:p>
            <a:pPr algn="l"/>
            <a:r>
              <a:rPr lang="en-US" dirty="0" sz="12000" b="1">
                <a:solidFill>
                  <a:srgbClr val="58A6FF"/>
                </a:solidFill>
              </a:rPr>
              <a:t>“</a:t>
            </a:r>
          </a:p>
        </p:txBody>
      </p:sp>
      <p:sp>
        <p:nvSpPr>
          <p:cNvPr id="165" name="TextBox 165"/>
          <p:cNvSpPr txBox="1"/>
          <p:nvPr/>
        </p:nvSpPr>
        <p:spPr>
          <a:xfrm>
            <a:off x="1371600" y="1828800"/>
            <a:ext cx="9144000" cy="2743200"/>
          </a:xfrm>
          <a:prstGeom prst="rect">
            <a:avLst/>
          </a:prstGeom>
          <a:noFill/>
        </p:spPr>
        <p:txBody>
          <a:bodyPr wrap="square" anchor="t" lIns="137160" tIns="137160" rIns="137160" bIns="137160"/>
          <a:lstStyle/>
          <a:p>
            <a:pPr algn="l"/>
            <a:r>
              <a:rPr lang="en-US" dirty="0" sz="3600" i="1">
                <a:solidFill>
                  <a:srgbClr val="FFFFFF"/>
                </a:solidFill>
              </a:rPr>
              <a:t>We went to the Moon, and what we discovered was the Earth.</a:t>
            </a:r>
          </a:p>
        </p:txBody>
      </p:sp>
      <p:sp>
        <p:nvSpPr>
          <p:cNvPr id="166" name="TextBox 166"/>
          <p:cNvSpPr txBox="1"/>
          <p:nvPr/>
        </p:nvSpPr>
        <p:spPr>
          <a:xfrm>
            <a:off x="9875520" y="3840480"/>
            <a:ext cx="914400" cy="1097280"/>
          </a:xfrm>
          <a:prstGeom prst="rect">
            <a:avLst/>
          </a:prstGeom>
          <a:noFill/>
        </p:spPr>
        <p:txBody>
          <a:bodyPr wrap="square" anchor="t" lIns="137160" tIns="137160" rIns="137160" bIns="137160"/>
          <a:lstStyle/>
          <a:p>
            <a:pPr algn="r"/>
            <a:r>
              <a:rPr lang="en-US" dirty="0" sz="12000" b="1">
                <a:solidFill>
                  <a:srgbClr val="58A6FF"/>
                </a:solidFill>
              </a:rPr>
              <a:t>”</a:t>
            </a:r>
          </a:p>
        </p:txBody>
      </p:sp>
      <p:sp>
        <p:nvSpPr>
          <p:cNvPr id="167" name="TextBox 167"/>
          <p:cNvSpPr txBox="1"/>
          <p:nvPr/>
        </p:nvSpPr>
        <p:spPr>
          <a:xfrm>
            <a:off x="1371600" y="4754880"/>
            <a:ext cx="9144000" cy="457200"/>
          </a:xfrm>
          <a:prstGeom prst="rect">
            <a:avLst/>
          </a:prstGeom>
          <a:noFill/>
        </p:spPr>
        <p:txBody>
          <a:bodyPr wrap="square" anchor="t" lIns="137160" tIns="137160" rIns="137160" bIns="137160"/>
          <a:lstStyle/>
          <a:p>
            <a:pPr algn="l"/>
            <a:r>
              <a:rPr lang="en-US" dirty="0" sz="1600">
                <a:solidFill>
                  <a:srgbClr val="8B949E"/>
                </a:solidFill>
              </a:rPr>
              <a:t>— The View from Artemis II, Echoing the words of Apollo astronauts — renewed for a new generation</a:t>
            </a:r>
          </a:p>
        </p:txBody>
      </p:sp>
      <p:sp>
        <p:nvSpPr>
          <p:cNvPr id="168" name="Rectangle 168"/>
          <p:cNvSpPr/>
          <p:nvPr/>
        </p:nvSpPr>
        <p:spPr>
          <a:xfrm>
            <a:off x="1371600" y="5303520"/>
            <a:ext cx="2743200" cy="54864"/>
          </a:xfrm>
          <a:prstGeom prst="rect">
            <a:avLst/>
          </a:prstGeom>
          <a:solidFill>
            <a:srgbClr val="58A6FF"/>
          </a:solidFill>
        </p:spPr>
      </p:sp>
      <p:sp>
        <p:nvSpPr>
          <p:cNvPr id="206" name="TextBox 206"/>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14</a:t>
            </a:r>
          </a:p>
        </p:txBody>
      </p:sp>
    </p:spTree>
  </p:cSld>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E27"/>
        </a:solidFill>
        <a:effectLst/>
      </p:bgPr>
    </p:bg>
    <p:spTree>
      <p:nvGrpSpPr>
        <p:cNvPr id="1" name=""/>
        <p:cNvGrpSpPr/>
        <p:nvPr/>
      </p:nvGrpSpPr>
      <p:grpSpPr>
        <a:xfrm>
          <a:off x="0" y="0"/>
          <a:ext cx="0" cy="0"/>
          <a:chOff x="0" y="0"/>
          <a:chExt cx="0" cy="0"/>
        </a:xfrm>
      </p:grpSpPr>
      <p:sp>
        <p:nvSpPr>
          <p:cNvPr id="169" name="Rectangle 169"/>
          <p:cNvSpPr/>
          <p:nvPr/>
        </p:nvSpPr>
        <p:spPr>
          <a:xfrm>
            <a:off x="0" y="0"/>
            <a:ext cx="12191695" cy="45720"/>
          </a:xfrm>
          <a:prstGeom prst="rect">
            <a:avLst/>
          </a:prstGeom>
          <a:solidFill>
            <a:srgbClr val="4FC3F7"/>
          </a:solidFill>
        </p:spPr>
      </p:sp>
      <p:sp>
        <p:nvSpPr>
          <p:cNvPr id="170" name="TextBox 170"/>
          <p:cNvSpPr txBox="1"/>
          <p:nvPr/>
        </p:nvSpPr>
        <p:spPr>
          <a:xfrm>
            <a:off x="457200" y="365760"/>
            <a:ext cx="10972800" cy="731520"/>
          </a:xfrm>
          <a:prstGeom prst="rect">
            <a:avLst/>
          </a:prstGeom>
          <a:noFill/>
        </p:spPr>
        <p:txBody>
          <a:bodyPr wrap="square" anchor="t" lIns="137160" tIns="137160" rIns="137160" bIns="137160"/>
          <a:lstStyle/>
          <a:p>
            <a:pPr algn="ctr"/>
            <a:r>
              <a:rPr lang="en-US" dirty="0" sz="4000" b="1">
                <a:solidFill>
                  <a:srgbClr val="FFFFFF"/>
                </a:solidFill>
              </a:rPr>
              <a:t>Be Part of the Journey</a:t>
            </a:r>
          </a:p>
        </p:txBody>
      </p:sp>
      <p:sp>
        <p:nvSpPr>
          <p:cNvPr id="171" name="TextBox 171"/>
          <p:cNvSpPr txBox="1"/>
          <p:nvPr/>
        </p:nvSpPr>
        <p:spPr>
          <a:xfrm>
            <a:off x="1371600" y="1097280"/>
            <a:ext cx="9144000" cy="457200"/>
          </a:xfrm>
          <a:prstGeom prst="rect">
            <a:avLst/>
          </a:prstGeom>
          <a:noFill/>
        </p:spPr>
        <p:txBody>
          <a:bodyPr wrap="square" anchor="t" lIns="137160" tIns="137160" rIns="137160" bIns="137160"/>
          <a:lstStyle/>
          <a:p>
            <a:pPr algn="ctr"/>
            <a:r>
              <a:rPr lang="en-US" dirty="0" sz="1800">
                <a:solidFill>
                  <a:srgbClr val="90CAF9"/>
                </a:solidFill>
              </a:rPr>
              <a:t>The Artemis generation is here. Here's how you can get involved:</a:t>
            </a:r>
          </a:p>
        </p:txBody>
      </p:sp>
      <p:sp>
        <p:nvSpPr>
          <p:cNvPr id="172" name="Rectangle 172"/>
          <p:cNvSpPr/>
          <p:nvPr/>
        </p:nvSpPr>
        <p:spPr>
          <a:xfrm>
            <a:off x="457200" y="1783080"/>
            <a:ext cx="3474720" cy="1645920"/>
          </a:xfrm>
          <a:prstGeom prst="roundRect">
            <a:avLst/>
          </a:prstGeom>
          <a:solidFill>
            <a:srgbClr val="0D47A1"/>
          </a:solidFill>
        </p:spPr>
      </p:sp>
      <p:sp>
        <p:nvSpPr>
          <p:cNvPr id="173" name="TextBox 173"/>
          <p:cNvSpPr txBox="1"/>
          <p:nvPr/>
        </p:nvSpPr>
        <p:spPr>
          <a:xfrm>
            <a:off x="640080" y="1920240"/>
            <a:ext cx="3108960" cy="365760"/>
          </a:xfrm>
          <a:prstGeom prst="rect">
            <a:avLst/>
          </a:prstGeom>
          <a:noFill/>
        </p:spPr>
        <p:txBody>
          <a:bodyPr wrap="square" anchor="t" lIns="137160" tIns="137160" rIns="137160" bIns="137160"/>
          <a:lstStyle/>
          <a:p>
            <a:pPr algn="l"/>
            <a:r>
              <a:rPr lang="en-US" dirty="0" sz="1400" b="1">
                <a:solidFill>
                  <a:srgbClr val="4FC3F7"/>
                </a:solidFill>
              </a:rPr>
              <a:t>🚀  FOLLOW THE MISSION</a:t>
            </a:r>
          </a:p>
        </p:txBody>
      </p:sp>
      <p:sp>
        <p:nvSpPr>
          <p:cNvPr id="174" name="TextBox 174"/>
          <p:cNvSpPr txBox="1"/>
          <p:nvPr/>
        </p:nvSpPr>
        <p:spPr>
          <a:xfrm>
            <a:off x="640080" y="2331720"/>
            <a:ext cx="3108960" cy="1005840"/>
          </a:xfrm>
          <a:prstGeom prst="rect">
            <a:avLst/>
          </a:prstGeom>
          <a:noFill/>
        </p:spPr>
        <p:txBody>
          <a:bodyPr wrap="square" anchor="t" lIns="137160" tIns="137160" rIns="137160" bIns="137160"/>
          <a:lstStyle/>
          <a:p>
            <a:pPr algn="l"/>
            <a:r>
              <a:rPr lang="en-US" dirty="0" sz="1200">
                <a:solidFill>
                  <a:srgbClr val="B0BEC5"/>
                </a:solidFill>
              </a:rPr>
              <a:t>nasa.gov/artemis
@NASA on social media
NASA+ streaming platform
Artemis II multimedia gallery</a:t>
            </a:r>
          </a:p>
        </p:txBody>
      </p:sp>
      <p:sp>
        <p:nvSpPr>
          <p:cNvPr id="175" name="Rectangle 175"/>
          <p:cNvSpPr/>
          <p:nvPr/>
        </p:nvSpPr>
        <p:spPr>
          <a:xfrm>
            <a:off x="4343400" y="1783080"/>
            <a:ext cx="3474720" cy="1645920"/>
          </a:xfrm>
          <a:prstGeom prst="roundRect">
            <a:avLst/>
          </a:prstGeom>
          <a:solidFill>
            <a:srgbClr val="0D47A1"/>
          </a:solidFill>
        </p:spPr>
      </p:sp>
      <p:sp>
        <p:nvSpPr>
          <p:cNvPr id="176" name="TextBox 176"/>
          <p:cNvSpPr txBox="1"/>
          <p:nvPr/>
        </p:nvSpPr>
        <p:spPr>
          <a:xfrm>
            <a:off x="4526280" y="1920240"/>
            <a:ext cx="3108960" cy="365760"/>
          </a:xfrm>
          <a:prstGeom prst="rect">
            <a:avLst/>
          </a:prstGeom>
          <a:noFill/>
        </p:spPr>
        <p:txBody>
          <a:bodyPr wrap="square" anchor="t" lIns="137160" tIns="137160" rIns="137160" bIns="137160"/>
          <a:lstStyle/>
          <a:p>
            <a:pPr algn="l"/>
            <a:r>
              <a:rPr lang="en-US" dirty="0" sz="1400" b="1">
                <a:solidFill>
                  <a:srgbClr val="4FC3F7"/>
                </a:solidFill>
              </a:rPr>
              <a:t>🎓  STEM &amp; EDUCATION</a:t>
            </a:r>
          </a:p>
        </p:txBody>
      </p:sp>
      <p:sp>
        <p:nvSpPr>
          <p:cNvPr id="177" name="TextBox 177"/>
          <p:cNvSpPr txBox="1"/>
          <p:nvPr/>
        </p:nvSpPr>
        <p:spPr>
          <a:xfrm>
            <a:off x="4526280" y="2331720"/>
            <a:ext cx="3108960" cy="1005840"/>
          </a:xfrm>
          <a:prstGeom prst="rect">
            <a:avLst/>
          </a:prstGeom>
          <a:noFill/>
        </p:spPr>
        <p:txBody>
          <a:bodyPr wrap="square" anchor="t" lIns="137160" tIns="137160" rIns="137160" bIns="137160"/>
          <a:lstStyle/>
          <a:p>
            <a:pPr algn="l"/>
            <a:r>
              <a:rPr lang="en-US" dirty="0" sz="1200">
                <a:solidFill>
                  <a:srgbClr val="B0BEC5"/>
                </a:solidFill>
              </a:rPr>
              <a:t>NASA STEM Engagement
Artemis Student Challenges
NASA Internships Program
Space Grant Consortium</a:t>
            </a:r>
          </a:p>
        </p:txBody>
      </p:sp>
      <p:sp>
        <p:nvSpPr>
          <p:cNvPr id="178" name="Rectangle 178"/>
          <p:cNvSpPr/>
          <p:nvPr/>
        </p:nvSpPr>
        <p:spPr>
          <a:xfrm>
            <a:off x="8229600" y="1783080"/>
            <a:ext cx="3474720" cy="1645920"/>
          </a:xfrm>
          <a:prstGeom prst="roundRect">
            <a:avLst/>
          </a:prstGeom>
          <a:solidFill>
            <a:srgbClr val="0D47A1"/>
          </a:solidFill>
        </p:spPr>
      </p:sp>
      <p:sp>
        <p:nvSpPr>
          <p:cNvPr id="179" name="TextBox 179"/>
          <p:cNvSpPr txBox="1"/>
          <p:nvPr/>
        </p:nvSpPr>
        <p:spPr>
          <a:xfrm>
            <a:off x="8412480" y="1920240"/>
            <a:ext cx="3108960" cy="365760"/>
          </a:xfrm>
          <a:prstGeom prst="rect">
            <a:avLst/>
          </a:prstGeom>
          <a:noFill/>
        </p:spPr>
        <p:txBody>
          <a:bodyPr wrap="square" anchor="t" lIns="137160" tIns="137160" rIns="137160" bIns="137160"/>
          <a:lstStyle/>
          <a:p>
            <a:pPr algn="l"/>
            <a:r>
              <a:rPr lang="en-US" dirty="0" sz="1400" b="1">
                <a:solidFill>
                  <a:srgbClr val="4FC3F7"/>
                </a:solidFill>
              </a:rPr>
              <a:t>🔭  CITIZEN SCIENCE</a:t>
            </a:r>
          </a:p>
        </p:txBody>
      </p:sp>
      <p:sp>
        <p:nvSpPr>
          <p:cNvPr id="180" name="TextBox 180"/>
          <p:cNvSpPr txBox="1"/>
          <p:nvPr/>
        </p:nvSpPr>
        <p:spPr>
          <a:xfrm>
            <a:off x="8412480" y="2331720"/>
            <a:ext cx="3108960" cy="1005840"/>
          </a:xfrm>
          <a:prstGeom prst="rect">
            <a:avLst/>
          </a:prstGeom>
          <a:noFill/>
        </p:spPr>
        <p:txBody>
          <a:bodyPr wrap="square" anchor="t" lIns="137160" tIns="137160" rIns="137160" bIns="137160"/>
          <a:lstStyle/>
          <a:p>
            <a:pPr algn="l"/>
            <a:r>
              <a:rPr lang="en-US" dirty="0" sz="1200">
                <a:solidFill>
                  <a:srgbClr val="B0BEC5"/>
                </a:solidFill>
              </a:rPr>
              <a:t>science.nasa.gov/citizenscience
Moon observation projects
Artemis photo analysis
Globe Observer app</a:t>
            </a:r>
          </a:p>
        </p:txBody>
      </p:sp>
      <p:sp>
        <p:nvSpPr>
          <p:cNvPr id="181" name="Rectangle 181"/>
          <p:cNvSpPr/>
          <p:nvPr/>
        </p:nvSpPr>
        <p:spPr>
          <a:xfrm>
            <a:off x="457200" y="3703320"/>
            <a:ext cx="3474720" cy="1645920"/>
          </a:xfrm>
          <a:prstGeom prst="roundRect">
            <a:avLst/>
          </a:prstGeom>
          <a:solidFill>
            <a:srgbClr val="0D47A1"/>
          </a:solidFill>
        </p:spPr>
      </p:sp>
      <p:sp>
        <p:nvSpPr>
          <p:cNvPr id="182" name="TextBox 182"/>
          <p:cNvSpPr txBox="1"/>
          <p:nvPr/>
        </p:nvSpPr>
        <p:spPr>
          <a:xfrm>
            <a:off x="640080" y="3840480"/>
            <a:ext cx="3108960" cy="365760"/>
          </a:xfrm>
          <a:prstGeom prst="rect">
            <a:avLst/>
          </a:prstGeom>
          <a:noFill/>
        </p:spPr>
        <p:txBody>
          <a:bodyPr wrap="square" anchor="t" lIns="137160" tIns="137160" rIns="137160" bIns="137160"/>
          <a:lstStyle/>
          <a:p>
            <a:pPr algn="l"/>
            <a:r>
              <a:rPr lang="en-US" dirty="0" sz="1400" b="1">
                <a:solidFill>
                  <a:srgbClr val="FFD54F"/>
                </a:solidFill>
              </a:rPr>
              <a:t>👩‍🚀  CAREERS AT NASA</a:t>
            </a:r>
          </a:p>
        </p:txBody>
      </p:sp>
      <p:sp>
        <p:nvSpPr>
          <p:cNvPr id="183" name="TextBox 183"/>
          <p:cNvSpPr txBox="1"/>
          <p:nvPr/>
        </p:nvSpPr>
        <p:spPr>
          <a:xfrm>
            <a:off x="640080" y="4251960"/>
            <a:ext cx="3108960" cy="1005840"/>
          </a:xfrm>
          <a:prstGeom prst="rect">
            <a:avLst/>
          </a:prstGeom>
          <a:noFill/>
        </p:spPr>
        <p:txBody>
          <a:bodyPr wrap="square" anchor="t" lIns="137160" tIns="137160" rIns="137160" bIns="137160"/>
          <a:lstStyle/>
          <a:p>
            <a:pPr algn="l"/>
            <a:r>
              <a:rPr lang="en-US" dirty="0" sz="1200">
                <a:solidFill>
                  <a:srgbClr val="B0BEC5"/>
                </a:solidFill>
              </a:rPr>
              <a:t>nasajobs.nasa.gov
Astronaut applications
Engineering &amp; Science roles
Contractor opportunities</a:t>
            </a:r>
          </a:p>
        </p:txBody>
      </p:sp>
      <p:sp>
        <p:nvSpPr>
          <p:cNvPr id="184" name="Rectangle 184"/>
          <p:cNvSpPr/>
          <p:nvPr/>
        </p:nvSpPr>
        <p:spPr>
          <a:xfrm>
            <a:off x="4343400" y="3703320"/>
            <a:ext cx="3474720" cy="1645920"/>
          </a:xfrm>
          <a:prstGeom prst="roundRect">
            <a:avLst/>
          </a:prstGeom>
          <a:solidFill>
            <a:srgbClr val="0D47A1"/>
          </a:solidFill>
        </p:spPr>
      </p:sp>
      <p:sp>
        <p:nvSpPr>
          <p:cNvPr id="185" name="TextBox 185"/>
          <p:cNvSpPr txBox="1"/>
          <p:nvPr/>
        </p:nvSpPr>
        <p:spPr>
          <a:xfrm>
            <a:off x="4526280" y="3840480"/>
            <a:ext cx="3108960" cy="365760"/>
          </a:xfrm>
          <a:prstGeom prst="rect">
            <a:avLst/>
          </a:prstGeom>
          <a:noFill/>
        </p:spPr>
        <p:txBody>
          <a:bodyPr wrap="square" anchor="t" lIns="137160" tIns="137160" rIns="137160" bIns="137160"/>
          <a:lstStyle/>
          <a:p>
            <a:pPr algn="l"/>
            <a:r>
              <a:rPr lang="en-US" dirty="0" sz="1400" b="1">
                <a:solidFill>
                  <a:srgbClr val="FFD54F"/>
                </a:solidFill>
              </a:rPr>
              <a:t>🌍  INTERNATIONAL PARTNERS</a:t>
            </a:r>
          </a:p>
        </p:txBody>
      </p:sp>
      <p:sp>
        <p:nvSpPr>
          <p:cNvPr id="186" name="TextBox 186"/>
          <p:cNvSpPr txBox="1"/>
          <p:nvPr/>
        </p:nvSpPr>
        <p:spPr>
          <a:xfrm>
            <a:off x="4526280" y="4251960"/>
            <a:ext cx="3108960" cy="1005840"/>
          </a:xfrm>
          <a:prstGeom prst="rect">
            <a:avLst/>
          </a:prstGeom>
          <a:noFill/>
        </p:spPr>
        <p:txBody>
          <a:bodyPr wrap="square" anchor="t" lIns="137160" tIns="137160" rIns="137160" bIns="137160"/>
          <a:lstStyle/>
          <a:p>
            <a:pPr algn="l"/>
            <a:r>
              <a:rPr lang="en-US" dirty="0" sz="1200">
                <a:solidFill>
                  <a:srgbClr val="B0BEC5"/>
                </a:solidFill>
              </a:rPr>
              <a:t>ESA (European Service Module)
CSA (Jeremy Hansen's agency)
JAXA (Japan Aerospace)
Australian Space Agency</a:t>
            </a:r>
          </a:p>
        </p:txBody>
      </p:sp>
      <p:sp>
        <p:nvSpPr>
          <p:cNvPr id="187" name="Rectangle 187"/>
          <p:cNvSpPr/>
          <p:nvPr/>
        </p:nvSpPr>
        <p:spPr>
          <a:xfrm>
            <a:off x="8229600" y="3703320"/>
            <a:ext cx="3474720" cy="1645920"/>
          </a:xfrm>
          <a:prstGeom prst="roundRect">
            <a:avLst/>
          </a:prstGeom>
          <a:solidFill>
            <a:srgbClr val="0D47A1"/>
          </a:solidFill>
        </p:spPr>
      </p:sp>
      <p:sp>
        <p:nvSpPr>
          <p:cNvPr id="188" name="TextBox 188"/>
          <p:cNvSpPr txBox="1"/>
          <p:nvPr/>
        </p:nvSpPr>
        <p:spPr>
          <a:xfrm>
            <a:off x="8412480" y="3840480"/>
            <a:ext cx="3108960" cy="365760"/>
          </a:xfrm>
          <a:prstGeom prst="rect">
            <a:avLst/>
          </a:prstGeom>
          <a:noFill/>
        </p:spPr>
        <p:txBody>
          <a:bodyPr wrap="square" anchor="t" lIns="137160" tIns="137160" rIns="137160" bIns="137160"/>
          <a:lstStyle/>
          <a:p>
            <a:pPr algn="l"/>
            <a:r>
              <a:rPr lang="en-US" dirty="0" sz="1400" b="1">
                <a:solidFill>
                  <a:srgbClr val="FFD54F"/>
                </a:solidFill>
              </a:rPr>
              <a:t>📺  WATCH &amp; EXPLORE</a:t>
            </a:r>
          </a:p>
        </p:txBody>
      </p:sp>
      <p:sp>
        <p:nvSpPr>
          <p:cNvPr id="189" name="TextBox 189"/>
          <p:cNvSpPr txBox="1"/>
          <p:nvPr/>
        </p:nvSpPr>
        <p:spPr>
          <a:xfrm>
            <a:off x="8412480" y="4251960"/>
            <a:ext cx="3108960" cy="1005840"/>
          </a:xfrm>
          <a:prstGeom prst="rect">
            <a:avLst/>
          </a:prstGeom>
          <a:noFill/>
        </p:spPr>
        <p:txBody>
          <a:bodyPr wrap="square" anchor="t" lIns="137160" tIns="137160" rIns="137160" bIns="137160"/>
          <a:lstStyle/>
          <a:p>
            <a:pPr algn="l"/>
            <a:r>
              <a:rPr lang="en-US" dirty="0" sz="1200">
                <a:solidFill>
                  <a:srgbClr val="B0BEC5"/>
                </a:solidFill>
              </a:rPr>
              <a:t>"Moonbound: For All Humanity"
NASA+ documentaries
Virtual Guest Program
KSC Visitor Complex tours</a:t>
            </a:r>
          </a:p>
        </p:txBody>
      </p:sp>
      <p:sp>
        <p:nvSpPr>
          <p:cNvPr id="190" name="Rectangle 190"/>
          <p:cNvSpPr/>
          <p:nvPr/>
        </p:nvSpPr>
        <p:spPr>
          <a:xfrm>
            <a:off x="0" y="5760720"/>
            <a:ext cx="12191695" cy="1097280"/>
          </a:xfrm>
          <a:prstGeom prst="rect">
            <a:avLst/>
          </a:prstGeom>
          <a:solidFill>
            <a:srgbClr val="1565C0"/>
          </a:solidFill>
        </p:spPr>
      </p:sp>
      <p:sp>
        <p:nvSpPr>
          <p:cNvPr id="191" name="TextBox 191"/>
          <p:cNvSpPr txBox="1"/>
          <p:nvPr/>
        </p:nvSpPr>
        <p:spPr>
          <a:xfrm>
            <a:off x="457200" y="5852160"/>
            <a:ext cx="11247120" cy="365760"/>
          </a:xfrm>
          <a:prstGeom prst="rect">
            <a:avLst/>
          </a:prstGeom>
          <a:noFill/>
        </p:spPr>
        <p:txBody>
          <a:bodyPr wrap="square" anchor="t" lIns="137160" tIns="137160" rIns="137160" bIns="137160"/>
          <a:lstStyle/>
          <a:p>
            <a:pPr algn="ctr"/>
            <a:r>
              <a:rPr lang="en-US" dirty="0" sz="1600" b="1">
                <a:solidFill>
                  <a:srgbClr val="FFFFFF"/>
                </a:solidFill>
              </a:rPr>
              <a:t>nasa.gov/mission/artemis-ii  |  nasa.gov/artemis-ii-multimedia  |  #Artemis  #ArtemisII</a:t>
            </a:r>
          </a:p>
        </p:txBody>
      </p:sp>
      <p:sp>
        <p:nvSpPr>
          <p:cNvPr id="192" name="TextBox 192"/>
          <p:cNvSpPr txBox="1"/>
          <p:nvPr/>
        </p:nvSpPr>
        <p:spPr>
          <a:xfrm>
            <a:off x="457200" y="6263640"/>
            <a:ext cx="11247120" cy="365760"/>
          </a:xfrm>
          <a:prstGeom prst="rect">
            <a:avLst/>
          </a:prstGeom>
          <a:noFill/>
        </p:spPr>
        <p:txBody>
          <a:bodyPr wrap="square" anchor="t" lIns="137160" tIns="137160" rIns="137160" bIns="137160"/>
          <a:lstStyle/>
          <a:p>
            <a:pPr algn="ctr"/>
            <a:r>
              <a:rPr lang="en-US" dirty="0" sz="1100">
                <a:solidFill>
                  <a:srgbClr val="BBDEFB"/>
                </a:solidFill>
              </a:rPr>
              <a:t>Image Credits: NASA/Joel Kowsky/Bill Ingalls  •  All images courtesy of NASA</a:t>
            </a:r>
          </a:p>
        </p:txBody>
      </p:sp>
      <p:sp>
        <p:nvSpPr>
          <p:cNvPr id="207" name="TextBox 207"/>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15</a:t>
            </a:r>
          </a:p>
        </p:txBody>
      </p:sp>
    </p:spTree>
  </p:cSld>
  <p:transition spd="med">
    <p:fade/>
  </p:transition>
</p:sld>
</file>

<file path=ppt/theme/theme1.xml><?xml version="1.0" encoding="utf-8"?>
<a:theme xmlns:a="http://schemas.openxmlformats.org/drawingml/2006/main" name="HyperAgent">
  <a:themeElements>
    <a:clrScheme name="HyperAgent">
      <a:dk1>
        <a:srgbClr val="000000"/>
      </a:dk1>
      <a:lt1>
        <a:srgbClr val="FFFFFF"/>
      </a:lt1>
      <a:dk2>
        <a:srgbClr val="44546A"/>
      </a:dk2>
      <a:lt2>
        <a:srgbClr val="E7E6E6"/>
      </a:lt2>
      <a:accent1>
        <a:srgbClr val="58A6FF"/>
      </a:accent1>
      <a:accent2>
        <a:srgbClr val="3FB950"/>
      </a:accent2>
      <a:accent3>
        <a:srgbClr val="D29922"/>
      </a:accent3>
      <a:accent4>
        <a:srgbClr val="F85149"/>
      </a:accent4>
      <a:accent5>
        <a:srgbClr val="8B949E"/>
      </a:accent5>
      <a:accent6>
        <a:srgbClr val="58A6FF"/>
      </a:accent6>
      <a:hlink>
        <a:srgbClr val="58A6FF"/>
      </a:hlink>
      <a:folHlink>
        <a:srgbClr val="D29922"/>
      </a:folHlink>
    </a:clrScheme>
    <a:fontScheme name="HyperAgent">
      <a:majorFont>
        <a:latin typeface="Segoe UI"/>
        <a:ea typeface=""/>
        <a:cs typeface=""/>
      </a:majorFont>
      <a:minorFont>
        <a:latin typeface="Segoe UI"/>
        <a:ea typeface=""/>
        <a:cs typeface=""/>
      </a:minorFont>
    </a:fontScheme>
    <a:fmtScheme name="HyperAgent">
      <a:fillStyleLst>
        <a:solidFill>
          <a:schemeClr val="phClr"/>
        </a:solidFill>
        <a:solidFill>
          <a:schemeClr val="phClr"/>
        </a:soli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name="HyperAgent">
  <a:themeElements>
    <a:clrScheme name="HyperAgent">
      <a:dk1>
        <a:srgbClr val="000000"/>
      </a:dk1>
      <a:lt1>
        <a:srgbClr val="FFFFFF"/>
      </a:lt1>
      <a:dk2>
        <a:srgbClr val="44546A"/>
      </a:dk2>
      <a:lt2>
        <a:srgbClr val="E7E6E6"/>
      </a:lt2>
      <a:accent1>
        <a:srgbClr val="58A6FF"/>
      </a:accent1>
      <a:accent2>
        <a:srgbClr val="3FB950"/>
      </a:accent2>
      <a:accent3>
        <a:srgbClr val="D29922"/>
      </a:accent3>
      <a:accent4>
        <a:srgbClr val="F85149"/>
      </a:accent4>
      <a:accent5>
        <a:srgbClr val="8B949E"/>
      </a:accent5>
      <a:accent6>
        <a:srgbClr val="58A6FF"/>
      </a:accent6>
      <a:hlink>
        <a:srgbClr val="58A6FF"/>
      </a:hlink>
      <a:folHlink>
        <a:srgbClr val="D29922"/>
      </a:folHlink>
    </a:clrScheme>
    <a:fontScheme name="HyperAgent">
      <a:majorFont>
        <a:latin typeface="Segoe UI"/>
        <a:ea typeface=""/>
        <a:cs typeface=""/>
      </a:majorFont>
      <a:minorFont>
        <a:latin typeface="Segoe UI"/>
        <a:ea typeface=""/>
        <a:cs typeface=""/>
      </a:minorFont>
    </a:fontScheme>
    <a:fmtScheme name="HyperAgent">
      <a:fillStyleLst>
        <a:solidFill>
          <a:schemeClr val="phClr"/>
        </a:solidFill>
        <a:solidFill>
          <a:schemeClr val="phClr"/>
        </a:soli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Hyperlight PPTX</Application>
  <Slides>16</Slides>
</Properties>
</file>

<file path=docProps/core.xml><?xml version="1.0" encoding="utf-8"?>
<cp:coreProperties xmlns:cp="http://schemas.openxmlformats.org/package/2006/metadata/core-properties" xmlns:dc="http://purl.org/dc/elements/1.1/" xmlns:dcterms="http://purl.org/dc/terms/" xmlns:xsi="http://www.w3.org/2001/XMLSchema-instance">
  <dc:title>Presentation</dc:title>
  <dc:creator>Hyperlight PPTX</dc:creator>
  <dcterms:created xsi:type="dcterms:W3CDTF">2026-04-16T14:49:41Z</dcterms:created>
  <dcterms:modified xsi:type="dcterms:W3CDTF">2026-04-16T14:49:41Z</dcterms:modified>
</cp:coreProperties>
</file>