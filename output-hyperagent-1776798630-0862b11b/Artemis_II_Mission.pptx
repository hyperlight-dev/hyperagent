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5"/>
  </p:sldMasterIdLst>
  <p:notesMasterIdLst>
    <p:notesMasterId r:id="rId3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Master" Target="slideMasters/slideMaster1.xml"/><Relationship Id="rId26" Type="http://schemas.openxmlformats.org/officeDocument/2006/relationships/theme" Target="theme/theme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ableStyles" Target="tableStyles.xml"/><Relationship Id="rId30" Type="http://schemas.openxmlformats.org/officeDocument/2006/relationships/notesMaster" Target="notesMasters/notesMaster1.xml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lang="en-US" sz="1400" b="1"/>
              <a:t>Artemis Program Milestones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6"/>
          <c:y val="0.15"/>
          <c:w val="0.88"/>
          <c:h val="0.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Mission Duration (Days)</c:v>
                </c:pt>
              </c:strCache>
            </c:strRef>
          </c:tx>
          <c:spPr>
            <a:solidFill>
              <a:srgbClr val="2196F3"/>
            </a:solidFill>
          </c:spPr>
          <c:cat>
            <c:strRef>
              <c:f>Sheet1!$A$2:$A$5</c:f>
              <c:strCache>
                <c:ptCount val="4"/>
                <c:pt idx="0">
                  <c:v>Artemis I (2022)</c:v>
                </c:pt>
                <c:pt idx="1">
                  <c:v>Artemis II (2026)</c:v>
                </c:pt>
                <c:pt idx="2">
                  <c:v>Artemis III</c:v>
                </c:pt>
                <c:pt idx="3">
                  <c:v>Artemis IV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25.5</c:v>
                </c:pt>
                <c:pt idx="1">
                  <c:v>10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Crew Size</c:v>
                </c:pt>
              </c:strCache>
            </c:strRef>
          </c:tx>
          <c:spPr>
            <a:solidFill>
              <a:srgbClr val="4CAF50"/>
            </a:solidFill>
          </c:spPr>
          <c:cat>
            <c:strRef>
              <c:f>Sheet1!$A$2:$A$5</c:f>
              <c:strCache>
                <c:ptCount val="4"/>
                <c:pt idx="0">
                  <c:v>Artemis I (2022)</c:v>
                </c:pt>
                <c:pt idx="1">
                  <c:v>Artemis II (2026)</c:v>
                </c:pt>
                <c:pt idx="2">
                  <c:v>Artemis III</c:v>
                </c:pt>
                <c:pt idx="3">
                  <c:v>Artemis IV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delete val="0"/>
        <c:axPos val="b"/>
        <c:txPr>
          <a:bodyPr/>
          <a:lstStyle/>
          <a:p>
            <a:pPr>
              <a:defRPr>
                <a:solidFill>
                  <a:srgbClr val="FFFFFF"/>
                </a:solidFill>
              </a:defRPr>
            </a:pPr>
            <a:endParaRPr lang="en-US"/>
          </a:p>
        </c:txPr>
        <c:crossAx val="2"/>
      </c:catAx>
      <c:valAx>
        <c:axId val="2"/>
        <c:scaling>
          <c:orientation val="minMax"/>
        </c:scaling>
        <c:delete val="0"/>
        <c:axPos val="l"/>
        <c:txPr>
          <a:bodyPr/>
          <a:lstStyle/>
          <a:p>
            <a:pPr>
              <a:defRPr>
                <a:solidFill>
                  <a:srgbClr val="FFFFFF"/>
                </a:solidFill>
              </a:defRPr>
            </a:pPr>
            <a:endParaRPr lang="en-US"/>
          </a:p>
        </c:txPr>
        <c:crossAx val="1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</c:chart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Artemis II launched from Kennedy Space Center in 2026, marking the first time humans traveled beyond low Earth orbit since Apollo 17 in 1972.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Artemis II is the second mission in NASA's Artemis program. While Artemis I was an uncrewed test flight in 2022, Artemis II carried astronauts for the first time.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Artemis II mission lasted approximately 10 days. The crew traveled roughly 1.4 million miles on a free-return trajectory around the Moon.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Artemis II crew includes several historic firsts: Victor Glover is the first Black astronaut on a lunar mission, Christina Koch is the first woman, and Jeremy Hansen is the first Canadian and first non-American.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its farthest point, Artemis II reached approximately 230,000 miles from Earth, passing behind the far side of the Moon.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SLS generates 8.8 million pounds of thrust at liftoff, 15% more than the Saturn V. The Orion heat shield is the largest ever built.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SLS generates 15% more thrust than Saturn V. The heat shield protects the crew as Orion re-enters at approximately Mach 32.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image was taken by the Artemis II crew during the mission. The art002e prefix in NASA's image catalog designates official Artemis II expedition photos.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photos were taken by the Artemis II crew during their 10-day mission. The collection includes views of Earth from deep space, the lunar surface, and life aboard the Orion spacecraft.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Additional crew photography from the Artemis II mission showing the crew conducting science experiments and capturing views from beyond low Earth orbit.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stunning view captured by the Artemis II crew. For the first time in over 50 years, human eyes witnessed the Earth and Moon from this perspective in deep space.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Artemis II carried several science investigations and technology demonstrations. The AVATAR experiment used organ-on-a-chip technology to study the effects of deep space radiation and microgravity on human tissues.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photos from the Artemis II crew during their 10-day journey to the Moon and back.</a:t>
            </a:r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Artemis II crew splashed down safely in the Pacific Ocean after their historic mission, marking the successful completion of humanity's first crewed lunar flyby in over 50 years.</a:t>
            </a:r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Artemis II crew was recovered in the Pacific Ocean. Orion's heat shield withstood temperatures of 5,000 degrees Fahrenheit during re-entry at approximately 25,000 mph.</a:t>
            </a:r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Plus the first crewed lunar flyby since Apollo 17 in 1972.</a:t>
            </a:r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 nasa.gov/mission/artemis-ii for the latest.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Link1" Type="http://schemas.openxmlformats.org/officeDocument/2006/relationships/hyperlink" Target="https://github.com/hyperlight-dev/hyperagent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4" Type="http://schemas.openxmlformats.org/officeDocument/2006/relationships/chart" Target="../charts/char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Box 252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 anchor="ctr" lIns="137160" tIns="137160" rIns="137160" bIns="137160"/>
          <a:lstStyle/>
          <a:p>
            <a:pPr algn="ctr"/>
            <a:r>
              <a:rPr lang="en-US" dirty="0" sz="2800" b="1">
                <a:solidFill>
                  <a:srgbClr val="FFFFFF"/>
                </a:solidFill>
              </a:rPr>
              <a:t>⚠️ Warning: This PowerPoint deck was generated by HyperAgent.
You should carefully check and verify the contents.</a:t>
            </a:r>
          </a:p>
        </p:txBody>
      </p:sp>
      <p:sp>
        <p:nvSpPr>
          <p:cNvPr id="253" name="Hyperlink 253"/>
          <p:cNvSpPr txBox="1"/>
          <p:nvPr/>
        </p:nvSpPr>
        <p:spPr>
          <a:xfrm>
            <a:off x="2743200" y="4114800"/>
            <a:ext cx="6702552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600" u="sng" dirty="0">
                <a:solidFill>
                  <a:srgbClr val="58A6FF"/>
                </a:solidFill>
                <a:hlinkClick r:id="rIdLink1"/>
              </a:rPr>
              <a:t>Learn more about HyperAgent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>
              <a:alpha val="55000"/>
            </a:srgbClr>
          </a:solidFill>
        </p:spPr>
      </p:sp>
      <p:sp>
        <p:nvSpPr>
          <p:cNvPr id="4" name="TextBox 4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5400" b="1">
                <a:solidFill>
                  <a:srgbClr val="FFFFFF"/>
                </a:solidFill>
              </a:rPr>
              <a:t>ARTEMIS II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1800">
                <a:solidFill>
                  <a:srgbClr val="FFFFFF"/>
                </a:solidFill>
              </a:rPr>
              <a:t>Humanity's Return to Deep Space
The First Crewed Lunar Flyby in Over 50 Years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9" name="TextBox 229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7" name="TextBox 7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3200" b="1">
                <a:solidFill>
                  <a:srgbClr val="FFFFFF"/>
                </a:solidFill>
              </a:rPr>
              <a:t>MISSION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7200" y="1188720"/>
            <a:ext cx="5029200" cy="10972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>
              <a:lnSpc>
                <a:spcPts val="150"/>
              </a:lnSpc>
            </a:pPr>
            <a:r>
              <a:rPr lang="en-US" dirty="0" sz="1400">
                <a:solidFill>
                  <a:srgbClr val="FFFFFF"/>
                </a:solidFill>
              </a:rPr>
              <a:t>Artemis II was a historic 10-day mission that sent four astronauts around the Moon aboard NASA's Orion spacecraft, launched atop the Space Launch System (SLS) rocket from Kennedy Space Center's Launch Complex 39B.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7200" y="2377440"/>
            <a:ext cx="5029200" cy="10972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>
              <a:lnSpc>
                <a:spcPts val="150"/>
              </a:lnSpc>
            </a:pPr>
            <a:r>
              <a:rPr lang="en-US" dirty="0" sz="1400">
                <a:solidFill>
                  <a:srgbClr val="FFFFFF"/>
                </a:solidFill>
              </a:rPr>
              <a:t>It was the first crewed flight of the Orion spacecraft and the first time humans ventured beyond low Earth orbit since Apollo 17 in December 1972.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" y="3566160"/>
            <a:ext cx="5029200" cy="10972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>
              <a:lnSpc>
                <a:spcPts val="150"/>
              </a:lnSpc>
            </a:pPr>
            <a:r>
              <a:rPr lang="en-US" dirty="0" sz="1400">
                <a:solidFill>
                  <a:srgbClr val="FFFFFF"/>
                </a:solidFill>
              </a:rPr>
              <a:t>The crew tested critical life support, navigation, and communication systems in deep space, laying the groundwork for Artemis III which will land astronauts on the lunar surface.</a:t>
            </a:r>
          </a:p>
        </p:txBody>
      </p:sp>
      <p:pic>
        <p:nvPicPr>
          <p:cNvPr id="11" name="Image 2"/>
          <p:cNvPicPr>
            <a:picLocks noChangeAspect="1"/>
          </p:cNvPicPr>
          <p:nvPr/>
        </p:nvPicPr>
        <p:blipFill>
          <a:blip r:embed="rId3"/>
          <a:srcRect l="23820" t="0" r="23820" b="0"/>
          <a:stretch>
            <a:fillRect/>
          </a:stretch>
        </p:blipFill>
        <p:spPr>
          <a:xfrm>
            <a:off x="5760720" y="1188720"/>
            <a:ext cx="3017520" cy="3840480"/>
          </a:xfrm>
          <a:prstGeom prst="rect">
            <a:avLst/>
          </a:prstGeom>
        </p:spPr>
      </p:pic>
      <p:sp>
        <p:nvSpPr>
          <p:cNvPr id="207" name="TextBox 207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0" name="TextBox 230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2800" b="1">
                <a:solidFill>
                  <a:srgbClr val="FFFFFF"/>
                </a:solidFill>
              </a:rPr>
              <a:t>ARTEMIS II BY THE NUMBERS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1520" y="2011680"/>
            <a:ext cx="2476424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4800" b="1">
                <a:solidFill>
                  <a:srgbClr val="58A6FF"/>
                </a:solidFill>
              </a:rPr>
              <a:t>~10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1520" y="3383280"/>
            <a:ext cx="2476424" cy="5486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>
                <a:solidFill>
                  <a:srgbClr val="8B949E"/>
                </a:solidFill>
              </a:rPr>
              <a:t>DAY MISSION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345104" y="2286000"/>
            <a:ext cx="18288" cy="1828800"/>
          </a:xfrm>
          <a:prstGeom prst="rect">
            <a:avLst/>
          </a:prstGeom>
          <a:solidFill>
            <a:srgbClr val="8B949E"/>
          </a:solidFill>
        </p:spPr>
      </p:sp>
      <p:sp>
        <p:nvSpPr>
          <p:cNvPr id="16" name="TextBox 16"/>
          <p:cNvSpPr txBox="1"/>
          <p:nvPr/>
        </p:nvSpPr>
        <p:spPr>
          <a:xfrm>
            <a:off x="3482264" y="2011680"/>
            <a:ext cx="2476424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4800" b="1">
                <a:solidFill>
                  <a:srgbClr val="58A6FF"/>
                </a:solidFill>
              </a:rPr>
              <a:t>~1.4M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82264" y="3383280"/>
            <a:ext cx="2476424" cy="5486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>
                <a:solidFill>
                  <a:srgbClr val="8B949E"/>
                </a:solidFill>
              </a:rPr>
              <a:t>MILES TRAVELED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095848" y="2286000"/>
            <a:ext cx="18288" cy="1828800"/>
          </a:xfrm>
          <a:prstGeom prst="rect">
            <a:avLst/>
          </a:prstGeom>
          <a:solidFill>
            <a:srgbClr val="8B949E"/>
          </a:solidFill>
        </p:spPr>
      </p:sp>
      <p:sp>
        <p:nvSpPr>
          <p:cNvPr id="19" name="TextBox 19"/>
          <p:cNvSpPr txBox="1"/>
          <p:nvPr/>
        </p:nvSpPr>
        <p:spPr>
          <a:xfrm>
            <a:off x="6233008" y="2011680"/>
            <a:ext cx="2476424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4800" b="1">
                <a:solidFill>
                  <a:srgbClr val="58A6FF"/>
                </a:solidFill>
              </a:rPr>
              <a:t>~230K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33008" y="3383280"/>
            <a:ext cx="2476424" cy="5486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>
                <a:solidFill>
                  <a:srgbClr val="8B949E"/>
                </a:solidFill>
              </a:rPr>
              <a:t>MILES FROM EARTH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846591" y="2286000"/>
            <a:ext cx="18288" cy="1828800"/>
          </a:xfrm>
          <a:prstGeom prst="rect">
            <a:avLst/>
          </a:prstGeom>
          <a:solidFill>
            <a:srgbClr val="8B949E"/>
          </a:solidFill>
        </p:spPr>
      </p:sp>
      <p:sp>
        <p:nvSpPr>
          <p:cNvPr id="22" name="TextBox 22"/>
          <p:cNvSpPr txBox="1"/>
          <p:nvPr/>
        </p:nvSpPr>
        <p:spPr>
          <a:xfrm>
            <a:off x="8983751" y="2011680"/>
            <a:ext cx="2476424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4800" b="1">
                <a:solidFill>
                  <a:srgbClr val="58A6FF"/>
                </a:solidFill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83751" y="3383280"/>
            <a:ext cx="2476424" cy="5486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>
                <a:solidFill>
                  <a:srgbClr val="8B949E"/>
                </a:solidFill>
              </a:rPr>
              <a:t>CREW MEMBERS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4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25" name="TextBox 25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3200" b="1">
                <a:solidFill>
                  <a:srgbClr val="FFFFFF"/>
                </a:solidFill>
              </a:rPr>
              <a:t>THE ARTEMIS II CREW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74320" y="1143000"/>
            <a:ext cx="2011680" cy="3474720"/>
          </a:xfrm>
          <a:prstGeom prst="roundRect">
            <a:avLst/>
          </a:prstGeom>
          <a:solidFill>
            <a:srgbClr val="142740"/>
          </a:solidFill>
        </p:spPr>
      </p:sp>
      <p:sp>
        <p:nvSpPr>
          <p:cNvPr id="27" name="TextBox 27"/>
          <p:cNvSpPr txBox="1"/>
          <p:nvPr/>
        </p:nvSpPr>
        <p:spPr>
          <a:xfrm>
            <a:off x="365760" y="1234440"/>
            <a:ext cx="1828800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000" b="1">
                <a:solidFill>
                  <a:srgbClr val="4DA8DA"/>
                </a:solidFill>
              </a:rPr>
              <a:t>COMMANDER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65760" y="1554480"/>
            <a:ext cx="1828800" cy="4114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 b="1">
                <a:solidFill>
                  <a:srgbClr val="FFFFFF"/>
                </a:solidFill>
              </a:rPr>
              <a:t>Reid Wiseman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5760" y="1965960"/>
            <a:ext cx="1828800" cy="24688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>
              <a:lnSpc>
                <a:spcPts val="130"/>
              </a:lnSpc>
            </a:pPr>
            <a:r>
              <a:rPr lang="en-US" dirty="0" sz="1000">
                <a:solidFill>
                  <a:srgbClr val="FFFFFF"/>
                </a:solidFill>
              </a:rPr>
              <a:t>NASA Astronaut
U.S. Navy Captain
Selected 2009
Expedition 41 (ISS)
165 days in space
Leader of humanity's
return to deep space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468880" y="1143000"/>
            <a:ext cx="2011680" cy="3474720"/>
          </a:xfrm>
          <a:prstGeom prst="roundRect">
            <a:avLst/>
          </a:prstGeom>
          <a:solidFill>
            <a:srgbClr val="142740"/>
          </a:solidFill>
        </p:spPr>
      </p:sp>
      <p:sp>
        <p:nvSpPr>
          <p:cNvPr id="31" name="TextBox 31"/>
          <p:cNvSpPr txBox="1"/>
          <p:nvPr/>
        </p:nvSpPr>
        <p:spPr>
          <a:xfrm>
            <a:off x="2560320" y="1234440"/>
            <a:ext cx="1828800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000" b="1">
                <a:solidFill>
                  <a:srgbClr val="4DA8DA"/>
                </a:solidFill>
              </a:rPr>
              <a:t>PILOT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60320" y="1554480"/>
            <a:ext cx="1828800" cy="4114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 b="1">
                <a:solidFill>
                  <a:srgbClr val="FFFFFF"/>
                </a:solidFill>
              </a:rPr>
              <a:t>Victor Glover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560320" y="1965960"/>
            <a:ext cx="1828800" cy="24688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>
              <a:lnSpc>
                <a:spcPts val="130"/>
              </a:lnSpc>
            </a:pPr>
            <a:r>
              <a:rPr lang="en-US" dirty="0" sz="1000">
                <a:solidFill>
                  <a:srgbClr val="FFFFFF"/>
                </a:solidFill>
              </a:rPr>
              <a:t>NASA Astronaut
U.S. Navy Captain
Selected 2013
SpaceX Crew-1 Pilot
168 days in space
First Black astronaut
on a lunar mission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663440" y="1143000"/>
            <a:ext cx="2011680" cy="3474720"/>
          </a:xfrm>
          <a:prstGeom prst="roundRect">
            <a:avLst/>
          </a:prstGeom>
          <a:solidFill>
            <a:srgbClr val="142740"/>
          </a:solidFill>
        </p:spPr>
      </p:sp>
      <p:sp>
        <p:nvSpPr>
          <p:cNvPr id="35" name="TextBox 35"/>
          <p:cNvSpPr txBox="1"/>
          <p:nvPr/>
        </p:nvSpPr>
        <p:spPr>
          <a:xfrm>
            <a:off x="4754880" y="1234440"/>
            <a:ext cx="1828800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000" b="1">
                <a:solidFill>
                  <a:srgbClr val="4DA8DA"/>
                </a:solidFill>
              </a:rPr>
              <a:t>MISSION SPECIALIST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54880" y="1554480"/>
            <a:ext cx="1828800" cy="4114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 b="1">
                <a:solidFill>
                  <a:srgbClr val="FFFFFF"/>
                </a:solidFill>
              </a:rPr>
              <a:t>Christina Koch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754880" y="1965960"/>
            <a:ext cx="1828800" cy="24688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>
              <a:lnSpc>
                <a:spcPts val="130"/>
              </a:lnSpc>
            </a:pPr>
            <a:r>
              <a:rPr lang="en-US" dirty="0" sz="1000">
                <a:solidFill>
                  <a:srgbClr val="FFFFFF"/>
                </a:solidFill>
              </a:rPr>
              <a:t>NASA Astronaut
Electrical Engineer
Selected 2013
Record: 328-day flight
Longest by a woman
First woman on a
lunar mission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858000" y="1143000"/>
            <a:ext cx="2011680" cy="3474720"/>
          </a:xfrm>
          <a:prstGeom prst="roundRect">
            <a:avLst/>
          </a:prstGeom>
          <a:solidFill>
            <a:srgbClr val="142740"/>
          </a:solidFill>
        </p:spPr>
      </p:sp>
      <p:sp>
        <p:nvSpPr>
          <p:cNvPr id="39" name="TextBox 39"/>
          <p:cNvSpPr txBox="1"/>
          <p:nvPr/>
        </p:nvSpPr>
        <p:spPr>
          <a:xfrm>
            <a:off x="6949440" y="1234440"/>
            <a:ext cx="1828800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000" b="1">
                <a:solidFill>
                  <a:srgbClr val="4DA8DA"/>
                </a:solidFill>
              </a:rPr>
              <a:t>MISSION SPECIALIST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49440" y="1554480"/>
            <a:ext cx="1828800" cy="4114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 b="1">
                <a:solidFill>
                  <a:srgbClr val="FFFFFF"/>
                </a:solidFill>
              </a:rPr>
              <a:t>Jeremy Hansen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949440" y="1965960"/>
            <a:ext cx="1828800" cy="24688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>
              <a:lnSpc>
                <a:spcPts val="130"/>
              </a:lnSpc>
            </a:pPr>
            <a:r>
              <a:rPr lang="en-US" dirty="0" sz="1000">
                <a:solidFill>
                  <a:srgbClr val="FFFFFF"/>
                </a:solidFill>
              </a:rPr>
              <a:t>CSA Astronaut
Canadian Forces Col.
Selected 2009
Fighter pilot (CF-18)
First Canadian in
deep space &amp; first
non-American on lunar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2"/>
          <p:cNvSpPr txBox="1"/>
          <p:nvPr/>
        </p:nvSpPr>
        <p:spPr>
          <a:xfrm>
            <a:off x="457200" y="2148840"/>
            <a:ext cx="7315200" cy="18288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12000" b="1">
                <a:solidFill>
                  <a:srgbClr val="58A6FF"/>
                </a:solidFill>
              </a:rPr>
              <a:t>230K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55280" y="2880360"/>
            <a:ext cx="3657600" cy="10972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4800" b="1">
                <a:solidFill>
                  <a:srgbClr val="58A6FF"/>
                </a:solidFill>
              </a:rPr>
              <a:t>MILES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7200" y="4160520"/>
            <a:ext cx="11274552" cy="5486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2400">
                <a:solidFill>
                  <a:srgbClr val="8B949E"/>
                </a:solidFill>
              </a:rPr>
              <a:t>Farthest from Earth since Apollo 17 in 1972</a:t>
            </a:r>
          </a:p>
        </p:txBody>
      </p:sp>
      <p:sp>
        <p:nvSpPr>
          <p:cNvPr id="210" name="TextBox 210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3" name="TextBox 233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5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46" name="TextBox 46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3200" b="1">
                <a:solidFill>
                  <a:srgbClr val="FFFFFF"/>
                </a:solidFill>
              </a:rPr>
              <a:t>THE VEHICLE: SLS &amp; ORION</a:t>
            </a:r>
          </a:p>
        </p:txBody>
      </p:sp>
      <p:sp>
        <p:nvSpPr>
          <p:cNvPr id="47" name="Rectangle 47"/>
          <p:cNvSpPr/>
          <p:nvPr/>
        </p:nvSpPr>
        <p:spPr>
          <a:xfrm>
            <a:off x="274320" y="1143000"/>
            <a:ext cx="4206240" cy="3657600"/>
          </a:xfrm>
          <a:prstGeom prst="roundRect">
            <a:avLst/>
          </a:prstGeom>
          <a:solidFill>
            <a:srgbClr val="142740"/>
          </a:solidFill>
        </p:spPr>
      </p:sp>
      <p:sp>
        <p:nvSpPr>
          <p:cNvPr id="48" name="TextBox 48"/>
          <p:cNvSpPr txBox="1"/>
          <p:nvPr/>
        </p:nvSpPr>
        <p:spPr>
          <a:xfrm>
            <a:off x="457200" y="1234440"/>
            <a:ext cx="3840480" cy="4572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2000" b="1">
                <a:solidFill>
                  <a:srgbClr val="4DA8DA"/>
                </a:solidFill>
              </a:rPr>
              <a:t>SLS (Space Launch System)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57200" y="1737360"/>
            <a:ext cx="3840480" cy="29260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lvl="0" algn="l">
              <a:buFont typeface="Arial"/>
              <a:buChar char="•"/>
            </a:pPr>
            <a:r>
              <a:rPr lang="en-US" dirty="0" sz="1200">
                <a:solidFill>
                  <a:srgbClr val="FFFFFF"/>
                </a:solidFill>
              </a:rPr>
              <a:t>Most powerful rocket ever built</a:t>
            </a:r>
          </a:p>
          <a:p>
            <a:pPr lvl="0" algn="l">
              <a:buFont typeface="Arial"/>
              <a:buChar char="•"/>
            </a:pPr>
            <a:r>
              <a:rPr lang="en-US" dirty="0" sz="1200">
                <a:solidFill>
                  <a:srgbClr val="FFFFFF"/>
                </a:solidFill>
              </a:rPr>
              <a:t>322 feet tall (Block 1 crew)</a:t>
            </a:r>
          </a:p>
          <a:p>
            <a:pPr lvl="0" algn="l">
              <a:buFont typeface="Arial"/>
              <a:buChar char="•"/>
            </a:pPr>
            <a:r>
              <a:rPr lang="en-US" dirty="0" sz="1200">
                <a:solidFill>
                  <a:srgbClr val="FFFFFF"/>
                </a:solidFill>
              </a:rPr>
              <a:t>8.8 million lbs of thrust at liftoff</a:t>
            </a:r>
          </a:p>
          <a:p>
            <a:pPr lvl="0" algn="l">
              <a:buFont typeface="Arial"/>
              <a:buChar char="•"/>
            </a:pPr>
            <a:r>
              <a:rPr lang="en-US" dirty="0" sz="1200">
                <a:solidFill>
                  <a:srgbClr val="FFFFFF"/>
                </a:solidFill>
              </a:rPr>
              <a:t>Twin 5-segment solid rocket boosters</a:t>
            </a:r>
          </a:p>
          <a:p>
            <a:pPr lvl="0" algn="l">
              <a:buFont typeface="Arial"/>
              <a:buChar char="•"/>
            </a:pPr>
            <a:r>
              <a:rPr lang="en-US" dirty="0" sz="1200">
                <a:solidFill>
                  <a:srgbClr val="FFFFFF"/>
                </a:solidFill>
              </a:rPr>
              <a:t>4 RS-25 engines on core stage</a:t>
            </a:r>
          </a:p>
          <a:p>
            <a:pPr lvl="0" algn="l">
              <a:buFont typeface="Arial"/>
              <a:buChar char="•"/>
            </a:pPr>
            <a:r>
              <a:rPr lang="en-US" dirty="0" sz="1200">
                <a:solidFill>
                  <a:srgbClr val="FFFFFF"/>
                </a:solidFill>
              </a:rPr>
              <a:t>Only rocket sending Orion + crew to Moon in one launch</a:t>
            </a:r>
          </a:p>
        </p:txBody>
      </p:sp>
      <p:sp>
        <p:nvSpPr>
          <p:cNvPr id="50" name="Rectangle 50"/>
          <p:cNvSpPr/>
          <p:nvPr/>
        </p:nvSpPr>
        <p:spPr>
          <a:xfrm>
            <a:off x="4663440" y="1143000"/>
            <a:ext cx="4206240" cy="3657600"/>
          </a:xfrm>
          <a:prstGeom prst="roundRect">
            <a:avLst/>
          </a:prstGeom>
          <a:solidFill>
            <a:srgbClr val="142740"/>
          </a:solidFill>
        </p:spPr>
      </p:sp>
      <p:sp>
        <p:nvSpPr>
          <p:cNvPr id="51" name="TextBox 51"/>
          <p:cNvSpPr txBox="1"/>
          <p:nvPr/>
        </p:nvSpPr>
        <p:spPr>
          <a:xfrm>
            <a:off x="4846320" y="1234440"/>
            <a:ext cx="3840480" cy="4572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2000" b="1">
                <a:solidFill>
                  <a:srgbClr val="4DA8DA"/>
                </a:solidFill>
              </a:rPr>
              <a:t>Orion Spacecraft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846320" y="1737360"/>
            <a:ext cx="3840480" cy="29260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lvl="0" algn="l">
              <a:buFont typeface="Arial"/>
              <a:buChar char="•"/>
            </a:pPr>
            <a:r>
              <a:rPr lang="en-US" dirty="0" sz="1200">
                <a:solidFill>
                  <a:srgbClr val="FFFFFF"/>
                </a:solidFill>
              </a:rPr>
              <a:t>Crew + European Service Module</a:t>
            </a:r>
          </a:p>
          <a:p>
            <a:pPr lvl="0" algn="l">
              <a:buFont typeface="Arial"/>
              <a:buChar char="•"/>
            </a:pPr>
            <a:r>
              <a:rPr lang="en-US" dirty="0" sz="1200">
                <a:solidFill>
                  <a:srgbClr val="FFFFFF"/>
                </a:solidFill>
              </a:rPr>
              <a:t>Habitable volume: ~316 cu ft</a:t>
            </a:r>
          </a:p>
          <a:p>
            <a:pPr lvl="0" algn="l">
              <a:buFont typeface="Arial"/>
              <a:buChar char="•"/>
            </a:pPr>
            <a:r>
              <a:rPr lang="en-US" dirty="0" sz="1200">
                <a:solidFill>
                  <a:srgbClr val="FFFFFF"/>
                </a:solidFill>
              </a:rPr>
              <a:t>Designed for up to 21 days in space</a:t>
            </a:r>
          </a:p>
          <a:p>
            <a:pPr lvl="0" algn="l">
              <a:buFont typeface="Arial"/>
              <a:buChar char="•"/>
            </a:pPr>
            <a:r>
              <a:rPr lang="en-US" dirty="0" sz="1200">
                <a:solidFill>
                  <a:srgbClr val="FFFFFF"/>
                </a:solidFill>
              </a:rPr>
              <a:t>Heat shield: 16.5 ft diameter (largest ever)</a:t>
            </a:r>
          </a:p>
          <a:p>
            <a:pPr lvl="0" algn="l">
              <a:buFont typeface="Arial"/>
              <a:buChar char="•"/>
            </a:pPr>
            <a:r>
              <a:rPr lang="en-US" dirty="0" sz="1200">
                <a:solidFill>
                  <a:srgbClr val="FFFFFF"/>
                </a:solidFill>
              </a:rPr>
              <a:t>Withstands 5,000°F at 25,000 mph re-entry</a:t>
            </a:r>
          </a:p>
          <a:p>
            <a:pPr lvl="0" algn="l">
              <a:buFont typeface="Arial"/>
              <a:buChar char="•"/>
            </a:pPr>
            <a:r>
              <a:rPr lang="en-US" dirty="0" sz="1200">
                <a:solidFill>
                  <a:srgbClr val="FFFFFF"/>
                </a:solidFill>
              </a:rPr>
              <a:t>Launch Abort System for crew safety</a:t>
            </a:r>
          </a:p>
        </p:txBody>
      </p:sp>
      <p:sp>
        <p:nvSpPr>
          <p:cNvPr id="211" name="TextBox 211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4" name="TextBox 23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2800" b="1">
                <a:solidFill>
                  <a:srgbClr val="FFFFFF"/>
                </a:solidFill>
              </a:rPr>
              <a:t>ARTEMIS II MISSION TIMELINE</a:t>
            </a:r>
          </a:p>
        </p:txBody>
      </p:sp>
      <p:sp>
        <p:nvSpPr>
          <p:cNvPr id="54" name="Rectangle 54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58A6FF"/>
          </a:solidFill>
        </p:spPr>
      </p:sp>
      <p:sp>
        <p:nvSpPr>
          <p:cNvPr id="55" name="Shape 55"/>
          <p:cNvSpPr/>
          <p:nvPr/>
        </p:nvSpPr>
        <p:spPr>
          <a:xfrm>
            <a:off x="950976" y="2011680"/>
            <a:ext cx="457200" cy="457200"/>
          </a:xfrm>
          <a:prstGeom prst="ellipse">
            <a:avLst/>
          </a:prstGeom>
          <a:solidFill>
            <a:srgbClr val="58A6FF"/>
          </a:solidFill>
        </p:spPr>
        <p:txBody>
          <a:bodyPr wrap="square" anchor="ctr" lIns="137160" tIns="137160" rIns="137160" bIns="137160"/>
          <a:lstStyle/>
          <a:p>
            <a:pPr algn="ctr"/>
            <a:r>
              <a:rPr lang="en-US" dirty="0" sz="1400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56" name="Rectangle 56"/>
          <p:cNvSpPr/>
          <p:nvPr/>
        </p:nvSpPr>
        <p:spPr>
          <a:xfrm>
            <a:off x="379476" y="2560320"/>
            <a:ext cx="1600200" cy="1645920"/>
          </a:xfrm>
          <a:prstGeom prst="roundRect">
            <a:avLst/>
          </a:prstGeom>
          <a:solidFill>
            <a:srgbClr val="1A1A2E"/>
          </a:solidFill>
        </p:spPr>
      </p:sp>
      <p:sp>
        <p:nvSpPr>
          <p:cNvPr id="57" name="TextBox 57"/>
          <p:cNvSpPr txBox="1"/>
          <p:nvPr/>
        </p:nvSpPr>
        <p:spPr>
          <a:xfrm>
            <a:off x="379476" y="2834640"/>
            <a:ext cx="1600200" cy="4572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200" b="1">
                <a:solidFill>
                  <a:srgbClr val="FFFFFF"/>
                </a:solidFill>
              </a:rPr>
              <a:t>Launch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79476" y="4297680"/>
            <a:ext cx="16002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900">
                <a:solidFill>
                  <a:srgbClr val="8B949E"/>
                </a:solidFill>
              </a:rPr>
              <a:t>SLS lifts off from Pad 39B, Kennedy Space Center</a:t>
            </a:r>
          </a:p>
        </p:txBody>
      </p:sp>
      <p:sp>
        <p:nvSpPr>
          <p:cNvPr id="59" name="Shape 59"/>
          <p:cNvSpPr/>
          <p:nvPr/>
        </p:nvSpPr>
        <p:spPr>
          <a:xfrm>
            <a:off x="2116836" y="3246120"/>
            <a:ext cx="274320" cy="274320"/>
          </a:xfrm>
          <a:prstGeom prst="rightArrow">
            <a:avLst/>
          </a:prstGeom>
          <a:solidFill>
            <a:srgbClr val="8B949E"/>
          </a:solidFill>
        </p:spPr>
      </p:sp>
      <p:sp>
        <p:nvSpPr>
          <p:cNvPr id="60" name="Shape 60"/>
          <p:cNvSpPr/>
          <p:nvPr/>
        </p:nvSpPr>
        <p:spPr>
          <a:xfrm>
            <a:off x="2916936" y="2011680"/>
            <a:ext cx="457200" cy="457200"/>
          </a:xfrm>
          <a:prstGeom prst="ellipse">
            <a:avLst/>
          </a:prstGeom>
          <a:solidFill>
            <a:srgbClr val="3FB950"/>
          </a:solidFill>
        </p:spPr>
        <p:txBody>
          <a:bodyPr wrap="square" anchor="ctr" lIns="137160" tIns="137160" rIns="137160" bIns="137160"/>
          <a:lstStyle/>
          <a:p>
            <a:pPr algn="ctr"/>
            <a:r>
              <a:rPr lang="en-US" dirty="0" sz="1400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61" name="Rectangle 61"/>
          <p:cNvSpPr/>
          <p:nvPr/>
        </p:nvSpPr>
        <p:spPr>
          <a:xfrm>
            <a:off x="2345436" y="2560320"/>
            <a:ext cx="1600200" cy="1645920"/>
          </a:xfrm>
          <a:prstGeom prst="roundRect">
            <a:avLst/>
          </a:prstGeom>
          <a:solidFill>
            <a:srgbClr val="1A1A2E"/>
          </a:solidFill>
        </p:spPr>
      </p:sp>
      <p:sp>
        <p:nvSpPr>
          <p:cNvPr id="62" name="TextBox 62"/>
          <p:cNvSpPr txBox="1"/>
          <p:nvPr/>
        </p:nvSpPr>
        <p:spPr>
          <a:xfrm>
            <a:off x="2345436" y="2834640"/>
            <a:ext cx="1600200" cy="4572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200" b="1">
                <a:solidFill>
                  <a:srgbClr val="FFFFFF"/>
                </a:solidFill>
              </a:rPr>
              <a:t>Trans-Lunar Injection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345436" y="4297680"/>
            <a:ext cx="16002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900">
                <a:solidFill>
                  <a:srgbClr val="8B949E"/>
                </a:solidFill>
              </a:rPr>
              <a:t>ICPS fires to send Orion to the Moon</a:t>
            </a:r>
          </a:p>
        </p:txBody>
      </p:sp>
      <p:sp>
        <p:nvSpPr>
          <p:cNvPr id="64" name="Shape 64"/>
          <p:cNvSpPr/>
          <p:nvPr/>
        </p:nvSpPr>
        <p:spPr>
          <a:xfrm>
            <a:off x="4082796" y="3246120"/>
            <a:ext cx="274320" cy="274320"/>
          </a:xfrm>
          <a:prstGeom prst="rightArrow">
            <a:avLst/>
          </a:prstGeom>
          <a:solidFill>
            <a:srgbClr val="8B949E"/>
          </a:solidFill>
        </p:spPr>
      </p:sp>
      <p:sp>
        <p:nvSpPr>
          <p:cNvPr id="65" name="Shape 65"/>
          <p:cNvSpPr/>
          <p:nvPr/>
        </p:nvSpPr>
        <p:spPr>
          <a:xfrm>
            <a:off x="4882896" y="2011680"/>
            <a:ext cx="457200" cy="457200"/>
          </a:xfrm>
          <a:prstGeom prst="ellipse">
            <a:avLst/>
          </a:prstGeom>
          <a:solidFill>
            <a:srgbClr val="00E676"/>
          </a:solidFill>
        </p:spPr>
        <p:txBody>
          <a:bodyPr wrap="square" anchor="ctr" lIns="137160" tIns="137160" rIns="137160" bIns="137160"/>
          <a:lstStyle/>
          <a:p>
            <a:pPr algn="ctr"/>
            <a:r>
              <a:rPr lang="en-US" dirty="0" sz="1400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66" name="Rectangle 66"/>
          <p:cNvSpPr/>
          <p:nvPr/>
        </p:nvSpPr>
        <p:spPr>
          <a:xfrm>
            <a:off x="4311396" y="2560320"/>
            <a:ext cx="1600200" cy="1645920"/>
          </a:xfrm>
          <a:prstGeom prst="roundRect">
            <a:avLst/>
          </a:prstGeom>
          <a:solidFill>
            <a:srgbClr val="1A1A2E"/>
          </a:solidFill>
        </p:spPr>
      </p:sp>
      <p:sp>
        <p:nvSpPr>
          <p:cNvPr id="67" name="TextBox 67"/>
          <p:cNvSpPr txBox="1"/>
          <p:nvPr/>
        </p:nvSpPr>
        <p:spPr>
          <a:xfrm>
            <a:off x="4311396" y="2834640"/>
            <a:ext cx="1600200" cy="4572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200" b="1">
                <a:solidFill>
                  <a:srgbClr val="FFFFFF"/>
                </a:solidFill>
              </a:rPr>
              <a:t>Outbound Coast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311396" y="4297680"/>
            <a:ext cx="16002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900">
                <a:solidFill>
                  <a:srgbClr val="8B949E"/>
                </a:solidFill>
              </a:rPr>
              <a:t>~4 days traveling, crew tests systems</a:t>
            </a:r>
          </a:p>
        </p:txBody>
      </p:sp>
      <p:sp>
        <p:nvSpPr>
          <p:cNvPr id="69" name="Shape 69"/>
          <p:cNvSpPr/>
          <p:nvPr/>
        </p:nvSpPr>
        <p:spPr>
          <a:xfrm>
            <a:off x="6048756" y="3246120"/>
            <a:ext cx="274320" cy="274320"/>
          </a:xfrm>
          <a:prstGeom prst="rightArrow">
            <a:avLst/>
          </a:prstGeom>
          <a:solidFill>
            <a:srgbClr val="8B949E"/>
          </a:solidFill>
        </p:spPr>
      </p:sp>
      <p:sp>
        <p:nvSpPr>
          <p:cNvPr id="70" name="Shape 70"/>
          <p:cNvSpPr/>
          <p:nvPr/>
        </p:nvSpPr>
        <p:spPr>
          <a:xfrm>
            <a:off x="6848856" y="2011680"/>
            <a:ext cx="457200" cy="457200"/>
          </a:xfrm>
          <a:prstGeom prst="ellipse">
            <a:avLst/>
          </a:prstGeom>
          <a:solidFill>
            <a:srgbClr val="FFD700"/>
          </a:solidFill>
        </p:spPr>
        <p:txBody>
          <a:bodyPr wrap="square" anchor="ctr" lIns="137160" tIns="137160" rIns="137160" bIns="137160"/>
          <a:lstStyle/>
          <a:p>
            <a:pPr algn="ctr"/>
            <a:r>
              <a:rPr lang="en-US" dirty="0" sz="1400">
                <a:solidFill>
                  <a:srgbClr val="333333"/>
                </a:solidFill>
              </a:rPr>
              <a:t>4</a:t>
            </a:r>
          </a:p>
        </p:txBody>
      </p:sp>
      <p:sp>
        <p:nvSpPr>
          <p:cNvPr id="71" name="Rectangle 71"/>
          <p:cNvSpPr/>
          <p:nvPr/>
        </p:nvSpPr>
        <p:spPr>
          <a:xfrm>
            <a:off x="6277356" y="2560320"/>
            <a:ext cx="1600200" cy="1645920"/>
          </a:xfrm>
          <a:prstGeom prst="roundRect">
            <a:avLst/>
          </a:prstGeom>
          <a:solidFill>
            <a:srgbClr val="1A1A2E"/>
          </a:solidFill>
        </p:spPr>
      </p:sp>
      <p:sp>
        <p:nvSpPr>
          <p:cNvPr id="72" name="TextBox 72"/>
          <p:cNvSpPr txBox="1"/>
          <p:nvPr/>
        </p:nvSpPr>
        <p:spPr>
          <a:xfrm>
            <a:off x="6277356" y="2834640"/>
            <a:ext cx="1600200" cy="4572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200" b="1">
                <a:solidFill>
                  <a:srgbClr val="FFFFFF"/>
                </a:solidFill>
              </a:rPr>
              <a:t>Lunar Flyby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277356" y="4297680"/>
            <a:ext cx="16002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900">
                <a:solidFill>
                  <a:srgbClr val="8B949E"/>
                </a:solidFill>
              </a:rPr>
              <a:t>Free-return trajectory behind the Moon</a:t>
            </a:r>
          </a:p>
        </p:txBody>
      </p:sp>
      <p:sp>
        <p:nvSpPr>
          <p:cNvPr id="74" name="Shape 74"/>
          <p:cNvSpPr/>
          <p:nvPr/>
        </p:nvSpPr>
        <p:spPr>
          <a:xfrm>
            <a:off x="8014716" y="3246120"/>
            <a:ext cx="274320" cy="274320"/>
          </a:xfrm>
          <a:prstGeom prst="rightArrow">
            <a:avLst/>
          </a:prstGeom>
          <a:solidFill>
            <a:srgbClr val="8B949E"/>
          </a:solidFill>
        </p:spPr>
      </p:sp>
      <p:sp>
        <p:nvSpPr>
          <p:cNvPr id="75" name="Shape 75"/>
          <p:cNvSpPr/>
          <p:nvPr/>
        </p:nvSpPr>
        <p:spPr>
          <a:xfrm>
            <a:off x="8814816" y="2011680"/>
            <a:ext cx="457200" cy="457200"/>
          </a:xfrm>
          <a:prstGeom prst="ellipse">
            <a:avLst/>
          </a:prstGeom>
          <a:solidFill>
            <a:srgbClr val="FF7043"/>
          </a:solidFill>
        </p:spPr>
        <p:txBody>
          <a:bodyPr wrap="square" anchor="ctr" lIns="137160" tIns="137160" rIns="137160" bIns="137160"/>
          <a:lstStyle/>
          <a:p>
            <a:pPr algn="ctr"/>
            <a:r>
              <a:rPr lang="en-US" dirty="0" sz="1400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76" name="Rectangle 76"/>
          <p:cNvSpPr/>
          <p:nvPr/>
        </p:nvSpPr>
        <p:spPr>
          <a:xfrm>
            <a:off x="8243316" y="2560320"/>
            <a:ext cx="1600200" cy="1645920"/>
          </a:xfrm>
          <a:prstGeom prst="roundRect">
            <a:avLst/>
          </a:prstGeom>
          <a:solidFill>
            <a:srgbClr val="1A1A2E"/>
          </a:solidFill>
        </p:spPr>
      </p:sp>
      <p:sp>
        <p:nvSpPr>
          <p:cNvPr id="77" name="TextBox 77"/>
          <p:cNvSpPr txBox="1"/>
          <p:nvPr/>
        </p:nvSpPr>
        <p:spPr>
          <a:xfrm>
            <a:off x="8243316" y="2834640"/>
            <a:ext cx="1600200" cy="4572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200" b="1">
                <a:solidFill>
                  <a:srgbClr val="FFFFFF"/>
                </a:solidFill>
              </a:rPr>
              <a:t>Return Transit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8243316" y="4297680"/>
            <a:ext cx="16002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900">
                <a:solidFill>
                  <a:srgbClr val="8B949E"/>
                </a:solidFill>
              </a:rPr>
              <a:t>Gravity-assisted path back to Earth</a:t>
            </a:r>
          </a:p>
        </p:txBody>
      </p:sp>
      <p:sp>
        <p:nvSpPr>
          <p:cNvPr id="79" name="Shape 79"/>
          <p:cNvSpPr/>
          <p:nvPr/>
        </p:nvSpPr>
        <p:spPr>
          <a:xfrm>
            <a:off x="9980676" y="3246120"/>
            <a:ext cx="274320" cy="274320"/>
          </a:xfrm>
          <a:prstGeom prst="rightArrow">
            <a:avLst/>
          </a:prstGeom>
          <a:solidFill>
            <a:srgbClr val="8B949E"/>
          </a:solidFill>
        </p:spPr>
      </p:sp>
      <p:sp>
        <p:nvSpPr>
          <p:cNvPr id="80" name="Shape 80"/>
          <p:cNvSpPr/>
          <p:nvPr/>
        </p:nvSpPr>
        <p:spPr>
          <a:xfrm>
            <a:off x="10780776" y="2011680"/>
            <a:ext cx="457200" cy="457200"/>
          </a:xfrm>
          <a:prstGeom prst="ellipse">
            <a:avLst/>
          </a:prstGeom>
          <a:solidFill>
            <a:srgbClr val="AB47BC"/>
          </a:solidFill>
        </p:spPr>
        <p:txBody>
          <a:bodyPr wrap="square" anchor="ctr" lIns="137160" tIns="137160" rIns="137160" bIns="137160"/>
          <a:lstStyle/>
          <a:p>
            <a:pPr algn="ctr"/>
            <a:r>
              <a:rPr lang="en-US" dirty="0" sz="14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1" name="Rectangle 81"/>
          <p:cNvSpPr/>
          <p:nvPr/>
        </p:nvSpPr>
        <p:spPr>
          <a:xfrm>
            <a:off x="10209276" y="2560320"/>
            <a:ext cx="1600200" cy="1645920"/>
          </a:xfrm>
          <a:prstGeom prst="roundRect">
            <a:avLst/>
          </a:prstGeom>
          <a:solidFill>
            <a:srgbClr val="1A1A2E"/>
          </a:solidFill>
        </p:spPr>
      </p:sp>
      <p:sp>
        <p:nvSpPr>
          <p:cNvPr id="82" name="TextBox 82"/>
          <p:cNvSpPr txBox="1"/>
          <p:nvPr/>
        </p:nvSpPr>
        <p:spPr>
          <a:xfrm>
            <a:off x="10209276" y="2834640"/>
            <a:ext cx="1600200" cy="4572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200" b="1">
                <a:solidFill>
                  <a:srgbClr val="FFFFFF"/>
                </a:solidFill>
              </a:rPr>
              <a:t>Splashdown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209276" y="4297680"/>
            <a:ext cx="16002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900">
                <a:solidFill>
                  <a:srgbClr val="8B949E"/>
                </a:solidFill>
              </a:rPr>
              <a:t>Re-entry at 25,000 mph, Pacific Ocean landing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35" name="TextBox 23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84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2800" b="1">
                <a:solidFill>
                  <a:srgbClr val="FFFFFF"/>
                </a:solidFill>
              </a:rPr>
              <a:t>SLS ROCKET — RAW POWER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31520" y="2011680"/>
            <a:ext cx="2476424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4800" b="1">
                <a:solidFill>
                  <a:srgbClr val="58A6FF"/>
                </a:solidFill>
              </a:rPr>
              <a:t>8.8M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31520" y="3383280"/>
            <a:ext cx="2476424" cy="5486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>
                <a:solidFill>
                  <a:srgbClr val="8B949E"/>
                </a:solidFill>
              </a:rPr>
              <a:t>LBS OF THRUST</a:t>
            </a:r>
          </a:p>
        </p:txBody>
      </p:sp>
      <p:sp>
        <p:nvSpPr>
          <p:cNvPr id="87" name="Rectangle 87"/>
          <p:cNvSpPr/>
          <p:nvPr/>
        </p:nvSpPr>
        <p:spPr>
          <a:xfrm>
            <a:off x="3345104" y="2286000"/>
            <a:ext cx="18288" cy="1828800"/>
          </a:xfrm>
          <a:prstGeom prst="rect">
            <a:avLst/>
          </a:prstGeom>
          <a:solidFill>
            <a:srgbClr val="8B949E"/>
          </a:solidFill>
        </p:spPr>
      </p:sp>
      <p:sp>
        <p:nvSpPr>
          <p:cNvPr id="88" name="TextBox 88"/>
          <p:cNvSpPr txBox="1"/>
          <p:nvPr/>
        </p:nvSpPr>
        <p:spPr>
          <a:xfrm>
            <a:off x="3482264" y="2011680"/>
            <a:ext cx="2476424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4800" b="1">
                <a:solidFill>
                  <a:srgbClr val="58A6FF"/>
                </a:solidFill>
              </a:rPr>
              <a:t>322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482264" y="3383280"/>
            <a:ext cx="2476424" cy="5486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>
                <a:solidFill>
                  <a:srgbClr val="8B949E"/>
                </a:solidFill>
              </a:rPr>
              <a:t>FEET TALL</a:t>
            </a:r>
          </a:p>
        </p:txBody>
      </p:sp>
      <p:sp>
        <p:nvSpPr>
          <p:cNvPr id="90" name="Rectangle 90"/>
          <p:cNvSpPr/>
          <p:nvPr/>
        </p:nvSpPr>
        <p:spPr>
          <a:xfrm>
            <a:off x="6095848" y="2286000"/>
            <a:ext cx="18288" cy="1828800"/>
          </a:xfrm>
          <a:prstGeom prst="rect">
            <a:avLst/>
          </a:prstGeom>
          <a:solidFill>
            <a:srgbClr val="8B949E"/>
          </a:solidFill>
        </p:spPr>
      </p:sp>
      <p:sp>
        <p:nvSpPr>
          <p:cNvPr id="91" name="TextBox 91"/>
          <p:cNvSpPr txBox="1"/>
          <p:nvPr/>
        </p:nvSpPr>
        <p:spPr>
          <a:xfrm>
            <a:off x="6233008" y="2011680"/>
            <a:ext cx="2476424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4800" b="1">
                <a:solidFill>
                  <a:srgbClr val="58A6FF"/>
                </a:solidFill>
              </a:rPr>
              <a:t>5,000°F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6233008" y="3383280"/>
            <a:ext cx="2476424" cy="5486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>
                <a:solidFill>
                  <a:srgbClr val="8B949E"/>
                </a:solidFill>
              </a:rPr>
              <a:t>RE-ENTRY HEAT</a:t>
            </a:r>
          </a:p>
        </p:txBody>
      </p:sp>
      <p:sp>
        <p:nvSpPr>
          <p:cNvPr id="93" name="Rectangle 93"/>
          <p:cNvSpPr/>
          <p:nvPr/>
        </p:nvSpPr>
        <p:spPr>
          <a:xfrm>
            <a:off x="8846591" y="2286000"/>
            <a:ext cx="18288" cy="1828800"/>
          </a:xfrm>
          <a:prstGeom prst="rect">
            <a:avLst/>
          </a:prstGeom>
          <a:solidFill>
            <a:srgbClr val="8B949E"/>
          </a:solidFill>
        </p:spPr>
      </p:sp>
      <p:sp>
        <p:nvSpPr>
          <p:cNvPr id="94" name="TextBox 94"/>
          <p:cNvSpPr txBox="1"/>
          <p:nvPr/>
        </p:nvSpPr>
        <p:spPr>
          <a:xfrm>
            <a:off x="8983751" y="2011680"/>
            <a:ext cx="2476424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4800" b="1">
                <a:solidFill>
                  <a:srgbClr val="58A6FF"/>
                </a:solidFill>
              </a:rPr>
              <a:t>Mach 32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8983751" y="3383280"/>
            <a:ext cx="2476424" cy="5486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>
                <a:solidFill>
                  <a:srgbClr val="8B949E"/>
                </a:solidFill>
              </a:rPr>
              <a:t>RE-ENTRY SPEED</a:t>
            </a:r>
          </a:p>
        </p:txBody>
      </p:sp>
      <p:sp>
        <p:nvSpPr>
          <p:cNvPr id="213" name="TextBox 213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36" name="TextBox 236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A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6"/>
          <p:cNvSpPr/>
          <p:nvPr/>
        </p:nvSpPr>
        <p:spPr>
          <a:xfrm>
            <a:off x="457200" y="2926080"/>
            <a:ext cx="2743200" cy="7315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7" name="TextBox 97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3600" b="1">
                <a:solidFill>
                  <a:srgbClr val="FFFFFF"/>
                </a:solidFill>
              </a:rPr>
              <a:t>VIEWS FROM DEEP SPACE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1800">
                <a:solidFill>
                  <a:srgbClr val="FFFFFF"/>
                </a:solidFill>
              </a:rPr>
              <a:t>Photos captured by the Artemis II crew during their historic lunar flyby</a:t>
            </a:r>
          </a:p>
        </p:txBody>
      </p:sp>
      <p:sp>
        <p:nvSpPr>
          <p:cNvPr id="214" name="TextBox 21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333333"/>
                </a:solidFill>
              </a:rPr>
              <a:t>9</a:t>
            </a:r>
          </a:p>
        </p:txBody>
      </p:sp>
      <p:sp>
        <p:nvSpPr>
          <p:cNvPr id="237" name="TextBox 237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333333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0" name="Rectangle 1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</p:spPr>
      </p:sp>
      <p:sp>
        <p:nvSpPr>
          <p:cNvPr id="101" name="TextBox 101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3600" b="1">
                <a:solidFill>
                  <a:srgbClr val="FFFFFF"/>
                </a:solidFill>
              </a:rPr>
              <a:t>Through the Window of Orion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>
                <a:solidFill>
                  <a:srgbClr val="FFFFFF"/>
                </a:solidFill>
              </a:rPr>
              <a:t>The Artemis II crew captured stunning views during their journey around the Moon</a:t>
            </a:r>
          </a:p>
        </p:txBody>
      </p:sp>
      <p:sp>
        <p:nvSpPr>
          <p:cNvPr id="215" name="TextBox 215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38" name="TextBox 23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0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2800" b="1">
                <a:solidFill>
                  <a:srgbClr val="FFFFFF"/>
                </a:solidFill>
              </a:rPr>
              <a:t>ARTEMIS II CREW PHOTOGRAPHY</a:t>
            </a:r>
          </a:p>
        </p:txBody>
      </p:sp>
      <p:pic>
        <p:nvPicPr>
          <p:cNvPr id="104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583784" cy="2093976"/>
          </a:xfrm>
          <a:prstGeom prst="rect">
            <a:avLst/>
          </a:prstGeom>
        </p:spPr>
      </p:pic>
      <p:sp>
        <p:nvSpPr>
          <p:cNvPr id="105" name="TextBox 105"/>
          <p:cNvSpPr txBox="1"/>
          <p:nvPr/>
        </p:nvSpPr>
        <p:spPr>
          <a:xfrm>
            <a:off x="457200" y="3328416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Crew Activity</a:t>
            </a:r>
          </a:p>
        </p:txBody>
      </p:sp>
      <p:pic>
        <p:nvPicPr>
          <p:cNvPr id="10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712" y="1188720"/>
            <a:ext cx="5583784" cy="2093976"/>
          </a:xfrm>
          <a:prstGeom prst="rect">
            <a:avLst/>
          </a:prstGeom>
        </p:spPr>
      </p:pic>
      <p:sp>
        <p:nvSpPr>
          <p:cNvPr id="107" name="TextBox 107"/>
          <p:cNvSpPr txBox="1"/>
          <p:nvPr/>
        </p:nvSpPr>
        <p:spPr>
          <a:xfrm>
            <a:off x="6150712" y="3328416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Deep Space View</a:t>
            </a:r>
          </a:p>
        </p:txBody>
      </p:sp>
      <p:pic>
        <p:nvPicPr>
          <p:cNvPr id="108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58184"/>
            <a:ext cx="5583784" cy="2093976"/>
          </a:xfrm>
          <a:prstGeom prst="rect">
            <a:avLst/>
          </a:prstGeom>
        </p:spPr>
      </p:pic>
      <p:sp>
        <p:nvSpPr>
          <p:cNvPr id="109" name="TextBox 109"/>
          <p:cNvSpPr txBox="1"/>
          <p:nvPr/>
        </p:nvSpPr>
        <p:spPr>
          <a:xfrm>
            <a:off x="457200" y="5897880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Lunar Approach</a:t>
            </a:r>
          </a:p>
        </p:txBody>
      </p:sp>
      <p:pic>
        <p:nvPicPr>
          <p:cNvPr id="110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0712" y="3758184"/>
            <a:ext cx="5583784" cy="2093976"/>
          </a:xfrm>
          <a:prstGeom prst="rect">
            <a:avLst/>
          </a:prstGeom>
        </p:spPr>
      </p:pic>
      <p:sp>
        <p:nvSpPr>
          <p:cNvPr id="111" name="TextBox 111"/>
          <p:cNvSpPr txBox="1"/>
          <p:nvPr/>
        </p:nvSpPr>
        <p:spPr>
          <a:xfrm>
            <a:off x="6150712" y="5897880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Inside Orion</a:t>
            </a:r>
          </a:p>
        </p:txBody>
      </p:sp>
      <p:sp>
        <p:nvSpPr>
          <p:cNvPr id="216" name="TextBox 21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39" name="TextBox 239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1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2800" b="1">
                <a:solidFill>
                  <a:srgbClr val="FFFFFF"/>
                </a:solidFill>
              </a:rPr>
              <a:t>MORE FROM THE MISSION</a:t>
            </a:r>
          </a:p>
        </p:txBody>
      </p:sp>
      <p:pic>
        <p:nvPicPr>
          <p:cNvPr id="113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583784" cy="2093976"/>
          </a:xfrm>
          <a:prstGeom prst="rect">
            <a:avLst/>
          </a:prstGeom>
        </p:spPr>
      </p:pic>
      <p:sp>
        <p:nvSpPr>
          <p:cNvPr id="114" name="TextBox 114"/>
          <p:cNvSpPr txBox="1"/>
          <p:nvPr/>
        </p:nvSpPr>
        <p:spPr>
          <a:xfrm>
            <a:off x="457200" y="3328416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Mission Operations</a:t>
            </a:r>
          </a:p>
        </p:txBody>
      </p:sp>
      <p:pic>
        <p:nvPicPr>
          <p:cNvPr id="115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712" y="1188720"/>
            <a:ext cx="5583784" cy="2093976"/>
          </a:xfrm>
          <a:prstGeom prst="rect">
            <a:avLst/>
          </a:prstGeom>
        </p:spPr>
      </p:pic>
      <p:sp>
        <p:nvSpPr>
          <p:cNvPr id="116" name="TextBox 116"/>
          <p:cNvSpPr txBox="1"/>
          <p:nvPr/>
        </p:nvSpPr>
        <p:spPr>
          <a:xfrm>
            <a:off x="6150712" y="3328416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Crew at Work</a:t>
            </a:r>
          </a:p>
        </p:txBody>
      </p:sp>
      <p:pic>
        <p:nvPicPr>
          <p:cNvPr id="117" name="Imag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58184"/>
            <a:ext cx="5583784" cy="2093976"/>
          </a:xfrm>
          <a:prstGeom prst="rect">
            <a:avLst/>
          </a:prstGeom>
        </p:spPr>
      </p:pic>
      <p:sp>
        <p:nvSpPr>
          <p:cNvPr id="118" name="TextBox 118"/>
          <p:cNvSpPr txBox="1"/>
          <p:nvPr/>
        </p:nvSpPr>
        <p:spPr>
          <a:xfrm>
            <a:off x="457200" y="5897880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Deep Space Vista</a:t>
            </a:r>
          </a:p>
        </p:txBody>
      </p:sp>
      <p:pic>
        <p:nvPicPr>
          <p:cNvPr id="119" name="Imag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0712" y="3758184"/>
            <a:ext cx="5583784" cy="2093976"/>
          </a:xfrm>
          <a:prstGeom prst="rect">
            <a:avLst/>
          </a:prstGeom>
        </p:spPr>
      </p:pic>
      <p:sp>
        <p:nvSpPr>
          <p:cNvPr id="120" name="TextBox 120"/>
          <p:cNvSpPr txBox="1"/>
          <p:nvPr/>
        </p:nvSpPr>
        <p:spPr>
          <a:xfrm>
            <a:off x="6150712" y="5897880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Earth from Afar</a:t>
            </a:r>
          </a:p>
        </p:txBody>
      </p:sp>
      <p:sp>
        <p:nvSpPr>
          <p:cNvPr id="217" name="TextBox 217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240" name="TextBox 240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2" name="Rectangle 1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18" name="TextBox 218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241" name="TextBox 24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24" name="TextBox 124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3200" b="1">
                <a:solidFill>
                  <a:srgbClr val="FFFFFF"/>
                </a:solidFill>
              </a:rPr>
              <a:t>SCIENCE &amp; DISCOVERY</a:t>
            </a:r>
          </a:p>
        </p:txBody>
      </p:sp>
      <p:sp>
        <p:nvSpPr>
          <p:cNvPr id="125" name="Rectangle 125"/>
          <p:cNvSpPr/>
          <p:nvPr/>
        </p:nvSpPr>
        <p:spPr>
          <a:xfrm>
            <a:off x="274320" y="1143000"/>
            <a:ext cx="4206240" cy="3657600"/>
          </a:xfrm>
          <a:prstGeom prst="roundRect">
            <a:avLst/>
          </a:prstGeom>
          <a:solidFill>
            <a:srgbClr val="142740"/>
          </a:solidFill>
        </p:spPr>
      </p:sp>
      <p:sp>
        <p:nvSpPr>
          <p:cNvPr id="126" name="TextBox 126"/>
          <p:cNvSpPr txBox="1"/>
          <p:nvPr/>
        </p:nvSpPr>
        <p:spPr>
          <a:xfrm>
            <a:off x="457200" y="1234440"/>
            <a:ext cx="384048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1800" b="1">
                <a:solidFill>
                  <a:srgbClr val="4DA8DA"/>
                </a:solidFill>
              </a:rPr>
              <a:t>Human Health Research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57200" y="1645920"/>
            <a:ext cx="3840480" cy="3017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AVATAR: Organ-on-chip devices studying radiation &amp; microgravity effects on human tissue</a:t>
            </a:r>
          </a:p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Radiation dosimetry measuring deep space exposure levels beyond Earth's magnetosphere</a:t>
            </a:r>
          </a:p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Crew health monitoring in the unique deep space environment</a:t>
            </a:r>
          </a:p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Data informing countermeasures for longer Artemis missions to the lunar surface</a:t>
            </a:r>
          </a:p>
        </p:txBody>
      </p:sp>
      <p:sp>
        <p:nvSpPr>
          <p:cNvPr id="128" name="Rectangle 128"/>
          <p:cNvSpPr/>
          <p:nvPr/>
        </p:nvSpPr>
        <p:spPr>
          <a:xfrm>
            <a:off x="4663440" y="1143000"/>
            <a:ext cx="4206240" cy="3657600"/>
          </a:xfrm>
          <a:prstGeom prst="roundRect">
            <a:avLst/>
          </a:prstGeom>
          <a:solidFill>
            <a:srgbClr val="142740"/>
          </a:solidFill>
        </p:spPr>
      </p:sp>
      <p:sp>
        <p:nvSpPr>
          <p:cNvPr id="129" name="TextBox 129"/>
          <p:cNvSpPr txBox="1"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1800" b="1">
                <a:solidFill>
                  <a:srgbClr val="4DA8DA"/>
                </a:solidFill>
              </a:rPr>
              <a:t>Systems &amp; Navigation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4846320" y="1645920"/>
            <a:ext cx="3840480" cy="3017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First crewed test of Orion life support &amp; environmental control systems</a:t>
            </a:r>
          </a:p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Deep space navigation and communication testing with DSN</a:t>
            </a:r>
          </a:p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Manual piloting demonstrations near the Moon</a:t>
            </a:r>
          </a:p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Validating crew procedures for future lunar landing missions (Artemis III+)</a:t>
            </a:r>
          </a:p>
        </p:txBody>
      </p:sp>
      <p:sp>
        <p:nvSpPr>
          <p:cNvPr id="219" name="TextBox 219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242" name="TextBox 242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3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2800" b="1">
                <a:solidFill>
                  <a:srgbClr val="FFFFFF"/>
                </a:solidFill>
              </a:rPr>
              <a:t>MISSION HIGHLIGHTS</a:t>
            </a:r>
          </a:p>
        </p:txBody>
      </p:sp>
      <p:pic>
        <p:nvPicPr>
          <p:cNvPr id="132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583784" cy="2093976"/>
          </a:xfrm>
          <a:prstGeom prst="rect">
            <a:avLst/>
          </a:prstGeom>
        </p:spPr>
      </p:pic>
      <p:sp>
        <p:nvSpPr>
          <p:cNvPr id="133" name="TextBox 133"/>
          <p:cNvSpPr txBox="1"/>
          <p:nvPr/>
        </p:nvSpPr>
        <p:spPr>
          <a:xfrm>
            <a:off x="457200" y="3328416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Crew Operations</a:t>
            </a:r>
          </a:p>
        </p:txBody>
      </p:sp>
      <p:pic>
        <p:nvPicPr>
          <p:cNvPr id="134" name="Imag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712" y="1188720"/>
            <a:ext cx="5583784" cy="2093976"/>
          </a:xfrm>
          <a:prstGeom prst="rect">
            <a:avLst/>
          </a:prstGeom>
        </p:spPr>
      </p:pic>
      <p:sp>
        <p:nvSpPr>
          <p:cNvPr id="135" name="TextBox 135"/>
          <p:cNvSpPr txBox="1"/>
          <p:nvPr/>
        </p:nvSpPr>
        <p:spPr>
          <a:xfrm>
            <a:off x="6150712" y="3328416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Mission Activity</a:t>
            </a:r>
          </a:p>
        </p:txBody>
      </p:sp>
      <p:pic>
        <p:nvPicPr>
          <p:cNvPr id="136" name="Imag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58184"/>
            <a:ext cx="5583784" cy="2093976"/>
          </a:xfrm>
          <a:prstGeom prst="rect">
            <a:avLst/>
          </a:prstGeom>
        </p:spPr>
      </p:pic>
      <p:sp>
        <p:nvSpPr>
          <p:cNvPr id="137" name="TextBox 137"/>
          <p:cNvSpPr txBox="1"/>
          <p:nvPr/>
        </p:nvSpPr>
        <p:spPr>
          <a:xfrm>
            <a:off x="457200" y="5897880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Crew View</a:t>
            </a:r>
          </a:p>
        </p:txBody>
      </p:sp>
      <p:pic>
        <p:nvPicPr>
          <p:cNvPr id="138" name="Imag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0712" y="3758184"/>
            <a:ext cx="5583784" cy="2093976"/>
          </a:xfrm>
          <a:prstGeom prst="rect">
            <a:avLst/>
          </a:prstGeom>
        </p:spPr>
      </p:pic>
      <p:sp>
        <p:nvSpPr>
          <p:cNvPr id="139" name="TextBox 139"/>
          <p:cNvSpPr txBox="1"/>
          <p:nvPr/>
        </p:nvSpPr>
        <p:spPr>
          <a:xfrm>
            <a:off x="6150712" y="5897880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On the Way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243" name="TextBox 243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Imag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41" name="Rectangle 14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>
              <a:alpha val="40000"/>
            </a:srgbClr>
          </a:solidFill>
        </p:spPr>
      </p:sp>
      <p:sp>
        <p:nvSpPr>
          <p:cNvPr id="142" name="TextBox 14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4400" b="1">
                <a:solidFill>
                  <a:srgbClr val="FFFFFF"/>
                </a:solidFill>
              </a:rPr>
              <a:t>WELCOME HOME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>
                <a:solidFill>
                  <a:srgbClr val="FFFFFF"/>
                </a:solidFill>
              </a:rPr>
              <a:t>Artemis II crew returns safely to Earth after 10 days in deep space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244" name="TextBox 244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44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2800" b="1">
                <a:solidFill>
                  <a:srgbClr val="FFFFFF"/>
                </a:solidFill>
              </a:rPr>
              <a:t>SPLASHDOWN &amp; RECOVERY</a:t>
            </a:r>
          </a:p>
        </p:txBody>
      </p:sp>
      <p:pic>
        <p:nvPicPr>
          <p:cNvPr id="145" name="Imag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583784" cy="2093976"/>
          </a:xfrm>
          <a:prstGeom prst="rect">
            <a:avLst/>
          </a:prstGeom>
        </p:spPr>
      </p:pic>
      <p:sp>
        <p:nvSpPr>
          <p:cNvPr id="146" name="TextBox 146"/>
          <p:cNvSpPr txBox="1"/>
          <p:nvPr/>
        </p:nvSpPr>
        <p:spPr>
          <a:xfrm>
            <a:off x="457200" y="3328416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Recovery Operations</a:t>
            </a:r>
          </a:p>
        </p:txBody>
      </p:sp>
      <p:pic>
        <p:nvPicPr>
          <p:cNvPr id="147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712" y="1188720"/>
            <a:ext cx="5583784" cy="2093976"/>
          </a:xfrm>
          <a:prstGeom prst="rect">
            <a:avLst/>
          </a:prstGeom>
        </p:spPr>
      </p:pic>
      <p:sp>
        <p:nvSpPr>
          <p:cNvPr id="148" name="TextBox 148"/>
          <p:cNvSpPr txBox="1"/>
          <p:nvPr/>
        </p:nvSpPr>
        <p:spPr>
          <a:xfrm>
            <a:off x="6150712" y="3328416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Crew Return</a:t>
            </a:r>
          </a:p>
        </p:txBody>
      </p:sp>
      <p:pic>
        <p:nvPicPr>
          <p:cNvPr id="149" name="Imag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58184"/>
            <a:ext cx="5583784" cy="2093976"/>
          </a:xfrm>
          <a:prstGeom prst="rect">
            <a:avLst/>
          </a:prstGeom>
        </p:spPr>
      </p:pic>
      <p:sp>
        <p:nvSpPr>
          <p:cNvPr id="150" name="TextBox 150"/>
          <p:cNvSpPr txBox="1"/>
          <p:nvPr/>
        </p:nvSpPr>
        <p:spPr>
          <a:xfrm>
            <a:off x="457200" y="5897880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Welcome Home</a:t>
            </a:r>
          </a:p>
        </p:txBody>
      </p:sp>
      <p:pic>
        <p:nvPicPr>
          <p:cNvPr id="151" name="Imag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0712" y="3758184"/>
            <a:ext cx="5583784" cy="2093976"/>
          </a:xfrm>
          <a:prstGeom prst="rect">
            <a:avLst/>
          </a:prstGeom>
        </p:spPr>
      </p:pic>
      <p:sp>
        <p:nvSpPr>
          <p:cNvPr id="152" name="TextBox 152"/>
          <p:cNvSpPr txBox="1"/>
          <p:nvPr/>
        </p:nvSpPr>
        <p:spPr>
          <a:xfrm>
            <a:off x="6150712" y="5897880"/>
            <a:ext cx="5583784" cy="3200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100">
                <a:solidFill>
                  <a:srgbClr val="8B949E"/>
                </a:solidFill>
              </a:rPr>
              <a:t>Final Mission View</a:t>
            </a:r>
          </a:p>
        </p:txBody>
      </p:sp>
      <p:sp>
        <p:nvSpPr>
          <p:cNvPr id="222" name="TextBox 222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245" name="TextBox 24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5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2800" b="1">
                <a:solidFill>
                  <a:srgbClr val="FFFFFF"/>
                </a:solidFill>
              </a:rPr>
              <a:t>THE ARTEMIS PROGRAM ROADMAP</a:t>
            </a:r>
          </a:p>
        </p:txBody>
      </p:sp>
      <p:sp>
        <p:nvSpPr>
          <p:cNvPr id="154" name="Rectangle 154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58A6FF"/>
          </a:solidFill>
        </p:spPr>
      </p:sp>
      <p:graphicFrame>
        <p:nvGraphicFramePr>
          <p:cNvPr id="155" name="Chart 4"/>
          <p:cNvGraphicFramePr>
            <a:graphicFrameLocks noGrp="1"/>
          </p:cNvGraphicFramePr>
          <p:nvPr/>
        </p:nvGraphicFramePr>
        <p:xfrm>
          <a:off x="457200" y="1188720"/>
          <a:ext cx="10972800" cy="4754880"/>
        </p:xfrm>
        <a:graphic>
          <a:graphicData uri="http://schemas.openxmlformats.org/drawingml/2006/chart">
            <c:chart xmlns:c="http://schemas.openxmlformats.org/drawingml/2006/chart" r:id="rIdChart4"/>
          </a:graphicData>
        </a:graphic>
      </p:graphicFrame>
      <p:sp>
        <p:nvSpPr>
          <p:cNvPr id="223" name="TextBox 223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246" name="TextBox 246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5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57" name="TextBox 157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3200" b="1">
                <a:solidFill>
                  <a:srgbClr val="FFFFFF"/>
                </a:solidFill>
              </a:rPr>
              <a:t>WHAT COMES NEXT</a:t>
            </a:r>
          </a:p>
        </p:txBody>
      </p:sp>
      <p:sp>
        <p:nvSpPr>
          <p:cNvPr id="158" name="Rectangle 158"/>
          <p:cNvSpPr/>
          <p:nvPr/>
        </p:nvSpPr>
        <p:spPr>
          <a:xfrm>
            <a:off x="274320" y="1143000"/>
            <a:ext cx="2743200" cy="3657600"/>
          </a:xfrm>
          <a:prstGeom prst="roundRect">
            <a:avLst/>
          </a:prstGeom>
          <a:solidFill>
            <a:srgbClr val="142740"/>
          </a:solidFill>
        </p:spPr>
      </p:sp>
      <p:sp>
        <p:nvSpPr>
          <p:cNvPr id="159" name="TextBox 159"/>
          <p:cNvSpPr txBox="1"/>
          <p:nvPr/>
        </p:nvSpPr>
        <p:spPr>
          <a:xfrm>
            <a:off x="365760" y="1234440"/>
            <a:ext cx="25603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800" b="1">
                <a:solidFill>
                  <a:srgbClr val="4DA8DA"/>
                </a:solidFill>
              </a:rPr>
              <a:t>ARTEMIS III</a:t>
            </a:r>
          </a:p>
        </p:txBody>
      </p:sp>
      <p:sp>
        <p:nvSpPr>
          <p:cNvPr id="160" name="TextBox 160"/>
          <p:cNvSpPr txBox="1"/>
          <p:nvPr/>
        </p:nvSpPr>
        <p:spPr>
          <a:xfrm>
            <a:off x="365760" y="1645920"/>
            <a:ext cx="2560320" cy="2743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300" b="1">
                <a:solidFill>
                  <a:srgbClr val="FFFFFF"/>
                </a:solidFill>
              </a:rPr>
              <a:t>First Lunar Landing</a:t>
            </a:r>
          </a:p>
        </p:txBody>
      </p:sp>
      <p:sp>
        <p:nvSpPr>
          <p:cNvPr id="161" name="TextBox 161"/>
          <p:cNvSpPr txBox="1"/>
          <p:nvPr/>
        </p:nvSpPr>
        <p:spPr>
          <a:xfrm>
            <a:off x="365760" y="2011680"/>
            <a:ext cx="2560320" cy="25603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First woman on the Moon</a:t>
            </a:r>
          </a:p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First person of color on Moon</a:t>
            </a:r>
          </a:p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SpaceX Starship HLS lander</a:t>
            </a:r>
          </a:p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South Pole landing site</a:t>
            </a:r>
          </a:p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~30 day mission</a:t>
            </a:r>
          </a:p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Surface EVAs planned</a:t>
            </a:r>
          </a:p>
        </p:txBody>
      </p:sp>
      <p:sp>
        <p:nvSpPr>
          <p:cNvPr id="162" name="Rectangle 162"/>
          <p:cNvSpPr/>
          <p:nvPr/>
        </p:nvSpPr>
        <p:spPr>
          <a:xfrm>
            <a:off x="3200400" y="1143000"/>
            <a:ext cx="2743200" cy="3657600"/>
          </a:xfrm>
          <a:prstGeom prst="roundRect">
            <a:avLst/>
          </a:prstGeom>
          <a:solidFill>
            <a:srgbClr val="142740"/>
          </a:solidFill>
        </p:spPr>
      </p:sp>
      <p:sp>
        <p:nvSpPr>
          <p:cNvPr id="163" name="TextBox 163"/>
          <p:cNvSpPr txBox="1"/>
          <p:nvPr/>
        </p:nvSpPr>
        <p:spPr>
          <a:xfrm>
            <a:off x="3291840" y="1234440"/>
            <a:ext cx="25603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800" b="1">
                <a:solidFill>
                  <a:srgbClr val="4DA8DA"/>
                </a:solidFill>
              </a:rPr>
              <a:t>ARTEMIS IV</a:t>
            </a:r>
          </a:p>
        </p:txBody>
      </p:sp>
      <p:sp>
        <p:nvSpPr>
          <p:cNvPr id="164" name="TextBox 164"/>
          <p:cNvSpPr txBox="1"/>
          <p:nvPr/>
        </p:nvSpPr>
        <p:spPr>
          <a:xfrm>
            <a:off x="3291840" y="1645920"/>
            <a:ext cx="2560320" cy="2743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300" b="1">
                <a:solidFill>
                  <a:srgbClr val="FFFFFF"/>
                </a:solidFill>
              </a:rPr>
              <a:t>Gateway Assembly</a:t>
            </a:r>
          </a:p>
        </p:txBody>
      </p:sp>
      <p:sp>
        <p:nvSpPr>
          <p:cNvPr id="165" name="TextBox 165"/>
          <p:cNvSpPr txBox="1"/>
          <p:nvPr/>
        </p:nvSpPr>
        <p:spPr>
          <a:xfrm>
            <a:off x="3291840" y="2011680"/>
            <a:ext cx="2560320" cy="25603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First crew to Gateway station</a:t>
            </a:r>
          </a:p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Lunar orbital outpost</a:t>
            </a:r>
          </a:p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International partnerships</a:t>
            </a:r>
          </a:p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SLS Block 1B upgrade</a:t>
            </a:r>
          </a:p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Extended operations</a:t>
            </a:r>
          </a:p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Science &amp; tech demos</a:t>
            </a:r>
          </a:p>
        </p:txBody>
      </p:sp>
      <p:sp>
        <p:nvSpPr>
          <p:cNvPr id="166" name="Rectangle 166"/>
          <p:cNvSpPr/>
          <p:nvPr/>
        </p:nvSpPr>
        <p:spPr>
          <a:xfrm>
            <a:off x="6126480" y="1143000"/>
            <a:ext cx="2743200" cy="3657600"/>
          </a:xfrm>
          <a:prstGeom prst="roundRect">
            <a:avLst/>
          </a:prstGeom>
          <a:solidFill>
            <a:srgbClr val="142740"/>
          </a:solidFill>
        </p:spPr>
      </p:sp>
      <p:sp>
        <p:nvSpPr>
          <p:cNvPr id="167" name="TextBox 167"/>
          <p:cNvSpPr txBox="1"/>
          <p:nvPr/>
        </p:nvSpPr>
        <p:spPr>
          <a:xfrm>
            <a:off x="6217920" y="1234440"/>
            <a:ext cx="25603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800" b="1">
                <a:solidFill>
                  <a:srgbClr val="4DA8DA"/>
                </a:solidFill>
              </a:rPr>
              <a:t>THE VISION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6217920" y="1645920"/>
            <a:ext cx="2560320" cy="2743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300" b="1">
                <a:solidFill>
                  <a:srgbClr val="FFFFFF"/>
                </a:solidFill>
              </a:rPr>
              <a:t>Moon to Mars</a:t>
            </a:r>
          </a:p>
        </p:txBody>
      </p:sp>
      <p:sp>
        <p:nvSpPr>
          <p:cNvPr id="169" name="TextBox 169"/>
          <p:cNvSpPr txBox="1"/>
          <p:nvPr/>
        </p:nvSpPr>
        <p:spPr>
          <a:xfrm>
            <a:off x="6217920" y="2011680"/>
            <a:ext cx="2560320" cy="25603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Sustained lunar presence</a:t>
            </a:r>
          </a:p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Lunar base camp</a:t>
            </a:r>
          </a:p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In-situ resource utilization</a:t>
            </a:r>
          </a:p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Proving ground for Mars</a:t>
            </a:r>
          </a:p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International collaboration</a:t>
            </a:r>
          </a:p>
          <a:p>
            <a:pPr lvl="0" algn="l">
              <a:buFont typeface="Arial"/>
              <a:buChar char="•"/>
            </a:pPr>
            <a:r>
              <a:rPr lang="en-US" dirty="0" sz="1000">
                <a:solidFill>
                  <a:srgbClr val="FFFFFF"/>
                </a:solidFill>
              </a:rPr>
              <a:t>Multi-planetary future</a:t>
            </a:r>
          </a:p>
        </p:txBody>
      </p:sp>
      <p:sp>
        <p:nvSpPr>
          <p:cNvPr id="224" name="TextBox 224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247" name="TextBox 247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70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2800" b="1">
                <a:solidFill>
                  <a:srgbClr val="FFFFFF"/>
                </a:solidFill>
              </a:rPr>
              <a:t>ARTEMIS II: A MISSION OF FIRSTS</a:t>
            </a:r>
          </a:p>
        </p:txBody>
      </p:sp>
      <p:sp>
        <p:nvSpPr>
          <p:cNvPr id="171" name="TextBox 171"/>
          <p:cNvSpPr txBox="1"/>
          <p:nvPr/>
        </p:nvSpPr>
        <p:spPr>
          <a:xfrm>
            <a:off x="731520" y="2011680"/>
            <a:ext cx="2476424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4800" b="1">
                <a:solidFill>
                  <a:srgbClr val="58A6FF"/>
                </a:solidFill>
              </a:rPr>
              <a:t>1st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731520" y="3383280"/>
            <a:ext cx="2476424" cy="5486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>
                <a:solidFill>
                  <a:srgbClr val="8B949E"/>
                </a:solidFill>
              </a:rPr>
              <a:t>CREWED ORION FLIGHT</a:t>
            </a:r>
          </a:p>
        </p:txBody>
      </p:sp>
      <p:sp>
        <p:nvSpPr>
          <p:cNvPr id="173" name="Rectangle 173"/>
          <p:cNvSpPr/>
          <p:nvPr/>
        </p:nvSpPr>
        <p:spPr>
          <a:xfrm>
            <a:off x="3345104" y="2286000"/>
            <a:ext cx="18288" cy="1828800"/>
          </a:xfrm>
          <a:prstGeom prst="rect">
            <a:avLst/>
          </a:prstGeom>
          <a:solidFill>
            <a:srgbClr val="8B949E"/>
          </a:solidFill>
        </p:spPr>
      </p:sp>
      <p:sp>
        <p:nvSpPr>
          <p:cNvPr id="174" name="TextBox 174"/>
          <p:cNvSpPr txBox="1"/>
          <p:nvPr/>
        </p:nvSpPr>
        <p:spPr>
          <a:xfrm>
            <a:off x="3482264" y="2011680"/>
            <a:ext cx="2476424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4800" b="1">
                <a:solidFill>
                  <a:srgbClr val="58A6FF"/>
                </a:solidFill>
              </a:rPr>
              <a:t>1st</a:t>
            </a:r>
          </a:p>
        </p:txBody>
      </p:sp>
      <p:sp>
        <p:nvSpPr>
          <p:cNvPr id="175" name="TextBox 175"/>
          <p:cNvSpPr txBox="1"/>
          <p:nvPr/>
        </p:nvSpPr>
        <p:spPr>
          <a:xfrm>
            <a:off x="3482264" y="3383280"/>
            <a:ext cx="2476424" cy="5486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>
                <a:solidFill>
                  <a:srgbClr val="8B949E"/>
                </a:solidFill>
              </a:rPr>
              <a:t>WOMAN TOWARD MOON</a:t>
            </a:r>
          </a:p>
        </p:txBody>
      </p:sp>
      <p:sp>
        <p:nvSpPr>
          <p:cNvPr id="176" name="Rectangle 176"/>
          <p:cNvSpPr/>
          <p:nvPr/>
        </p:nvSpPr>
        <p:spPr>
          <a:xfrm>
            <a:off x="6095848" y="2286000"/>
            <a:ext cx="18288" cy="1828800"/>
          </a:xfrm>
          <a:prstGeom prst="rect">
            <a:avLst/>
          </a:prstGeom>
          <a:solidFill>
            <a:srgbClr val="8B949E"/>
          </a:solidFill>
        </p:spPr>
      </p:sp>
      <p:sp>
        <p:nvSpPr>
          <p:cNvPr id="177" name="TextBox 177"/>
          <p:cNvSpPr txBox="1"/>
          <p:nvPr/>
        </p:nvSpPr>
        <p:spPr>
          <a:xfrm>
            <a:off x="6233008" y="2011680"/>
            <a:ext cx="2476424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4800" b="1">
                <a:solidFill>
                  <a:srgbClr val="58A6FF"/>
                </a:solidFill>
              </a:rPr>
              <a:t>1st</a:t>
            </a:r>
          </a:p>
        </p:txBody>
      </p:sp>
      <p:sp>
        <p:nvSpPr>
          <p:cNvPr id="178" name="TextBox 178"/>
          <p:cNvSpPr txBox="1"/>
          <p:nvPr/>
        </p:nvSpPr>
        <p:spPr>
          <a:xfrm>
            <a:off x="6233008" y="3383280"/>
            <a:ext cx="2476424" cy="5486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>
                <a:solidFill>
                  <a:srgbClr val="8B949E"/>
                </a:solidFill>
              </a:rPr>
              <a:t>BLACK ASTRONAUT TO MOON</a:t>
            </a:r>
          </a:p>
        </p:txBody>
      </p:sp>
      <p:sp>
        <p:nvSpPr>
          <p:cNvPr id="179" name="Rectangle 179"/>
          <p:cNvSpPr/>
          <p:nvPr/>
        </p:nvSpPr>
        <p:spPr>
          <a:xfrm>
            <a:off x="8846591" y="2286000"/>
            <a:ext cx="18288" cy="1828800"/>
          </a:xfrm>
          <a:prstGeom prst="rect">
            <a:avLst/>
          </a:prstGeom>
          <a:solidFill>
            <a:srgbClr val="8B949E"/>
          </a:solidFill>
        </p:spPr>
      </p:sp>
      <p:sp>
        <p:nvSpPr>
          <p:cNvPr id="180" name="TextBox 180"/>
          <p:cNvSpPr txBox="1"/>
          <p:nvPr/>
        </p:nvSpPr>
        <p:spPr>
          <a:xfrm>
            <a:off x="8983751" y="2011680"/>
            <a:ext cx="2476424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4800" b="1">
                <a:solidFill>
                  <a:srgbClr val="58A6FF"/>
                </a:solidFill>
              </a:rPr>
              <a:t>1st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8983751" y="3383280"/>
            <a:ext cx="2476424" cy="54864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600">
                <a:solidFill>
                  <a:srgbClr val="8B949E"/>
                </a:solidFill>
              </a:rPr>
              <a:t>CANADIAN IN DEEP SPACE</a:t>
            </a:r>
          </a:p>
        </p:txBody>
      </p:sp>
      <p:sp>
        <p:nvSpPr>
          <p:cNvPr id="225" name="TextBox 225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248" name="TextBox 248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82"/>
          <p:cNvSpPr txBox="1"/>
          <p:nvPr/>
        </p:nvSpPr>
        <p:spPr>
          <a:xfrm>
            <a:off x="731520" y="1097280"/>
            <a:ext cx="914400" cy="10972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12000" b="1">
                <a:solidFill>
                  <a:srgbClr val="58A6FF"/>
                </a:solidFill>
              </a:rPr>
              <a:t>“</a:t>
            </a:r>
          </a:p>
        </p:txBody>
      </p:sp>
      <p:sp>
        <p:nvSpPr>
          <p:cNvPr id="183" name="TextBox 183"/>
          <p:cNvSpPr txBox="1"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2400" i="1">
                <a:solidFill>
                  <a:srgbClr val="FFFFFF"/>
                </a:solidFill>
              </a:rPr>
              <a:t>We are the Artemis Generation. This is just the beginning of a new era of exploration that will take us farther than we have ever gone before.</a:t>
            </a:r>
          </a:p>
        </p:txBody>
      </p:sp>
      <p:sp>
        <p:nvSpPr>
          <p:cNvPr id="184" name="TextBox 184"/>
          <p:cNvSpPr txBox="1"/>
          <p:nvPr/>
        </p:nvSpPr>
        <p:spPr>
          <a:xfrm>
            <a:off x="9875520" y="3840480"/>
            <a:ext cx="914400" cy="10972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12000" b="1">
                <a:solidFill>
                  <a:srgbClr val="58A6FF"/>
                </a:solidFill>
              </a:rPr>
              <a:t>”</a:t>
            </a:r>
          </a:p>
        </p:txBody>
      </p:sp>
      <p:sp>
        <p:nvSpPr>
          <p:cNvPr id="185" name="TextBox 185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1600">
                <a:solidFill>
                  <a:srgbClr val="8B949E"/>
                </a:solidFill>
              </a:rPr>
              <a:t>— NASA, Artemis Program</a:t>
            </a:r>
          </a:p>
        </p:txBody>
      </p:sp>
      <p:sp>
        <p:nvSpPr>
          <p:cNvPr id="186" name="Rectangle 186"/>
          <p:cNvSpPr/>
          <p:nvPr/>
        </p:nvSpPr>
        <p:spPr>
          <a:xfrm>
            <a:off x="1371600" y="5303520"/>
            <a:ext cx="2743200" cy="54864"/>
          </a:xfrm>
          <a:prstGeom prst="rect">
            <a:avLst/>
          </a:prstGeom>
          <a:solidFill>
            <a:srgbClr val="58A6FF"/>
          </a:solidFill>
        </p:spPr>
      </p:sp>
      <p:sp>
        <p:nvSpPr>
          <p:cNvPr id="226" name="TextBox 226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249" name="TextBox 249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87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88" name="TextBox 188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3200" b="1">
                <a:solidFill>
                  <a:srgbClr val="FFFFFF"/>
                </a:solidFill>
              </a:rPr>
              <a:t>GET INVOLVED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2000" b="1">
                <a:solidFill>
                  <a:srgbClr val="FFFFFF"/>
                </a:solidFill>
              </a:rPr>
              <a:t>Be Part of Humanity's Journey to the Moon and Beyond</a:t>
            </a:r>
          </a:p>
        </p:txBody>
      </p:sp>
      <p:sp>
        <p:nvSpPr>
          <p:cNvPr id="190" name="Rectangle 190"/>
          <p:cNvSpPr/>
          <p:nvPr/>
        </p:nvSpPr>
        <p:spPr>
          <a:xfrm>
            <a:off x="274320" y="1691640"/>
            <a:ext cx="4206240" cy="1371600"/>
          </a:xfrm>
          <a:prstGeom prst="roundRect">
            <a:avLst/>
          </a:prstGeom>
          <a:solidFill>
            <a:srgbClr val="142740"/>
          </a:solidFill>
        </p:spPr>
      </p:sp>
      <p:sp>
        <p:nvSpPr>
          <p:cNvPr id="191" name="TextBox 191"/>
          <p:cNvSpPr txBox="1"/>
          <p:nvPr/>
        </p:nvSpPr>
        <p:spPr>
          <a:xfrm>
            <a:off x="457200" y="1783080"/>
            <a:ext cx="3840480" cy="2743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1400" b="1">
                <a:solidFill>
                  <a:srgbClr val="4DA8DA"/>
                </a:solidFill>
              </a:rPr>
              <a:t>FOLLOW THE MISSION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457200" y="2103120"/>
            <a:ext cx="3840480" cy="8229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nasa.gov/mission/artemis-ii</a:t>
            </a:r>
          </a:p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nasa.gov/artemis-ii-multimedia</a:t>
            </a:r>
          </a:p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Follow @NASA on social media</a:t>
            </a:r>
          </a:p>
        </p:txBody>
      </p:sp>
      <p:sp>
        <p:nvSpPr>
          <p:cNvPr id="193" name="Rectangle 193"/>
          <p:cNvSpPr/>
          <p:nvPr/>
        </p:nvSpPr>
        <p:spPr>
          <a:xfrm>
            <a:off x="4663440" y="1691640"/>
            <a:ext cx="4206240" cy="1371600"/>
          </a:xfrm>
          <a:prstGeom prst="roundRect">
            <a:avLst/>
          </a:prstGeom>
          <a:solidFill>
            <a:srgbClr val="142740"/>
          </a:solidFill>
        </p:spPr>
      </p:sp>
      <p:sp>
        <p:nvSpPr>
          <p:cNvPr id="194" name="TextBox 194"/>
          <p:cNvSpPr txBox="1"/>
          <p:nvPr/>
        </p:nvSpPr>
        <p:spPr>
          <a:xfrm>
            <a:off x="4846320" y="1783080"/>
            <a:ext cx="3840480" cy="2743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1400" b="1">
                <a:solidFill>
                  <a:srgbClr val="4DA8DA"/>
                </a:solidFill>
              </a:rPr>
              <a:t>STEM &amp; EDUCATION</a:t>
            </a:r>
          </a:p>
        </p:txBody>
      </p:sp>
      <p:sp>
        <p:nvSpPr>
          <p:cNvPr id="195" name="TextBox 195"/>
          <p:cNvSpPr txBox="1"/>
          <p:nvPr/>
        </p:nvSpPr>
        <p:spPr>
          <a:xfrm>
            <a:off x="4846320" y="2103120"/>
            <a:ext cx="3840480" cy="8229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NASA STEM Engagement programs</a:t>
            </a:r>
          </a:p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Artemis Student Challenges</a:t>
            </a:r>
          </a:p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Virtual Guest Program</a:t>
            </a:r>
          </a:p>
        </p:txBody>
      </p:sp>
      <p:sp>
        <p:nvSpPr>
          <p:cNvPr id="196" name="Rectangle 196"/>
          <p:cNvSpPr/>
          <p:nvPr/>
        </p:nvSpPr>
        <p:spPr>
          <a:xfrm>
            <a:off x="274320" y="3246120"/>
            <a:ext cx="4206240" cy="1371600"/>
          </a:xfrm>
          <a:prstGeom prst="roundRect">
            <a:avLst/>
          </a:prstGeom>
          <a:solidFill>
            <a:srgbClr val="142740"/>
          </a:solidFill>
        </p:spPr>
      </p:sp>
      <p:sp>
        <p:nvSpPr>
          <p:cNvPr id="197" name="TextBox 197"/>
          <p:cNvSpPr txBox="1"/>
          <p:nvPr/>
        </p:nvSpPr>
        <p:spPr>
          <a:xfrm>
            <a:off x="457200" y="3337560"/>
            <a:ext cx="3840480" cy="2743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1400" b="1">
                <a:solidFill>
                  <a:srgbClr val="4DA8DA"/>
                </a:solidFill>
              </a:rPr>
              <a:t>CAREERS &amp; INTERNSHIPS</a:t>
            </a:r>
          </a:p>
        </p:txBody>
      </p:sp>
      <p:sp>
        <p:nvSpPr>
          <p:cNvPr id="198" name="TextBox 198"/>
          <p:cNvSpPr txBox="1"/>
          <p:nvPr/>
        </p:nvSpPr>
        <p:spPr>
          <a:xfrm>
            <a:off x="457200" y="3657600"/>
            <a:ext cx="3840480" cy="8229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nasa.gov/careers</a:t>
            </a:r>
          </a:p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Pathways Intern Program</a:t>
            </a:r>
          </a:p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Join the Artemis Generation</a:t>
            </a:r>
          </a:p>
        </p:txBody>
      </p:sp>
      <p:sp>
        <p:nvSpPr>
          <p:cNvPr id="199" name="Rectangle 199"/>
          <p:cNvSpPr/>
          <p:nvPr/>
        </p:nvSpPr>
        <p:spPr>
          <a:xfrm>
            <a:off x="4663440" y="3246120"/>
            <a:ext cx="4206240" cy="1371600"/>
          </a:xfrm>
          <a:prstGeom prst="roundRect">
            <a:avLst/>
          </a:prstGeom>
          <a:solidFill>
            <a:srgbClr val="142740"/>
          </a:solidFill>
        </p:spPr>
      </p:sp>
      <p:sp>
        <p:nvSpPr>
          <p:cNvPr id="200" name="TextBox 200"/>
          <p:cNvSpPr txBox="1"/>
          <p:nvPr/>
        </p:nvSpPr>
        <p:spPr>
          <a:xfrm>
            <a:off x="4846320" y="3337560"/>
            <a:ext cx="3840480" cy="2743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1400" b="1">
                <a:solidFill>
                  <a:srgbClr val="4DA8DA"/>
                </a:solidFill>
              </a:rPr>
              <a:t>CITIZEN SCIENCE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4846320" y="3657600"/>
            <a:ext cx="3840480" cy="8229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science.nasa.gov/citizen-science</a:t>
            </a:r>
          </a:p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Moon mapping &amp; observation</a:t>
            </a:r>
          </a:p>
          <a:p>
            <a:pPr lvl="0" algn="l">
              <a:buFont typeface="Arial"/>
              <a:buChar char="•"/>
            </a:pPr>
            <a:r>
              <a:rPr lang="en-US" dirty="0" sz="1100">
                <a:solidFill>
                  <a:srgbClr val="FFFFFF"/>
                </a:solidFill>
              </a:rPr>
              <a:t>Help analyze mission data</a:t>
            </a:r>
          </a:p>
        </p:txBody>
      </p:sp>
      <p:sp>
        <p:nvSpPr>
          <p:cNvPr id="227" name="TextBox 227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250" name="TextBox 250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Imag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03" name="Rectangle 20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>
              <a:alpha val="45000"/>
            </a:srgbClr>
          </a:solidFill>
        </p:spPr>
      </p:sp>
      <p:sp>
        <p:nvSpPr>
          <p:cNvPr id="204" name="TextBox 204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4000" b="1">
                <a:solidFill>
                  <a:srgbClr val="FFFFFF"/>
                </a:solidFill>
              </a:rPr>
              <a:t>WE ARE THE ARTEMIS GENERATION</a:t>
            </a:r>
          </a:p>
        </p:txBody>
      </p:sp>
      <p:sp>
        <p:nvSpPr>
          <p:cNvPr id="205" name="TextBox 205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ctr"/>
            <a:r>
              <a:rPr lang="en-US" dirty="0" sz="1800">
                <a:solidFill>
                  <a:srgbClr val="FFFFFF"/>
                </a:solidFill>
              </a:rPr>
              <a:t>The Moon is just the beginning.
nasa.gov/artemis</a:t>
            </a:r>
          </a:p>
        </p:txBody>
      </p:sp>
      <p:sp>
        <p:nvSpPr>
          <p:cNvPr id="228" name="TextBox 228"/>
          <p:cNvSpPr txBox="1"/>
          <p:nvPr/>
        </p:nvSpPr>
        <p:spPr>
          <a:xfrm>
            <a:off x="10972800" y="6400800"/>
            <a:ext cx="73152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r"/>
            <a:r>
              <a:rPr lang="en-US" dirty="0" sz="800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251" name="TextBox 251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square" anchor="t" lIns="137160" tIns="137160" rIns="137160" bIns="137160"/>
          <a:lstStyle/>
          <a:p>
            <a:pPr algn="l"/>
            <a:r>
              <a:rPr lang="en-US" dirty="0" sz="700">
                <a:solidFill>
                  <a:srgbClr val="FFFFFF"/>
                </a:solidFill>
              </a:rPr>
              <a:t>NASA Artemis II | Images: NASA/JSC | nasa.gov/mission/artemis-ii</a:t>
            </a:r>
          </a:p>
        </p:txBody>
      </p:sp>
    </p:spTree>
  </p:cSld>
  <p:transition spd="med">
    <p:fade/>
  </p:transition>
</p:sld>
</file>

<file path=ppt/theme/theme1.xml><?xml version="1.0" encoding="utf-8"?>
<a:theme xmlns:a="http://schemas.openxmlformats.org/drawingml/2006/main" name="HyperAgent">
  <a:themeElements>
    <a:clrScheme name="HyperAgen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8A6FF"/>
      </a:accent1>
      <a:accent2>
        <a:srgbClr val="3FB950"/>
      </a:accent2>
      <a:accent3>
        <a:srgbClr val="D29922"/>
      </a:accent3>
      <a:accent4>
        <a:srgbClr val="F85149"/>
      </a:accent4>
      <a:accent5>
        <a:srgbClr val="8B949E"/>
      </a:accent5>
      <a:accent6>
        <a:srgbClr val="58A6FF"/>
      </a:accent6>
      <a:hlink>
        <a:srgbClr val="58A6FF"/>
      </a:hlink>
      <a:folHlink>
        <a:srgbClr val="D29922"/>
      </a:folHlink>
    </a:clrScheme>
    <a:fontScheme name="HyperAgen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HyperAgen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HyperAgent">
  <a:themeElements>
    <a:clrScheme name="HyperAgen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8A6FF"/>
      </a:accent1>
      <a:accent2>
        <a:srgbClr val="3FB950"/>
      </a:accent2>
      <a:accent3>
        <a:srgbClr val="D29922"/>
      </a:accent3>
      <a:accent4>
        <a:srgbClr val="F85149"/>
      </a:accent4>
      <a:accent5>
        <a:srgbClr val="8B949E"/>
      </a:accent5>
      <a:accent6>
        <a:srgbClr val="58A6FF"/>
      </a:accent6>
      <a:hlink>
        <a:srgbClr val="58A6FF"/>
      </a:hlink>
      <a:folHlink>
        <a:srgbClr val="D29922"/>
      </a:folHlink>
    </a:clrScheme>
    <a:fontScheme name="HyperAgen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HyperAgen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Hyperlight PPTX</Application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Presentation</dc:title>
  <dc:creator>Hyperlight PPTX</dc:creator>
  <dcterms:created xsi:type="dcterms:W3CDTF">2026-04-21T19:23:19Z</dcterms:created>
  <dcterms:modified xsi:type="dcterms:W3CDTF">2026-04-21T19:23:19Z</dcterms:modified>
</cp:coreProperties>
</file>