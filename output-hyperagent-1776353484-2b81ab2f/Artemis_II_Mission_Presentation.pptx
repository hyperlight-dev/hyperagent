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Default Extension="png" ContentType="image/png"/>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9"/>
  </p:sldMasterIdLst>
  <p:notesMasterIdLst>
    <p:notesMasterId r:id="rId24"/>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Lst>
  <p:sldSz cx="12192000" cy="6858000"/>
  <p:notesSz cx="6858000" cy="12192000"/>
</p:presentation>
</file>

<file path=ppt/presProps.xml><?xml version="1.0" encoding="utf-8"?>
<p:presentationPr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file>

<file path=ppt/_rels/presentation.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Master" Target="slideMasters/slideMaster1.xml"/><Relationship Id="rId20" Type="http://schemas.openxmlformats.org/officeDocument/2006/relationships/theme" Target="theme/theme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ableStyles" Target="tableStyles.xml"/><Relationship Id="rId2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Artemis II launched April 1, 2026 from Kennedy Space Center Launch Complex 39B at 6:35 PM EDT. NASA's first crewed lunar flyby mission in over 50 years.</a:t>
            </a:r>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Artemis II sent 4 astronauts approximately 240,000 miles from Earth, the farthest since Apollo 17 in December 1972.</a:t>
            </a:r>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Key mission facts: Launched April 1, 2026 at 6:35 PM EDT from LC-39B. SLS generated 8.8 million pounds of thrust. Mission lasted 9 days, 1 hour, 32 minutes. Splashdown April 10, 2026.</a:t>
            </a:r>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Crew: Commander Reid Wiseman (NASA), Pilot Victor Glover (NASA), Mission Specialist Christina Koch (NASA), Mission Specialist Jeremy Hansen (CSA). Hansen became the first Canadian to fly to the Moon.</a:t>
            </a:r>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Artemis II reached approximately 386,243 km from Earth. The SLS Block 1 rocket stands 98.3 meters tall. The Orion crew module weighs approximately 26,000 kg.</a:t>
            </a:r>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Photo taken by Reid Wiseman from one of Orion's four main windows after the TLI burn on April 2, 2026.</a:t>
            </a:r>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Orion built by Lockheed Martin with ESA European Service Module. Heat shield withstands 3,600F during re-entry at 25,000 mph. SLS uses four RS-25 engines plus two solid rocket boosters.</a:t>
            </a:r>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Image captured by the Artemis II crew during their lunar flyby, documenting views not seen since the Apollo era.</a:t>
            </a:r>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Photographs taken by the Artemis II crew during their 9-day mission. Views of Moon, Earth, and deep space not seen by human eyes in over 50 years.</a:t>
            </a:r>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AVATAR used organ-on-a-chip devices to study radiation/microgravity effects. Crew tested optical navigation and measured deep space radiation beyond Van Allen belts.</a:t>
            </a:r>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Launched at 6:35 PM EDT. Heat shield endured 3,600F at approximately 25,000 mph re-entry. Estimated 1 million spectators at Kennedy Space Center.</a:t>
            </a:r>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Earth setting behind the lunar horizon as seen from the far side of the Moon during the Artemis II mission.</a:t>
            </a:r>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The Artemis program aims to establish a sustainable human presence at the Moon, building infrastructure for eventual Mars missions.</a:t>
            </a:r>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Artemis III will land first woman and person of color on the Moon using SpaceX Starship HLS. Artemis IV begins Gateway station assembly. Long-term goal: sustainable lunar presence as Mars proving ground.</a:t>
            </a:r>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Ways to get involved: Join Artemis events, follow live coverage, access STEM education, citizen science projects, explore multimedia, and NASA careers.</a:t>
            </a:r>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cNvSpPr>
            <a:spLocks noGrp="1" noRot="1" noChangeAspect="1"/>
          </p:cNvSpPr>
          <p:nvPr>
            <p:ph type="sldImg"/>
          </p:nvPr>
        </p:nvSpPr>
        <p:spPr/>
      </p:sp>
      <p:sp>
        <p:nvSpPr>
          <p:cNvPr id="3" name="Notes"/>
          <p:cNvSpPr>
            <a:spLocks noGrp="1"/>
          </p:cNvSpPr>
          <p:nvPr>
            <p:ph type="body" idx="1"/>
          </p:nvPr>
        </p:nvSpPr>
        <p:spPr/>
        <p:txBody>
          <a:bodyPr/>
          <a:lstStyle/>
          <a:p>
            <a:r>
              <a:rPr lang="en-US" dirty="0"/>
              <a:t>The Artemis program is the next giant leap. We are returning to the Moon to stay, building the foundation for Mars and beyond.</a:t>
            </a: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p:spTree>
      <p:nvGrpSpPr>
        <p:cNvPr id="1" name=""/>
        <p:cNvGrpSpPr/>
        <p:nvPr/>
      </p:nvGrpSpPr>
      <p:grpSpPr/>
    </p:spTree>
  </p:cSl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p:spTree>
  </p:cSld>
  <p:clrMap bg1="dk1" tx1="lt1" bg2="dk2" tx2="lt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Link1" Type="http://schemas.openxmlformats.org/officeDocument/2006/relationships/hyperlink" Target="https://github.com/hyperlight-dev/hyperagent"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 Id="rId6"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18" name="TextBox 218"/>
          <p:cNvSpPr txBox="1"/>
          <p:nvPr/>
        </p:nvSpPr>
        <p:spPr>
          <a:xfrm>
            <a:off x="914400" y="1828800"/>
            <a:ext cx="10360152" cy="1828800"/>
          </a:xfrm>
          <a:prstGeom prst="rect">
            <a:avLst/>
          </a:prstGeom>
          <a:noFill/>
        </p:spPr>
        <p:txBody>
          <a:bodyPr wrap="square" anchor="ctr" lIns="137160" tIns="137160" rIns="137160" bIns="137160"/>
          <a:lstStyle/>
          <a:p>
            <a:pPr algn="ctr"/>
            <a:r>
              <a:rPr lang="en-US" dirty="0" sz="2800" b="1">
                <a:solidFill>
                  <a:srgbClr val="FFFFFF"/>
                </a:solidFill>
              </a:rPr>
              <a:t>⚠️ Warning: This PowerPoint deck was generated by HyperAgent.
You should carefully check and verify the contents.</a:t>
            </a:r>
          </a:p>
        </p:txBody>
      </p:sp>
      <p:sp>
        <p:nvSpPr>
          <p:cNvPr id="219" name="Hyperlink 219"/>
          <p:cNvSpPr txBox="1"/>
          <p:nvPr/>
        </p:nvSpPr>
        <p:spPr>
          <a:xfrm>
            <a:off x="2743200" y="4114800"/>
            <a:ext cx="6702552" cy="548640"/>
          </a:xfrm>
          <a:prstGeom prst="rect">
            <a:avLst/>
          </a:prstGeom>
          <a:noFill/>
        </p:spPr>
        <p:txBody>
          <a:bodyPr wrap="square" anchor="ctr"/>
          <a:lstStyle/>
          <a:p>
            <a:pPr algn="ctr"/>
            <a:r>
              <a:rPr lang="en-US" sz="1600" u="sng" dirty="0">
                <a:solidFill>
                  <a:srgbClr val="58A6FF"/>
                </a:solidFill>
                <a:hlinkClick r:id="rIdLink1"/>
              </a:rPr>
              <a:t>Learn more about HyperAgent</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Image 1"/>
          <p:cNvPicPr>
            <a:picLocks noChangeAspect="1"/>
          </p:cNvPicPr>
          <p:nvPr/>
        </p:nvPicPr>
        <p:blipFill>
          <a:blip r:embed="rId3"/>
          <a:stretch>
            <a:fillRect/>
          </a:stretch>
        </p:blipFill>
        <p:spPr>
          <a:xfrm>
            <a:off x="0" y="0"/>
            <a:ext cx="12191695" cy="6858000"/>
          </a:xfrm>
          <a:prstGeom prst="rect">
            <a:avLst/>
          </a:prstGeom>
        </p:spPr>
      </p:pic>
      <p:sp>
        <p:nvSpPr>
          <p:cNvPr id="3" name="Rectangle 3"/>
          <p:cNvSpPr/>
          <p:nvPr/>
        </p:nvSpPr>
        <p:spPr>
          <a:xfrm>
            <a:off x="0" y="0"/>
            <a:ext cx="12191695" cy="6858000"/>
          </a:xfrm>
          <a:prstGeom prst="rect">
            <a:avLst/>
          </a:prstGeom>
          <a:solidFill>
            <a:srgbClr val="0A1628">
              <a:alpha val="50000"/>
            </a:srgbClr>
          </a:solidFill>
        </p:spPr>
      </p:sp>
      <p:sp>
        <p:nvSpPr>
          <p:cNvPr id="4" name="TextBox 4"/>
          <p:cNvSpPr txBox="1"/>
          <p:nvPr/>
        </p:nvSpPr>
        <p:spPr>
          <a:xfrm>
            <a:off x="457200" y="2560320"/>
            <a:ext cx="11277295" cy="1371600"/>
          </a:xfrm>
          <a:prstGeom prst="rect">
            <a:avLst/>
          </a:prstGeom>
          <a:noFill/>
        </p:spPr>
        <p:txBody>
          <a:bodyPr wrap="square" anchor="t" lIns="137160" tIns="137160" rIns="137160" bIns="137160"/>
          <a:lstStyle/>
          <a:p>
            <a:pPr algn="ctr"/>
            <a:r>
              <a:rPr lang="en-US" dirty="0" sz="5400" b="1">
                <a:solidFill>
                  <a:srgbClr val="FFFFFF"/>
                </a:solidFill>
              </a:rPr>
              <a:t>ARTEMIS II</a:t>
            </a:r>
          </a:p>
        </p:txBody>
      </p:sp>
      <p:sp>
        <p:nvSpPr>
          <p:cNvPr id="5" name="TextBox 5"/>
          <p:cNvSpPr txBox="1"/>
          <p:nvPr/>
        </p:nvSpPr>
        <p:spPr>
          <a:xfrm>
            <a:off x="457200" y="3840480"/>
            <a:ext cx="11277295" cy="731520"/>
          </a:xfrm>
          <a:prstGeom prst="rect">
            <a:avLst/>
          </a:prstGeom>
          <a:noFill/>
        </p:spPr>
        <p:txBody>
          <a:bodyPr wrap="square" anchor="t" lIns="137160" tIns="137160" rIns="137160" bIns="137160"/>
          <a:lstStyle/>
          <a:p>
            <a:pPr algn="ctr"/>
            <a:r>
              <a:rPr lang="en-US" dirty="0" sz="2000">
                <a:solidFill>
                  <a:srgbClr val="FFFFFF"/>
                </a:solidFill>
              </a:rPr>
              <a:t>Humanity Returns to the Moon  |  April 1–10, 2026</a:t>
            </a:r>
          </a:p>
        </p:txBody>
      </p:sp>
      <p:sp>
        <p:nvSpPr>
          <p:cNvPr id="184" name="TextBox 184"/>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1</a:t>
            </a:r>
          </a:p>
        </p:txBody>
      </p:sp>
      <p:sp>
        <p:nvSpPr>
          <p:cNvPr id="201" name="TextBox 201"/>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  Source: nasa.gov/mission/artemis-ii  |  April 2026</a:t>
            </a:r>
          </a:p>
        </p:txBody>
      </p:sp>
    </p:spTree>
  </p:cSld>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6" name="TextBox 6"/>
          <p:cNvSpPr txBox="1"/>
          <p:nvPr/>
        </p:nvSpPr>
        <p:spPr>
          <a:xfrm>
            <a:off x="457200" y="2148840"/>
            <a:ext cx="7315200" cy="1828800"/>
          </a:xfrm>
          <a:prstGeom prst="rect">
            <a:avLst/>
          </a:prstGeom>
          <a:noFill/>
        </p:spPr>
        <p:txBody>
          <a:bodyPr wrap="square" anchor="t" lIns="137160" tIns="137160" rIns="137160" bIns="137160"/>
          <a:lstStyle/>
          <a:p>
            <a:pPr algn="r"/>
            <a:r>
              <a:rPr lang="en-US" dirty="0" sz="10000" b="1">
                <a:solidFill>
                  <a:srgbClr val="58A6FF"/>
                </a:solidFill>
              </a:rPr>
              <a:t>240,000</a:t>
            </a:r>
          </a:p>
        </p:txBody>
      </p:sp>
      <p:sp>
        <p:nvSpPr>
          <p:cNvPr id="7" name="TextBox 7"/>
          <p:cNvSpPr txBox="1"/>
          <p:nvPr/>
        </p:nvSpPr>
        <p:spPr>
          <a:xfrm>
            <a:off x="7955280" y="2880360"/>
            <a:ext cx="3657600" cy="1097280"/>
          </a:xfrm>
          <a:prstGeom prst="rect">
            <a:avLst/>
          </a:prstGeom>
          <a:noFill/>
        </p:spPr>
        <p:txBody>
          <a:bodyPr wrap="square" anchor="t" lIns="137160" tIns="137160" rIns="137160" bIns="137160"/>
          <a:lstStyle/>
          <a:p>
            <a:pPr algn="l"/>
            <a:r>
              <a:rPr lang="en-US" dirty="0" sz="3600" b="1">
                <a:solidFill>
                  <a:srgbClr val="58A6FF"/>
                </a:solidFill>
              </a:rPr>
              <a:t>MILES</a:t>
            </a:r>
          </a:p>
        </p:txBody>
      </p:sp>
      <p:sp>
        <p:nvSpPr>
          <p:cNvPr id="8" name="TextBox 8"/>
          <p:cNvSpPr txBox="1"/>
          <p:nvPr/>
        </p:nvSpPr>
        <p:spPr>
          <a:xfrm>
            <a:off x="457200" y="4160520"/>
            <a:ext cx="11274552" cy="548640"/>
          </a:xfrm>
          <a:prstGeom prst="rect">
            <a:avLst/>
          </a:prstGeom>
          <a:noFill/>
        </p:spPr>
        <p:txBody>
          <a:bodyPr wrap="square" anchor="t" lIns="137160" tIns="137160" rIns="137160" bIns="137160"/>
          <a:lstStyle/>
          <a:p>
            <a:pPr algn="ctr"/>
            <a:r>
              <a:rPr lang="en-US" dirty="0" sz="1600">
                <a:solidFill>
                  <a:srgbClr val="8B949E"/>
                </a:solidFill>
              </a:rPr>
              <a:t>Farthest humans from Earth in 50+ years</a:t>
            </a:r>
          </a:p>
        </p:txBody>
      </p:sp>
      <p:sp>
        <p:nvSpPr>
          <p:cNvPr id="185" name="TextBox 185"/>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2</a:t>
            </a:r>
          </a:p>
        </p:txBody>
      </p:sp>
      <p:sp>
        <p:nvSpPr>
          <p:cNvPr id="202" name="TextBox 202"/>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  Source: nasa.gov/mission/artemis-ii  |  April 2026</a:t>
            </a:r>
          </a:p>
        </p:txBody>
      </p:sp>
    </p:spTree>
  </p:cSld>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9" name="Image 2"/>
          <p:cNvPicPr>
            <a:picLocks noChangeAspect="1"/>
          </p:cNvPicPr>
          <p:nvPr/>
        </p:nvPicPr>
        <p:blipFill>
          <a:blip r:embed="rId3"/>
          <a:stretch>
            <a:fillRect/>
          </a:stretch>
        </p:blipFill>
        <p:spPr>
          <a:xfrm>
            <a:off x="0" y="0"/>
            <a:ext cx="12191695" cy="6858000"/>
          </a:xfrm>
          <a:prstGeom prst="rect">
            <a:avLst/>
          </a:prstGeom>
        </p:spPr>
      </p:pic>
      <p:sp>
        <p:nvSpPr>
          <p:cNvPr id="10" name="Rectangle 10"/>
          <p:cNvSpPr/>
          <p:nvPr/>
        </p:nvSpPr>
        <p:spPr>
          <a:xfrm>
            <a:off x="0" y="0"/>
            <a:ext cx="12191695" cy="6858000"/>
          </a:xfrm>
          <a:prstGeom prst="rect">
            <a:avLst/>
          </a:prstGeom>
          <a:solidFill>
            <a:srgbClr val="0A1628">
              <a:alpha val="70000"/>
            </a:srgbClr>
          </a:solidFill>
        </p:spPr>
      </p:sp>
      <p:sp>
        <p:nvSpPr>
          <p:cNvPr id="11" name="TextBox 11"/>
          <p:cNvSpPr txBox="1"/>
          <p:nvPr/>
        </p:nvSpPr>
        <p:spPr>
          <a:xfrm>
            <a:off x="548640" y="320040"/>
            <a:ext cx="8046720" cy="548640"/>
          </a:xfrm>
          <a:prstGeom prst="rect">
            <a:avLst/>
          </a:prstGeom>
          <a:noFill/>
        </p:spPr>
        <p:txBody>
          <a:bodyPr wrap="square" anchor="t" lIns="137160" tIns="137160" rIns="137160" bIns="137160"/>
          <a:lstStyle/>
          <a:p>
            <a:pPr algn="l"/>
            <a:r>
              <a:rPr lang="en-US" dirty="0" sz="2800" b="1">
                <a:solidFill>
                  <a:srgbClr val="4FC3F7"/>
                </a:solidFill>
              </a:rPr>
              <a:t>MISSION OVERVIEW</a:t>
            </a:r>
          </a:p>
        </p:txBody>
      </p:sp>
      <p:cxnSp>
        <p:nvCxnSpPr>
          <p:cNvPr id="12" name="Line 12"/>
          <p:cNvCxnSpPr/>
          <p:nvPr/>
        </p:nvCxnSpPr>
        <p:spPr>
          <a:xfrm>
            <a:off x="548640" y="914400"/>
            <a:ext cx="3108960" cy="1"/>
          </a:xfrm>
          <a:prstGeom prst="line">
            <a:avLst/>
          </a:prstGeom>
          <a:ln w="25400">
            <a:solidFill>
              <a:srgbClr val="4FC3F7"/>
            </a:solidFill>
          </a:ln>
        </p:spPr>
      </p:cxnSp>
      <p:sp>
        <p:nvSpPr>
          <p:cNvPr id="13" name="TextBox 13"/>
          <p:cNvSpPr txBox="1"/>
          <p:nvPr/>
        </p:nvSpPr>
        <p:spPr>
          <a:xfrm>
            <a:off x="548640" y="1051560"/>
            <a:ext cx="4572000" cy="2011680"/>
          </a:xfrm>
          <a:prstGeom prst="rect">
            <a:avLst/>
          </a:prstGeom>
          <a:noFill/>
        </p:spPr>
        <p:txBody>
          <a:bodyPr wrap="square" anchor="t" lIns="137160" tIns="137160" rIns="137160" bIns="137160"/>
          <a:lstStyle/>
          <a:p>
            <a:pPr algn="l">
              <a:lnSpc>
                <a:spcPts val="2200"/>
              </a:lnSpc>
            </a:pPr>
            <a:r>
              <a:rPr lang="en-US" dirty="0" sz="1400">
                <a:solidFill>
                  <a:srgbClr val="CCCCCC"/>
                </a:solidFill>
              </a:rPr>
              <a:t>Artemis II was NASA's first crewed mission on the Space Launch System rocket and Orion spacecraft. Four astronauts flew around the Moon on a 9-day mission, testing critical deep-space systems and paving the way for Artemis III lunar landings.</a:t>
            </a:r>
          </a:p>
        </p:txBody>
      </p:sp>
      <p:sp>
        <p:nvSpPr>
          <p:cNvPr id="14" name="TextBox 14"/>
          <p:cNvSpPr txBox="1"/>
          <p:nvPr/>
        </p:nvSpPr>
        <p:spPr>
          <a:xfrm>
            <a:off x="5669280" y="1051560"/>
            <a:ext cx="3108960" cy="914400"/>
          </a:xfrm>
          <a:prstGeom prst="roundRect">
            <a:avLst/>
          </a:prstGeom>
          <a:solidFill>
            <a:srgbClr val="1A2744"/>
          </a:solidFill>
        </p:spPr>
        <p:txBody>
          <a:bodyPr wrap="square" anchor="ctr" lIns="137160" tIns="137160" rIns="137160" bIns="137160"/>
          <a:lstStyle/>
          <a:p>
            <a:pPr algn="ctr"/>
            <a:r>
              <a:rPr lang="en-US" dirty="0" sz="2400" b="1">
                <a:solidFill>
                  <a:srgbClr val="4FC3F7"/>
                </a:solidFill>
              </a:rPr>
              <a:t>9d 1h 32m</a:t>
            </a:r>
          </a:p>
          <a:p>
            <a:pPr algn="ctr"/>
            <a:r>
              <a:rPr lang="en-US" dirty="0" sz="1400">
                <a:solidFill>
                  <a:srgbClr val="FFFFFF"/>
                </a:solidFill>
              </a:rPr>
              <a:t>MISSION DURATION</a:t>
            </a:r>
          </a:p>
        </p:txBody>
      </p:sp>
      <p:sp>
        <p:nvSpPr>
          <p:cNvPr id="15" name="TextBox 15"/>
          <p:cNvSpPr txBox="1"/>
          <p:nvPr/>
        </p:nvSpPr>
        <p:spPr>
          <a:xfrm>
            <a:off x="5669280" y="2057400"/>
            <a:ext cx="3108960" cy="914400"/>
          </a:xfrm>
          <a:prstGeom prst="roundRect">
            <a:avLst/>
          </a:prstGeom>
          <a:solidFill>
            <a:srgbClr val="1A2744"/>
          </a:solidFill>
        </p:spPr>
        <p:txBody>
          <a:bodyPr wrap="square" anchor="ctr" lIns="137160" tIns="137160" rIns="137160" bIns="137160"/>
          <a:lstStyle/>
          <a:p>
            <a:pPr algn="ctr"/>
            <a:r>
              <a:rPr lang="en-US" dirty="0" sz="2200" b="1">
                <a:solidFill>
                  <a:srgbClr val="4FC3F7"/>
                </a:solidFill>
              </a:rPr>
              <a:t>April 1, 2026</a:t>
            </a:r>
          </a:p>
          <a:p>
            <a:pPr algn="ctr"/>
            <a:r>
              <a:rPr lang="en-US" dirty="0" sz="1400">
                <a:solidFill>
                  <a:srgbClr val="FFFFFF"/>
                </a:solidFill>
              </a:rPr>
              <a:t>LAUNCH DATE</a:t>
            </a:r>
          </a:p>
        </p:txBody>
      </p:sp>
      <p:sp>
        <p:nvSpPr>
          <p:cNvPr id="16" name="TextBox 16"/>
          <p:cNvSpPr txBox="1"/>
          <p:nvPr/>
        </p:nvSpPr>
        <p:spPr>
          <a:xfrm>
            <a:off x="548640" y="3291840"/>
            <a:ext cx="2636444" cy="1371600"/>
          </a:xfrm>
          <a:prstGeom prst="roundRect">
            <a:avLst/>
          </a:prstGeom>
          <a:solidFill>
            <a:srgbClr val="1A2744"/>
          </a:solidFill>
        </p:spPr>
        <p:txBody>
          <a:bodyPr wrap="square" anchor="ctr" lIns="137160" tIns="137160" rIns="137160" bIns="137160"/>
          <a:lstStyle/>
          <a:p>
            <a:pPr algn="ctr"/>
            <a:r>
              <a:rPr lang="en-US" dirty="0" sz="1600" b="1">
                <a:solidFill>
                  <a:srgbClr val="FFD54F"/>
                </a:solidFill>
              </a:rPr>
              <a:t>322,000 km/h</a:t>
            </a:r>
          </a:p>
          <a:p>
            <a:pPr algn="ctr"/>
            <a:r>
              <a:rPr lang="en-US" dirty="0" sz="1400">
                <a:solidFill>
                  <a:srgbClr val="FFFFFF"/>
                </a:solidFill>
              </a:rPr>
              <a:t>MAX VELOCITY</a:t>
            </a:r>
          </a:p>
        </p:txBody>
      </p:sp>
      <p:sp>
        <p:nvSpPr>
          <p:cNvPr id="17" name="TextBox 17"/>
          <p:cNvSpPr txBox="1"/>
          <p:nvPr/>
        </p:nvSpPr>
        <p:spPr>
          <a:xfrm>
            <a:off x="3367964" y="3291840"/>
            <a:ext cx="2636444" cy="1371600"/>
          </a:xfrm>
          <a:prstGeom prst="roundRect">
            <a:avLst/>
          </a:prstGeom>
          <a:solidFill>
            <a:srgbClr val="1A2744"/>
          </a:solidFill>
        </p:spPr>
        <p:txBody>
          <a:bodyPr wrap="square" anchor="ctr" lIns="137160" tIns="137160" rIns="137160" bIns="137160"/>
          <a:lstStyle/>
          <a:p>
            <a:pPr algn="ctr"/>
            <a:r>
              <a:rPr lang="en-US" dirty="0" sz="1600" b="1">
                <a:solidFill>
                  <a:srgbClr val="FFD54F"/>
                </a:solidFill>
              </a:rPr>
              <a:t>8.9M lbs</a:t>
            </a:r>
          </a:p>
          <a:p>
            <a:pPr algn="ctr"/>
            <a:r>
              <a:rPr lang="en-US" dirty="0" sz="1400">
                <a:solidFill>
                  <a:srgbClr val="FFFFFF"/>
                </a:solidFill>
              </a:rPr>
              <a:t>SLS THRUST</a:t>
            </a:r>
          </a:p>
        </p:txBody>
      </p:sp>
      <p:sp>
        <p:nvSpPr>
          <p:cNvPr id="18" name="TextBox 18"/>
          <p:cNvSpPr txBox="1"/>
          <p:nvPr/>
        </p:nvSpPr>
        <p:spPr>
          <a:xfrm>
            <a:off x="6187288" y="3291840"/>
            <a:ext cx="2636444" cy="1371600"/>
          </a:xfrm>
          <a:prstGeom prst="roundRect">
            <a:avLst/>
          </a:prstGeom>
          <a:solidFill>
            <a:srgbClr val="1A2744"/>
          </a:solidFill>
        </p:spPr>
        <p:txBody>
          <a:bodyPr wrap="square" anchor="ctr" lIns="137160" tIns="137160" rIns="137160" bIns="137160"/>
          <a:lstStyle/>
          <a:p>
            <a:pPr algn="ctr"/>
            <a:r>
              <a:rPr lang="en-US" dirty="0" sz="1600" b="1">
                <a:solidFill>
                  <a:srgbClr val="FFD54F"/>
                </a:solidFill>
              </a:rPr>
              <a:t>LC-39B</a:t>
            </a:r>
          </a:p>
          <a:p>
            <a:pPr algn="ctr"/>
            <a:r>
              <a:rPr lang="en-US" dirty="0" sz="1400">
                <a:solidFill>
                  <a:srgbClr val="FFFFFF"/>
                </a:solidFill>
              </a:rPr>
              <a:t>LAUNCH PAD</a:t>
            </a:r>
          </a:p>
        </p:txBody>
      </p:sp>
      <p:sp>
        <p:nvSpPr>
          <p:cNvPr id="19" name="TextBox 19"/>
          <p:cNvSpPr txBox="1"/>
          <p:nvPr/>
        </p:nvSpPr>
        <p:spPr>
          <a:xfrm>
            <a:off x="9006611" y="3291840"/>
            <a:ext cx="2636444" cy="1371600"/>
          </a:xfrm>
          <a:prstGeom prst="roundRect">
            <a:avLst/>
          </a:prstGeom>
          <a:solidFill>
            <a:srgbClr val="1A2744"/>
          </a:solidFill>
        </p:spPr>
        <p:txBody>
          <a:bodyPr wrap="square" anchor="ctr" lIns="137160" tIns="137160" rIns="137160" bIns="137160"/>
          <a:lstStyle/>
          <a:p>
            <a:pPr algn="ctr"/>
            <a:r>
              <a:rPr lang="en-US" dirty="0" sz="1600" b="1">
                <a:solidFill>
                  <a:srgbClr val="FFD54F"/>
                </a:solidFill>
              </a:rPr>
              <a:t>4</a:t>
            </a:r>
          </a:p>
          <a:p>
            <a:pPr algn="ctr"/>
            <a:r>
              <a:rPr lang="en-US" dirty="0" sz="1400">
                <a:solidFill>
                  <a:srgbClr val="FFFFFF"/>
                </a:solidFill>
              </a:rPr>
              <a:t>CREW MEMBERS</a:t>
            </a:r>
          </a:p>
        </p:txBody>
      </p:sp>
      <p:sp>
        <p:nvSpPr>
          <p:cNvPr id="186" name="TextBox 186"/>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3</a:t>
            </a:r>
          </a:p>
        </p:txBody>
      </p:sp>
      <p:sp>
        <p:nvSpPr>
          <p:cNvPr id="203" name="TextBox 203"/>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  Source: nasa.gov/mission/artemis-ii  |  April 2026</a:t>
            </a:r>
          </a:p>
        </p:txBody>
      </p:sp>
    </p:spTree>
  </p:cSld>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pic>
        <p:nvPicPr>
          <p:cNvPr id="20" name="Image 3"/>
          <p:cNvPicPr>
            <a:picLocks noChangeAspect="1"/>
          </p:cNvPicPr>
          <p:nvPr/>
        </p:nvPicPr>
        <p:blipFill>
          <a:blip r:embed="rId3"/>
          <a:srcRect l="20079" t="0" r="20079" b="0"/>
          <a:stretch>
            <a:fillRect/>
          </a:stretch>
        </p:blipFill>
        <p:spPr>
          <a:xfrm>
            <a:off x="0" y="0"/>
            <a:ext cx="4572000" cy="5148072"/>
          </a:xfrm>
          <a:prstGeom prst="rect">
            <a:avLst/>
          </a:prstGeom>
        </p:spPr>
      </p:pic>
      <p:sp>
        <p:nvSpPr>
          <p:cNvPr id="21" name="Rectangle 21"/>
          <p:cNvSpPr/>
          <p:nvPr/>
        </p:nvSpPr>
        <p:spPr>
          <a:xfrm>
            <a:off x="2743200" y="0"/>
            <a:ext cx="2743200" cy="5148072"/>
          </a:xfrm>
          <a:prstGeom prst="rect">
            <a:avLst/>
          </a:prstGeom>
          <a:gradFill>
            <a:gsLst>
              <a:gs pos="0">
                <a:srgbClr val="0A1628">
                  <a:alpha val="0"/>
                </a:srgbClr>
              </a:gs>
              <a:gs pos="100000">
                <a:srgbClr val="0A1628">
                  <a:alpha val="100000"/>
                </a:srgbClr>
              </a:gs>
            </a:gsLst>
            <a:lin ang="0" scaled="1"/>
          </a:gradFill>
        </p:spPr>
      </p:sp>
      <p:sp>
        <p:nvSpPr>
          <p:cNvPr id="22" name="TextBox 22"/>
          <p:cNvSpPr txBox="1"/>
          <p:nvPr/>
        </p:nvSpPr>
        <p:spPr>
          <a:xfrm>
            <a:off x="4846320" y="228600"/>
            <a:ext cx="3931920" cy="457200"/>
          </a:xfrm>
          <a:prstGeom prst="rect">
            <a:avLst/>
          </a:prstGeom>
          <a:noFill/>
        </p:spPr>
        <p:txBody>
          <a:bodyPr wrap="square" anchor="t" lIns="137160" tIns="137160" rIns="137160" bIns="137160"/>
          <a:lstStyle/>
          <a:p>
            <a:pPr algn="l"/>
            <a:r>
              <a:rPr lang="en-US" dirty="0" sz="2400" b="1">
                <a:solidFill>
                  <a:srgbClr val="4FC3F7"/>
                </a:solidFill>
              </a:rPr>
              <a:t>MEET THE CREW</a:t>
            </a:r>
          </a:p>
        </p:txBody>
      </p:sp>
      <p:cxnSp>
        <p:nvCxnSpPr>
          <p:cNvPr id="23" name="Line 23"/>
          <p:cNvCxnSpPr/>
          <p:nvPr/>
        </p:nvCxnSpPr>
        <p:spPr>
          <a:xfrm>
            <a:off x="4846320" y="731520"/>
            <a:ext cx="2011680" cy="1"/>
          </a:xfrm>
          <a:prstGeom prst="line">
            <a:avLst/>
          </a:prstGeom>
          <a:ln w="25400">
            <a:solidFill>
              <a:srgbClr val="4FC3F7"/>
            </a:solidFill>
          </a:ln>
        </p:spPr>
      </p:cxnSp>
      <p:sp>
        <p:nvSpPr>
          <p:cNvPr id="24" name="Rectangle 24"/>
          <p:cNvSpPr/>
          <p:nvPr/>
        </p:nvSpPr>
        <p:spPr>
          <a:xfrm>
            <a:off x="4846320" y="914400"/>
            <a:ext cx="3931920" cy="868680"/>
          </a:xfrm>
          <a:prstGeom prst="roundRect">
            <a:avLst/>
          </a:prstGeom>
          <a:solidFill>
            <a:srgbClr val="1A2744"/>
          </a:solidFill>
        </p:spPr>
      </p:sp>
      <p:sp>
        <p:nvSpPr>
          <p:cNvPr id="25" name="TextBox 25"/>
          <p:cNvSpPr txBox="1"/>
          <p:nvPr/>
        </p:nvSpPr>
        <p:spPr>
          <a:xfrm>
            <a:off x="5029200" y="960120"/>
            <a:ext cx="2743200" cy="320040"/>
          </a:xfrm>
          <a:prstGeom prst="rect">
            <a:avLst/>
          </a:prstGeom>
          <a:noFill/>
        </p:spPr>
        <p:txBody>
          <a:bodyPr wrap="square" anchor="t" lIns="137160" tIns="137160" rIns="137160" bIns="137160"/>
          <a:lstStyle/>
          <a:p>
            <a:pPr algn="l"/>
            <a:r>
              <a:rPr lang="en-US" dirty="0" sz="1500" b="1">
                <a:solidFill>
                  <a:srgbClr val="FFFFFF"/>
                </a:solidFill>
              </a:rPr>
              <a:t>Reid Wiseman</a:t>
            </a:r>
          </a:p>
        </p:txBody>
      </p:sp>
      <p:sp>
        <p:nvSpPr>
          <p:cNvPr id="26" name="TextBox 26"/>
          <p:cNvSpPr txBox="1"/>
          <p:nvPr/>
        </p:nvSpPr>
        <p:spPr>
          <a:xfrm>
            <a:off x="5029200" y="1234440"/>
            <a:ext cx="2286000" cy="228600"/>
          </a:xfrm>
          <a:prstGeom prst="rect">
            <a:avLst/>
          </a:prstGeom>
          <a:noFill/>
        </p:spPr>
        <p:txBody>
          <a:bodyPr wrap="square" anchor="t" lIns="137160" tIns="137160" rIns="137160" bIns="137160"/>
          <a:lstStyle/>
          <a:p>
            <a:pPr algn="l"/>
            <a:r>
              <a:rPr lang="en-US" dirty="0" sz="1100">
                <a:solidFill>
                  <a:srgbClr val="4FC3F7"/>
                </a:solidFill>
              </a:rPr>
              <a:t>Commander • NASA</a:t>
            </a:r>
          </a:p>
        </p:txBody>
      </p:sp>
      <p:sp>
        <p:nvSpPr>
          <p:cNvPr id="27" name="TextBox 27"/>
          <p:cNvSpPr txBox="1"/>
          <p:nvPr/>
        </p:nvSpPr>
        <p:spPr>
          <a:xfrm>
            <a:off x="5029200" y="1444752"/>
            <a:ext cx="3474720" cy="274320"/>
          </a:xfrm>
          <a:prstGeom prst="rect">
            <a:avLst/>
          </a:prstGeom>
          <a:noFill/>
        </p:spPr>
        <p:txBody>
          <a:bodyPr wrap="square" anchor="t" lIns="137160" tIns="137160" rIns="137160" bIns="137160"/>
          <a:lstStyle/>
          <a:p>
            <a:pPr algn="l"/>
            <a:r>
              <a:rPr lang="en-US" dirty="0" sz="1000" i="1">
                <a:solidFill>
                  <a:srgbClr val="999999"/>
                </a:solidFill>
              </a:rPr>
              <a:t>U.S. Navy Captain, ISS veteran</a:t>
            </a:r>
          </a:p>
        </p:txBody>
      </p:sp>
      <p:sp>
        <p:nvSpPr>
          <p:cNvPr id="28" name="Rectangle 28"/>
          <p:cNvSpPr/>
          <p:nvPr/>
        </p:nvSpPr>
        <p:spPr>
          <a:xfrm>
            <a:off x="4846320" y="1920240"/>
            <a:ext cx="3931920" cy="868680"/>
          </a:xfrm>
          <a:prstGeom prst="roundRect">
            <a:avLst/>
          </a:prstGeom>
          <a:solidFill>
            <a:srgbClr val="1A2744"/>
          </a:solidFill>
        </p:spPr>
      </p:sp>
      <p:sp>
        <p:nvSpPr>
          <p:cNvPr id="29" name="TextBox 29"/>
          <p:cNvSpPr txBox="1"/>
          <p:nvPr/>
        </p:nvSpPr>
        <p:spPr>
          <a:xfrm>
            <a:off x="5029200" y="1965960"/>
            <a:ext cx="2743200" cy="320040"/>
          </a:xfrm>
          <a:prstGeom prst="rect">
            <a:avLst/>
          </a:prstGeom>
          <a:noFill/>
        </p:spPr>
        <p:txBody>
          <a:bodyPr wrap="square" anchor="t" lIns="137160" tIns="137160" rIns="137160" bIns="137160"/>
          <a:lstStyle/>
          <a:p>
            <a:pPr algn="l"/>
            <a:r>
              <a:rPr lang="en-US" dirty="0" sz="1500" b="1">
                <a:solidFill>
                  <a:srgbClr val="FFFFFF"/>
                </a:solidFill>
              </a:rPr>
              <a:t>Victor Glover</a:t>
            </a:r>
          </a:p>
        </p:txBody>
      </p:sp>
      <p:sp>
        <p:nvSpPr>
          <p:cNvPr id="30" name="TextBox 30"/>
          <p:cNvSpPr txBox="1"/>
          <p:nvPr/>
        </p:nvSpPr>
        <p:spPr>
          <a:xfrm>
            <a:off x="5029200" y="2240280"/>
            <a:ext cx="2286000" cy="228600"/>
          </a:xfrm>
          <a:prstGeom prst="rect">
            <a:avLst/>
          </a:prstGeom>
          <a:noFill/>
        </p:spPr>
        <p:txBody>
          <a:bodyPr wrap="square" anchor="t" lIns="137160" tIns="137160" rIns="137160" bIns="137160"/>
          <a:lstStyle/>
          <a:p>
            <a:pPr algn="l"/>
            <a:r>
              <a:rPr lang="en-US" dirty="0" sz="1100">
                <a:solidFill>
                  <a:srgbClr val="4FC3F7"/>
                </a:solidFill>
              </a:rPr>
              <a:t>Pilot • NASA</a:t>
            </a:r>
          </a:p>
        </p:txBody>
      </p:sp>
      <p:sp>
        <p:nvSpPr>
          <p:cNvPr id="31" name="TextBox 31"/>
          <p:cNvSpPr txBox="1"/>
          <p:nvPr/>
        </p:nvSpPr>
        <p:spPr>
          <a:xfrm>
            <a:off x="5029200" y="2450592"/>
            <a:ext cx="3474720" cy="274320"/>
          </a:xfrm>
          <a:prstGeom prst="rect">
            <a:avLst/>
          </a:prstGeom>
          <a:noFill/>
        </p:spPr>
        <p:txBody>
          <a:bodyPr wrap="square" anchor="t" lIns="137160" tIns="137160" rIns="137160" bIns="137160"/>
          <a:lstStyle/>
          <a:p>
            <a:pPr algn="l"/>
            <a:r>
              <a:rPr lang="en-US" dirty="0" sz="1000" i="1">
                <a:solidFill>
                  <a:srgbClr val="999999"/>
                </a:solidFill>
              </a:rPr>
              <a:t>U.S. Navy Captain, SpaceX Crew-1</a:t>
            </a:r>
          </a:p>
        </p:txBody>
      </p:sp>
      <p:sp>
        <p:nvSpPr>
          <p:cNvPr id="32" name="Rectangle 32"/>
          <p:cNvSpPr/>
          <p:nvPr/>
        </p:nvSpPr>
        <p:spPr>
          <a:xfrm>
            <a:off x="4846320" y="2926080"/>
            <a:ext cx="3931920" cy="868680"/>
          </a:xfrm>
          <a:prstGeom prst="roundRect">
            <a:avLst/>
          </a:prstGeom>
          <a:solidFill>
            <a:srgbClr val="1A2744"/>
          </a:solidFill>
        </p:spPr>
      </p:sp>
      <p:sp>
        <p:nvSpPr>
          <p:cNvPr id="33" name="TextBox 33"/>
          <p:cNvSpPr txBox="1"/>
          <p:nvPr/>
        </p:nvSpPr>
        <p:spPr>
          <a:xfrm>
            <a:off x="5029200" y="2971800"/>
            <a:ext cx="2743200" cy="320040"/>
          </a:xfrm>
          <a:prstGeom prst="rect">
            <a:avLst/>
          </a:prstGeom>
          <a:noFill/>
        </p:spPr>
        <p:txBody>
          <a:bodyPr wrap="square" anchor="t" lIns="137160" tIns="137160" rIns="137160" bIns="137160"/>
          <a:lstStyle/>
          <a:p>
            <a:pPr algn="l"/>
            <a:r>
              <a:rPr lang="en-US" dirty="0" sz="1500" b="1">
                <a:solidFill>
                  <a:srgbClr val="FFFFFF"/>
                </a:solidFill>
              </a:rPr>
              <a:t>Christina Koch</a:t>
            </a:r>
          </a:p>
        </p:txBody>
      </p:sp>
      <p:sp>
        <p:nvSpPr>
          <p:cNvPr id="34" name="TextBox 34"/>
          <p:cNvSpPr txBox="1"/>
          <p:nvPr/>
        </p:nvSpPr>
        <p:spPr>
          <a:xfrm>
            <a:off x="5029200" y="3246120"/>
            <a:ext cx="2286000" cy="228600"/>
          </a:xfrm>
          <a:prstGeom prst="rect">
            <a:avLst/>
          </a:prstGeom>
          <a:noFill/>
        </p:spPr>
        <p:txBody>
          <a:bodyPr wrap="square" anchor="t" lIns="137160" tIns="137160" rIns="137160" bIns="137160"/>
          <a:lstStyle/>
          <a:p>
            <a:pPr algn="l"/>
            <a:r>
              <a:rPr lang="en-US" dirty="0" sz="1100">
                <a:solidFill>
                  <a:srgbClr val="4FC3F7"/>
                </a:solidFill>
              </a:rPr>
              <a:t>Mission Specialist • NASA</a:t>
            </a:r>
          </a:p>
        </p:txBody>
      </p:sp>
      <p:sp>
        <p:nvSpPr>
          <p:cNvPr id="35" name="TextBox 35"/>
          <p:cNvSpPr txBox="1"/>
          <p:nvPr/>
        </p:nvSpPr>
        <p:spPr>
          <a:xfrm>
            <a:off x="5029200" y="3456432"/>
            <a:ext cx="3474720" cy="274320"/>
          </a:xfrm>
          <a:prstGeom prst="rect">
            <a:avLst/>
          </a:prstGeom>
          <a:noFill/>
        </p:spPr>
        <p:txBody>
          <a:bodyPr wrap="square" anchor="t" lIns="137160" tIns="137160" rIns="137160" bIns="137160"/>
          <a:lstStyle/>
          <a:p>
            <a:pPr algn="l"/>
            <a:r>
              <a:rPr lang="en-US" dirty="0" sz="1000" i="1">
                <a:solidFill>
                  <a:srgbClr val="999999"/>
                </a:solidFill>
              </a:rPr>
              <a:t>Longest single spaceflight by a woman</a:t>
            </a:r>
          </a:p>
        </p:txBody>
      </p:sp>
      <p:sp>
        <p:nvSpPr>
          <p:cNvPr id="36" name="Rectangle 36"/>
          <p:cNvSpPr/>
          <p:nvPr/>
        </p:nvSpPr>
        <p:spPr>
          <a:xfrm>
            <a:off x="4846320" y="3931920"/>
            <a:ext cx="3931920" cy="868680"/>
          </a:xfrm>
          <a:prstGeom prst="roundRect">
            <a:avLst/>
          </a:prstGeom>
          <a:solidFill>
            <a:srgbClr val="1A2744"/>
          </a:solidFill>
        </p:spPr>
      </p:sp>
      <p:sp>
        <p:nvSpPr>
          <p:cNvPr id="37" name="TextBox 37"/>
          <p:cNvSpPr txBox="1"/>
          <p:nvPr/>
        </p:nvSpPr>
        <p:spPr>
          <a:xfrm>
            <a:off x="5029200" y="3977640"/>
            <a:ext cx="2743200" cy="320040"/>
          </a:xfrm>
          <a:prstGeom prst="rect">
            <a:avLst/>
          </a:prstGeom>
          <a:noFill/>
        </p:spPr>
        <p:txBody>
          <a:bodyPr wrap="square" anchor="t" lIns="137160" tIns="137160" rIns="137160" bIns="137160"/>
          <a:lstStyle/>
          <a:p>
            <a:pPr algn="l"/>
            <a:r>
              <a:rPr lang="en-US" dirty="0" sz="1500" b="1">
                <a:solidFill>
                  <a:srgbClr val="FFFFFF"/>
                </a:solidFill>
              </a:rPr>
              <a:t>Jeremy Hansen</a:t>
            </a:r>
          </a:p>
        </p:txBody>
      </p:sp>
      <p:sp>
        <p:nvSpPr>
          <p:cNvPr id="38" name="TextBox 38"/>
          <p:cNvSpPr txBox="1"/>
          <p:nvPr/>
        </p:nvSpPr>
        <p:spPr>
          <a:xfrm>
            <a:off x="5029200" y="4251960"/>
            <a:ext cx="2286000" cy="228600"/>
          </a:xfrm>
          <a:prstGeom prst="rect">
            <a:avLst/>
          </a:prstGeom>
          <a:noFill/>
        </p:spPr>
        <p:txBody>
          <a:bodyPr wrap="square" anchor="t" lIns="137160" tIns="137160" rIns="137160" bIns="137160"/>
          <a:lstStyle/>
          <a:p>
            <a:pPr algn="l"/>
            <a:r>
              <a:rPr lang="en-US" dirty="0" sz="1100">
                <a:solidFill>
                  <a:srgbClr val="4FC3F7"/>
                </a:solidFill>
              </a:rPr>
              <a:t>Mission Specialist • CSA</a:t>
            </a:r>
          </a:p>
        </p:txBody>
      </p:sp>
      <p:sp>
        <p:nvSpPr>
          <p:cNvPr id="39" name="TextBox 39"/>
          <p:cNvSpPr txBox="1"/>
          <p:nvPr/>
        </p:nvSpPr>
        <p:spPr>
          <a:xfrm>
            <a:off x="5029200" y="4462272"/>
            <a:ext cx="3474720" cy="274320"/>
          </a:xfrm>
          <a:prstGeom prst="rect">
            <a:avLst/>
          </a:prstGeom>
          <a:noFill/>
        </p:spPr>
        <p:txBody>
          <a:bodyPr wrap="square" anchor="t" lIns="137160" tIns="137160" rIns="137160" bIns="137160"/>
          <a:lstStyle/>
          <a:p>
            <a:pPr algn="l"/>
            <a:r>
              <a:rPr lang="en-US" dirty="0" sz="1000" i="1">
                <a:solidFill>
                  <a:srgbClr val="999999"/>
                </a:solidFill>
              </a:rPr>
              <a:t>First Canadian to fly to the Moon</a:t>
            </a:r>
          </a:p>
        </p:txBody>
      </p:sp>
      <p:sp>
        <p:nvSpPr>
          <p:cNvPr id="187" name="TextBox 187"/>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4</a:t>
            </a:r>
          </a:p>
        </p:txBody>
      </p:sp>
      <p:sp>
        <p:nvSpPr>
          <p:cNvPr id="204" name="TextBox 204"/>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  Source: nasa.gov/mission/artemis-ii  |  April 2026</a:t>
            </a:r>
          </a:p>
        </p:txBody>
      </p:sp>
    </p:spTree>
  </p:cSld>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40" name="TextBox 40"/>
          <p:cNvSpPr txBox="1"/>
          <p:nvPr/>
        </p:nvSpPr>
        <p:spPr>
          <a:xfrm>
            <a:off x="457200" y="457200"/>
            <a:ext cx="10972800" cy="731520"/>
          </a:xfrm>
          <a:prstGeom prst="rect">
            <a:avLst/>
          </a:prstGeom>
          <a:noFill/>
        </p:spPr>
        <p:txBody>
          <a:bodyPr wrap="square" anchor="t" lIns="137160" tIns="137160" rIns="137160" bIns="137160"/>
          <a:lstStyle/>
          <a:p>
            <a:pPr algn="l"/>
            <a:r>
              <a:rPr lang="en-US" dirty="0" sz="2800" b="1">
                <a:solidFill>
                  <a:srgbClr val="FFFFFF"/>
                </a:solidFill>
              </a:rPr>
              <a:t>BY THE NUMBERS</a:t>
            </a:r>
          </a:p>
        </p:txBody>
      </p:sp>
      <p:sp>
        <p:nvSpPr>
          <p:cNvPr id="41" name="TextBox 41"/>
          <p:cNvSpPr txBox="1"/>
          <p:nvPr/>
        </p:nvSpPr>
        <p:spPr>
          <a:xfrm>
            <a:off x="731520" y="2011680"/>
            <a:ext cx="2476424" cy="1371600"/>
          </a:xfrm>
          <a:prstGeom prst="rect">
            <a:avLst/>
          </a:prstGeom>
          <a:noFill/>
        </p:spPr>
        <p:txBody>
          <a:bodyPr wrap="square" anchor="t" lIns="137160" tIns="137160" rIns="137160" bIns="137160"/>
          <a:lstStyle/>
          <a:p>
            <a:pPr algn="ctr"/>
            <a:r>
              <a:rPr lang="en-US" dirty="0" sz="4800" b="1">
                <a:solidFill>
                  <a:srgbClr val="58A6FF"/>
                </a:solidFill>
              </a:rPr>
              <a:t>386,243 km</a:t>
            </a:r>
          </a:p>
        </p:txBody>
      </p:sp>
      <p:sp>
        <p:nvSpPr>
          <p:cNvPr id="42" name="TextBox 42"/>
          <p:cNvSpPr txBox="1"/>
          <p:nvPr/>
        </p:nvSpPr>
        <p:spPr>
          <a:xfrm>
            <a:off x="731520" y="3383280"/>
            <a:ext cx="2476424" cy="548640"/>
          </a:xfrm>
          <a:prstGeom prst="rect">
            <a:avLst/>
          </a:prstGeom>
          <a:noFill/>
        </p:spPr>
        <p:txBody>
          <a:bodyPr wrap="square" anchor="t" lIns="137160" tIns="137160" rIns="137160" bIns="137160"/>
          <a:lstStyle/>
          <a:p>
            <a:pPr algn="ctr"/>
            <a:r>
              <a:rPr lang="en-US" dirty="0" sz="1600">
                <a:solidFill>
                  <a:srgbClr val="8B949E"/>
                </a:solidFill>
              </a:rPr>
              <a:t>Max Distance from Earth</a:t>
            </a:r>
          </a:p>
        </p:txBody>
      </p:sp>
      <p:sp>
        <p:nvSpPr>
          <p:cNvPr id="43" name="Rectangle 43"/>
          <p:cNvSpPr/>
          <p:nvPr/>
        </p:nvSpPr>
        <p:spPr>
          <a:xfrm>
            <a:off x="3345104" y="2286000"/>
            <a:ext cx="18288" cy="1828800"/>
          </a:xfrm>
          <a:prstGeom prst="rect">
            <a:avLst/>
          </a:prstGeom>
          <a:solidFill>
            <a:srgbClr val="8B949E"/>
          </a:solidFill>
        </p:spPr>
      </p:sp>
      <p:sp>
        <p:nvSpPr>
          <p:cNvPr id="44" name="TextBox 44"/>
          <p:cNvSpPr txBox="1"/>
          <p:nvPr/>
        </p:nvSpPr>
        <p:spPr>
          <a:xfrm>
            <a:off x="3482264" y="2011680"/>
            <a:ext cx="2476424" cy="1371600"/>
          </a:xfrm>
          <a:prstGeom prst="rect">
            <a:avLst/>
          </a:prstGeom>
          <a:noFill/>
        </p:spPr>
        <p:txBody>
          <a:bodyPr wrap="square" anchor="t" lIns="137160" tIns="137160" rIns="137160" bIns="137160"/>
          <a:lstStyle/>
          <a:p>
            <a:pPr algn="ctr"/>
            <a:r>
              <a:rPr lang="en-US" dirty="0" sz="4800" b="1">
                <a:solidFill>
                  <a:srgbClr val="58A6FF"/>
                </a:solidFill>
              </a:rPr>
              <a:t>98.3 m</a:t>
            </a:r>
          </a:p>
        </p:txBody>
      </p:sp>
      <p:sp>
        <p:nvSpPr>
          <p:cNvPr id="45" name="TextBox 45"/>
          <p:cNvSpPr txBox="1"/>
          <p:nvPr/>
        </p:nvSpPr>
        <p:spPr>
          <a:xfrm>
            <a:off x="3482264" y="3383280"/>
            <a:ext cx="2476424" cy="548640"/>
          </a:xfrm>
          <a:prstGeom prst="rect">
            <a:avLst/>
          </a:prstGeom>
          <a:noFill/>
        </p:spPr>
        <p:txBody>
          <a:bodyPr wrap="square" anchor="t" lIns="137160" tIns="137160" rIns="137160" bIns="137160"/>
          <a:lstStyle/>
          <a:p>
            <a:pPr algn="ctr"/>
            <a:r>
              <a:rPr lang="en-US" dirty="0" sz="1600">
                <a:solidFill>
                  <a:srgbClr val="8B949E"/>
                </a:solidFill>
              </a:rPr>
              <a:t>SLS Rocket Height</a:t>
            </a:r>
          </a:p>
        </p:txBody>
      </p:sp>
      <p:sp>
        <p:nvSpPr>
          <p:cNvPr id="46" name="Rectangle 46"/>
          <p:cNvSpPr/>
          <p:nvPr/>
        </p:nvSpPr>
        <p:spPr>
          <a:xfrm>
            <a:off x="6095848" y="2286000"/>
            <a:ext cx="18288" cy="1828800"/>
          </a:xfrm>
          <a:prstGeom prst="rect">
            <a:avLst/>
          </a:prstGeom>
          <a:solidFill>
            <a:srgbClr val="8B949E"/>
          </a:solidFill>
        </p:spPr>
      </p:sp>
      <p:sp>
        <p:nvSpPr>
          <p:cNvPr id="47" name="TextBox 47"/>
          <p:cNvSpPr txBox="1"/>
          <p:nvPr/>
        </p:nvSpPr>
        <p:spPr>
          <a:xfrm>
            <a:off x="6233008" y="2011680"/>
            <a:ext cx="2476424" cy="1371600"/>
          </a:xfrm>
          <a:prstGeom prst="rect">
            <a:avLst/>
          </a:prstGeom>
          <a:noFill/>
        </p:spPr>
        <p:txBody>
          <a:bodyPr wrap="square" anchor="t" lIns="137160" tIns="137160" rIns="137160" bIns="137160"/>
          <a:lstStyle/>
          <a:p>
            <a:pPr algn="ctr"/>
            <a:r>
              <a:rPr lang="en-US" dirty="0" sz="4800" b="1">
                <a:solidFill>
                  <a:srgbClr val="58A6FF"/>
                </a:solidFill>
              </a:rPr>
              <a:t>26,000 kg</a:t>
            </a:r>
          </a:p>
        </p:txBody>
      </p:sp>
      <p:sp>
        <p:nvSpPr>
          <p:cNvPr id="48" name="TextBox 48"/>
          <p:cNvSpPr txBox="1"/>
          <p:nvPr/>
        </p:nvSpPr>
        <p:spPr>
          <a:xfrm>
            <a:off x="6233008" y="3383280"/>
            <a:ext cx="2476424" cy="548640"/>
          </a:xfrm>
          <a:prstGeom prst="rect">
            <a:avLst/>
          </a:prstGeom>
          <a:noFill/>
        </p:spPr>
        <p:txBody>
          <a:bodyPr wrap="square" anchor="t" lIns="137160" tIns="137160" rIns="137160" bIns="137160"/>
          <a:lstStyle/>
          <a:p>
            <a:pPr algn="ctr"/>
            <a:r>
              <a:rPr lang="en-US" dirty="0" sz="1600">
                <a:solidFill>
                  <a:srgbClr val="8B949E"/>
                </a:solidFill>
              </a:rPr>
              <a:t>Orion Spacecraft Mass</a:t>
            </a:r>
          </a:p>
        </p:txBody>
      </p:sp>
      <p:sp>
        <p:nvSpPr>
          <p:cNvPr id="49" name="Rectangle 49"/>
          <p:cNvSpPr/>
          <p:nvPr/>
        </p:nvSpPr>
        <p:spPr>
          <a:xfrm>
            <a:off x="8846591" y="2286000"/>
            <a:ext cx="18288" cy="1828800"/>
          </a:xfrm>
          <a:prstGeom prst="rect">
            <a:avLst/>
          </a:prstGeom>
          <a:solidFill>
            <a:srgbClr val="8B949E"/>
          </a:solidFill>
        </p:spPr>
      </p:sp>
      <p:sp>
        <p:nvSpPr>
          <p:cNvPr id="50" name="TextBox 50"/>
          <p:cNvSpPr txBox="1"/>
          <p:nvPr/>
        </p:nvSpPr>
        <p:spPr>
          <a:xfrm>
            <a:off x="8983751" y="2011680"/>
            <a:ext cx="2476424" cy="1371600"/>
          </a:xfrm>
          <a:prstGeom prst="rect">
            <a:avLst/>
          </a:prstGeom>
          <a:noFill/>
        </p:spPr>
        <p:txBody>
          <a:bodyPr wrap="square" anchor="t" lIns="137160" tIns="137160" rIns="137160" bIns="137160"/>
          <a:lstStyle/>
          <a:p>
            <a:pPr algn="ctr"/>
            <a:r>
              <a:rPr lang="en-US" dirty="0" sz="4800" b="1">
                <a:solidFill>
                  <a:srgbClr val="58A6FF"/>
                </a:solidFill>
              </a:rPr>
              <a:t>50+ years</a:t>
            </a:r>
          </a:p>
        </p:txBody>
      </p:sp>
      <p:sp>
        <p:nvSpPr>
          <p:cNvPr id="51" name="TextBox 51"/>
          <p:cNvSpPr txBox="1"/>
          <p:nvPr/>
        </p:nvSpPr>
        <p:spPr>
          <a:xfrm>
            <a:off x="8983751" y="3383280"/>
            <a:ext cx="2476424" cy="548640"/>
          </a:xfrm>
          <a:prstGeom prst="rect">
            <a:avLst/>
          </a:prstGeom>
          <a:noFill/>
        </p:spPr>
        <p:txBody>
          <a:bodyPr wrap="square" anchor="t" lIns="137160" tIns="137160" rIns="137160" bIns="137160"/>
          <a:lstStyle/>
          <a:p>
            <a:pPr algn="ctr"/>
            <a:r>
              <a:rPr lang="en-US" dirty="0" sz="1600">
                <a:solidFill>
                  <a:srgbClr val="8B949E"/>
                </a:solidFill>
              </a:rPr>
              <a:t>Since Humans Last Flew to Moon</a:t>
            </a:r>
          </a:p>
        </p:txBody>
      </p:sp>
      <p:sp>
        <p:nvSpPr>
          <p:cNvPr id="188" name="TextBox 188"/>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5</a:t>
            </a:r>
          </a:p>
        </p:txBody>
      </p:sp>
      <p:sp>
        <p:nvSpPr>
          <p:cNvPr id="205" name="TextBox 205"/>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  Source: nasa.gov/mission/artemis-ii  |  April 2026</a:t>
            </a:r>
          </a:p>
        </p:txBody>
      </p:sp>
    </p:spTree>
  </p:cSld>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52" name="Image 4"/>
          <p:cNvPicPr>
            <a:picLocks noChangeAspect="1"/>
          </p:cNvPicPr>
          <p:nvPr/>
        </p:nvPicPr>
        <p:blipFill>
          <a:blip r:embed="rId3"/>
          <a:stretch>
            <a:fillRect/>
          </a:stretch>
        </p:blipFill>
        <p:spPr>
          <a:xfrm>
            <a:off x="0" y="0"/>
            <a:ext cx="12191695" cy="6858000"/>
          </a:xfrm>
          <a:prstGeom prst="rect">
            <a:avLst/>
          </a:prstGeom>
        </p:spPr>
      </p:pic>
      <p:sp>
        <p:nvSpPr>
          <p:cNvPr id="53" name="Rectangle 53"/>
          <p:cNvSpPr/>
          <p:nvPr/>
        </p:nvSpPr>
        <p:spPr>
          <a:xfrm>
            <a:off x="0" y="0"/>
            <a:ext cx="12191695" cy="6858000"/>
          </a:xfrm>
          <a:prstGeom prst="rect">
            <a:avLst/>
          </a:prstGeom>
          <a:solidFill>
            <a:srgbClr val="0A1628">
              <a:alpha val="35000"/>
            </a:srgbClr>
          </a:solidFill>
        </p:spPr>
      </p:sp>
      <p:sp>
        <p:nvSpPr>
          <p:cNvPr id="54" name="TextBox 54"/>
          <p:cNvSpPr txBox="1"/>
          <p:nvPr/>
        </p:nvSpPr>
        <p:spPr>
          <a:xfrm>
            <a:off x="731520" y="2560320"/>
            <a:ext cx="10515600" cy="1371600"/>
          </a:xfrm>
          <a:prstGeom prst="rect">
            <a:avLst/>
          </a:prstGeom>
          <a:noFill/>
        </p:spPr>
        <p:txBody>
          <a:bodyPr wrap="square" anchor="t" lIns="137160" tIns="137160" rIns="137160" bIns="137160"/>
          <a:lstStyle/>
          <a:p>
            <a:pPr algn="l"/>
            <a:r>
              <a:rPr lang="en-US" dirty="0" sz="4000" b="1">
                <a:solidFill>
                  <a:srgbClr val="FFFFFF"/>
                </a:solidFill>
              </a:rPr>
              <a:t>A View of Home</a:t>
            </a:r>
          </a:p>
        </p:txBody>
      </p:sp>
      <p:sp>
        <p:nvSpPr>
          <p:cNvPr id="55" name="TextBox 55"/>
          <p:cNvSpPr txBox="1"/>
          <p:nvPr/>
        </p:nvSpPr>
        <p:spPr>
          <a:xfrm>
            <a:off x="731520" y="3840480"/>
            <a:ext cx="10515600" cy="731520"/>
          </a:xfrm>
          <a:prstGeom prst="rect">
            <a:avLst/>
          </a:prstGeom>
          <a:noFill/>
        </p:spPr>
        <p:txBody>
          <a:bodyPr wrap="square" anchor="t" lIns="137160" tIns="137160" rIns="137160" bIns="137160"/>
          <a:lstStyle/>
          <a:p>
            <a:pPr algn="l"/>
            <a:r>
              <a:rPr lang="en-US" dirty="0" sz="1400">
                <a:solidFill>
                  <a:srgbClr val="FFFFFF"/>
                </a:solidFill>
              </a:rPr>
              <a:t>Photographed by Commander Reid Wiseman from Orion's window after translunar injection, April 2, 2026</a:t>
            </a:r>
          </a:p>
        </p:txBody>
      </p:sp>
      <p:sp>
        <p:nvSpPr>
          <p:cNvPr id="189" name="TextBox 189"/>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6</a:t>
            </a:r>
          </a:p>
        </p:txBody>
      </p:sp>
      <p:sp>
        <p:nvSpPr>
          <p:cNvPr id="206" name="TextBox 206"/>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  Source: nasa.gov/mission/artemis-ii  |  April 2026</a:t>
            </a:r>
          </a:p>
        </p:txBody>
      </p:sp>
    </p:spTree>
  </p:cSld>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56" name="TextBox 56"/>
          <p:cNvSpPr txBox="1"/>
          <p:nvPr/>
        </p:nvSpPr>
        <p:spPr>
          <a:xfrm>
            <a:off x="457200" y="274320"/>
            <a:ext cx="10972800" cy="731520"/>
          </a:xfrm>
          <a:prstGeom prst="rect">
            <a:avLst/>
          </a:prstGeom>
          <a:noFill/>
        </p:spPr>
        <p:txBody>
          <a:bodyPr wrap="square" anchor="t" lIns="137160" tIns="137160" rIns="137160" bIns="137160"/>
          <a:lstStyle/>
          <a:p>
            <a:pPr algn="l"/>
            <a:r>
              <a:rPr lang="en-US" dirty="0" sz="2800" b="1">
                <a:solidFill>
                  <a:srgbClr val="FFFFFF"/>
                </a:solidFill>
              </a:rPr>
              <a:t>MISSION TIMELINE</a:t>
            </a:r>
          </a:p>
        </p:txBody>
      </p:sp>
      <p:sp>
        <p:nvSpPr>
          <p:cNvPr id="57" name="Rectangle 57"/>
          <p:cNvSpPr/>
          <p:nvPr/>
        </p:nvSpPr>
        <p:spPr>
          <a:xfrm>
            <a:off x="457200" y="960120"/>
            <a:ext cx="1828800" cy="45720"/>
          </a:xfrm>
          <a:prstGeom prst="rect">
            <a:avLst/>
          </a:prstGeom>
          <a:solidFill>
            <a:srgbClr val="58A6FF"/>
          </a:solidFill>
        </p:spPr>
      </p:sp>
      <p:sp>
        <p:nvSpPr>
          <p:cNvPr id="58" name="Shape 58"/>
          <p:cNvSpPr/>
          <p:nvPr/>
        </p:nvSpPr>
        <p:spPr>
          <a:xfrm>
            <a:off x="950976" y="2011680"/>
            <a:ext cx="457200" cy="457200"/>
          </a:xfrm>
          <a:prstGeom prst="ellipse">
            <a:avLst/>
          </a:prstGeom>
          <a:solidFill>
            <a:srgbClr val="58A6FF"/>
          </a:solidFill>
        </p:spPr>
        <p:txBody>
          <a:bodyPr wrap="square" anchor="ctr" lIns="137160" tIns="137160" rIns="137160" bIns="137160"/>
          <a:lstStyle/>
          <a:p>
            <a:pPr algn="ctr"/>
            <a:r>
              <a:rPr lang="en-US" dirty="0" sz="1400">
                <a:solidFill>
                  <a:srgbClr val="333333"/>
                </a:solidFill>
              </a:rPr>
              <a:t>1</a:t>
            </a:r>
          </a:p>
        </p:txBody>
      </p:sp>
      <p:sp>
        <p:nvSpPr>
          <p:cNvPr id="59" name="Rectangle 59"/>
          <p:cNvSpPr/>
          <p:nvPr/>
        </p:nvSpPr>
        <p:spPr>
          <a:xfrm>
            <a:off x="379476" y="2560320"/>
            <a:ext cx="1600200" cy="1645920"/>
          </a:xfrm>
          <a:prstGeom prst="roundRect">
            <a:avLst/>
          </a:prstGeom>
          <a:solidFill>
            <a:srgbClr val="1A1A2E"/>
          </a:solidFill>
        </p:spPr>
      </p:sp>
      <p:sp>
        <p:nvSpPr>
          <p:cNvPr id="60" name="TextBox 60"/>
          <p:cNvSpPr txBox="1"/>
          <p:nvPr/>
        </p:nvSpPr>
        <p:spPr>
          <a:xfrm>
            <a:off x="379476" y="2834640"/>
            <a:ext cx="1600200" cy="457200"/>
          </a:xfrm>
          <a:prstGeom prst="rect">
            <a:avLst/>
          </a:prstGeom>
          <a:noFill/>
        </p:spPr>
        <p:txBody>
          <a:bodyPr wrap="square" anchor="t" lIns="137160" tIns="137160" rIns="137160" bIns="137160"/>
          <a:lstStyle/>
          <a:p>
            <a:pPr algn="ctr"/>
            <a:r>
              <a:rPr lang="en-US" dirty="0" sz="1200" b="1">
                <a:solidFill>
                  <a:srgbClr val="FFFFFF"/>
                </a:solidFill>
              </a:rPr>
              <a:t>Launch</a:t>
            </a:r>
          </a:p>
        </p:txBody>
      </p:sp>
      <p:sp>
        <p:nvSpPr>
          <p:cNvPr id="61" name="TextBox 61"/>
          <p:cNvSpPr txBox="1"/>
          <p:nvPr/>
        </p:nvSpPr>
        <p:spPr>
          <a:xfrm>
            <a:off x="379476" y="4297680"/>
            <a:ext cx="1600200" cy="731520"/>
          </a:xfrm>
          <a:prstGeom prst="rect">
            <a:avLst/>
          </a:prstGeom>
          <a:noFill/>
        </p:spPr>
        <p:txBody>
          <a:bodyPr wrap="square" anchor="t" lIns="137160" tIns="137160" rIns="137160" bIns="137160"/>
          <a:lstStyle/>
          <a:p>
            <a:pPr algn="ctr"/>
            <a:r>
              <a:rPr lang="en-US" dirty="0" sz="900">
                <a:solidFill>
                  <a:srgbClr val="8B949E"/>
                </a:solidFill>
              </a:rPr>
              <a:t>SLS lifts off from LC-39B</a:t>
            </a:r>
          </a:p>
        </p:txBody>
      </p:sp>
      <p:sp>
        <p:nvSpPr>
          <p:cNvPr id="62" name="Shape 62"/>
          <p:cNvSpPr/>
          <p:nvPr/>
        </p:nvSpPr>
        <p:spPr>
          <a:xfrm>
            <a:off x="2116836" y="3246120"/>
            <a:ext cx="274320" cy="274320"/>
          </a:xfrm>
          <a:prstGeom prst="rightArrow">
            <a:avLst/>
          </a:prstGeom>
          <a:solidFill>
            <a:srgbClr val="8B949E"/>
          </a:solidFill>
        </p:spPr>
      </p:sp>
      <p:sp>
        <p:nvSpPr>
          <p:cNvPr id="63" name="Shape 63"/>
          <p:cNvSpPr/>
          <p:nvPr/>
        </p:nvSpPr>
        <p:spPr>
          <a:xfrm>
            <a:off x="2916936" y="2011680"/>
            <a:ext cx="457200" cy="457200"/>
          </a:xfrm>
          <a:prstGeom prst="ellipse">
            <a:avLst/>
          </a:prstGeom>
          <a:solidFill>
            <a:srgbClr val="3FB950"/>
          </a:solidFill>
        </p:spPr>
        <p:txBody>
          <a:bodyPr wrap="square" anchor="ctr" lIns="137160" tIns="137160" rIns="137160" bIns="137160"/>
          <a:lstStyle/>
          <a:p>
            <a:pPr algn="ctr"/>
            <a:r>
              <a:rPr lang="en-US" dirty="0" sz="1400">
                <a:solidFill>
                  <a:srgbClr val="333333"/>
                </a:solidFill>
              </a:rPr>
              <a:t>2</a:t>
            </a:r>
          </a:p>
        </p:txBody>
      </p:sp>
      <p:sp>
        <p:nvSpPr>
          <p:cNvPr id="64" name="Rectangle 64"/>
          <p:cNvSpPr/>
          <p:nvPr/>
        </p:nvSpPr>
        <p:spPr>
          <a:xfrm>
            <a:off x="2345436" y="2560320"/>
            <a:ext cx="1600200" cy="1645920"/>
          </a:xfrm>
          <a:prstGeom prst="roundRect">
            <a:avLst/>
          </a:prstGeom>
          <a:solidFill>
            <a:srgbClr val="1A1A2E"/>
          </a:solidFill>
        </p:spPr>
      </p:sp>
      <p:sp>
        <p:nvSpPr>
          <p:cNvPr id="65" name="TextBox 65"/>
          <p:cNvSpPr txBox="1"/>
          <p:nvPr/>
        </p:nvSpPr>
        <p:spPr>
          <a:xfrm>
            <a:off x="2345436" y="2834640"/>
            <a:ext cx="1600200" cy="457200"/>
          </a:xfrm>
          <a:prstGeom prst="rect">
            <a:avLst/>
          </a:prstGeom>
          <a:noFill/>
        </p:spPr>
        <p:txBody>
          <a:bodyPr wrap="square" anchor="t" lIns="137160" tIns="137160" rIns="137160" bIns="137160"/>
          <a:lstStyle/>
          <a:p>
            <a:pPr algn="ctr"/>
            <a:r>
              <a:rPr lang="en-US" dirty="0" sz="1200" b="1">
                <a:solidFill>
                  <a:srgbClr val="FFFFFF"/>
                </a:solidFill>
              </a:rPr>
              <a:t>Earth Orbit</a:t>
            </a:r>
          </a:p>
        </p:txBody>
      </p:sp>
      <p:sp>
        <p:nvSpPr>
          <p:cNvPr id="66" name="TextBox 66"/>
          <p:cNvSpPr txBox="1"/>
          <p:nvPr/>
        </p:nvSpPr>
        <p:spPr>
          <a:xfrm>
            <a:off x="2345436" y="4297680"/>
            <a:ext cx="1600200" cy="731520"/>
          </a:xfrm>
          <a:prstGeom prst="rect">
            <a:avLst/>
          </a:prstGeom>
          <a:noFill/>
        </p:spPr>
        <p:txBody>
          <a:bodyPr wrap="square" anchor="t" lIns="137160" tIns="137160" rIns="137160" bIns="137160"/>
          <a:lstStyle/>
          <a:p>
            <a:pPr algn="ctr"/>
            <a:r>
              <a:rPr lang="en-US" dirty="0" sz="900">
                <a:solidFill>
                  <a:srgbClr val="8B949E"/>
                </a:solidFill>
              </a:rPr>
              <a:t>Systems checkout</a:t>
            </a:r>
          </a:p>
        </p:txBody>
      </p:sp>
      <p:sp>
        <p:nvSpPr>
          <p:cNvPr id="67" name="Shape 67"/>
          <p:cNvSpPr/>
          <p:nvPr/>
        </p:nvSpPr>
        <p:spPr>
          <a:xfrm>
            <a:off x="4082796" y="3246120"/>
            <a:ext cx="274320" cy="274320"/>
          </a:xfrm>
          <a:prstGeom prst="rightArrow">
            <a:avLst/>
          </a:prstGeom>
          <a:solidFill>
            <a:srgbClr val="8B949E"/>
          </a:solidFill>
        </p:spPr>
      </p:sp>
      <p:sp>
        <p:nvSpPr>
          <p:cNvPr id="68" name="Shape 68"/>
          <p:cNvSpPr/>
          <p:nvPr/>
        </p:nvSpPr>
        <p:spPr>
          <a:xfrm>
            <a:off x="4882896" y="2011680"/>
            <a:ext cx="457200" cy="457200"/>
          </a:xfrm>
          <a:prstGeom prst="ellipse">
            <a:avLst/>
          </a:prstGeom>
          <a:solidFill>
            <a:srgbClr val="00E676"/>
          </a:solidFill>
        </p:spPr>
        <p:txBody>
          <a:bodyPr wrap="square" anchor="ctr" lIns="137160" tIns="137160" rIns="137160" bIns="137160"/>
          <a:lstStyle/>
          <a:p>
            <a:pPr algn="ctr"/>
            <a:r>
              <a:rPr lang="en-US" dirty="0" sz="1400">
                <a:solidFill>
                  <a:srgbClr val="333333"/>
                </a:solidFill>
              </a:rPr>
              <a:t>3</a:t>
            </a:r>
          </a:p>
        </p:txBody>
      </p:sp>
      <p:sp>
        <p:nvSpPr>
          <p:cNvPr id="69" name="Rectangle 69"/>
          <p:cNvSpPr/>
          <p:nvPr/>
        </p:nvSpPr>
        <p:spPr>
          <a:xfrm>
            <a:off x="4311396" y="2560320"/>
            <a:ext cx="1600200" cy="1645920"/>
          </a:xfrm>
          <a:prstGeom prst="roundRect">
            <a:avLst/>
          </a:prstGeom>
          <a:solidFill>
            <a:srgbClr val="1A1A2E"/>
          </a:solidFill>
        </p:spPr>
      </p:sp>
      <p:sp>
        <p:nvSpPr>
          <p:cNvPr id="70" name="TextBox 70"/>
          <p:cNvSpPr txBox="1"/>
          <p:nvPr/>
        </p:nvSpPr>
        <p:spPr>
          <a:xfrm>
            <a:off x="4311396" y="2834640"/>
            <a:ext cx="1600200" cy="457200"/>
          </a:xfrm>
          <a:prstGeom prst="rect">
            <a:avLst/>
          </a:prstGeom>
          <a:noFill/>
        </p:spPr>
        <p:txBody>
          <a:bodyPr wrap="square" anchor="t" lIns="137160" tIns="137160" rIns="137160" bIns="137160"/>
          <a:lstStyle/>
          <a:p>
            <a:pPr algn="ctr"/>
            <a:r>
              <a:rPr lang="en-US" dirty="0" sz="1200" b="1">
                <a:solidFill>
                  <a:srgbClr val="FFFFFF"/>
                </a:solidFill>
              </a:rPr>
              <a:t>TLI Burn</a:t>
            </a:r>
          </a:p>
        </p:txBody>
      </p:sp>
      <p:sp>
        <p:nvSpPr>
          <p:cNvPr id="71" name="TextBox 71"/>
          <p:cNvSpPr txBox="1"/>
          <p:nvPr/>
        </p:nvSpPr>
        <p:spPr>
          <a:xfrm>
            <a:off x="4311396" y="4297680"/>
            <a:ext cx="1600200" cy="731520"/>
          </a:xfrm>
          <a:prstGeom prst="rect">
            <a:avLst/>
          </a:prstGeom>
          <a:noFill/>
        </p:spPr>
        <p:txBody>
          <a:bodyPr wrap="square" anchor="t" lIns="137160" tIns="137160" rIns="137160" bIns="137160"/>
          <a:lstStyle/>
          <a:p>
            <a:pPr algn="ctr"/>
            <a:r>
              <a:rPr lang="en-US" dirty="0" sz="900">
                <a:solidFill>
                  <a:srgbClr val="8B949E"/>
                </a:solidFill>
              </a:rPr>
              <a:t>Translunar injection</a:t>
            </a:r>
          </a:p>
        </p:txBody>
      </p:sp>
      <p:sp>
        <p:nvSpPr>
          <p:cNvPr id="72" name="Shape 72"/>
          <p:cNvSpPr/>
          <p:nvPr/>
        </p:nvSpPr>
        <p:spPr>
          <a:xfrm>
            <a:off x="6048756" y="3246120"/>
            <a:ext cx="274320" cy="274320"/>
          </a:xfrm>
          <a:prstGeom prst="rightArrow">
            <a:avLst/>
          </a:prstGeom>
          <a:solidFill>
            <a:srgbClr val="8B949E"/>
          </a:solidFill>
        </p:spPr>
      </p:sp>
      <p:sp>
        <p:nvSpPr>
          <p:cNvPr id="73" name="Shape 73"/>
          <p:cNvSpPr/>
          <p:nvPr/>
        </p:nvSpPr>
        <p:spPr>
          <a:xfrm>
            <a:off x="6848856" y="2011680"/>
            <a:ext cx="457200" cy="457200"/>
          </a:xfrm>
          <a:prstGeom prst="ellipse">
            <a:avLst/>
          </a:prstGeom>
          <a:solidFill>
            <a:srgbClr val="FFD700"/>
          </a:solidFill>
        </p:spPr>
        <p:txBody>
          <a:bodyPr wrap="square" anchor="ctr" lIns="137160" tIns="137160" rIns="137160" bIns="137160"/>
          <a:lstStyle/>
          <a:p>
            <a:pPr algn="ctr"/>
            <a:r>
              <a:rPr lang="en-US" dirty="0" sz="1400">
                <a:solidFill>
                  <a:srgbClr val="333333"/>
                </a:solidFill>
              </a:rPr>
              <a:t>4</a:t>
            </a:r>
          </a:p>
        </p:txBody>
      </p:sp>
      <p:sp>
        <p:nvSpPr>
          <p:cNvPr id="74" name="Rectangle 74"/>
          <p:cNvSpPr/>
          <p:nvPr/>
        </p:nvSpPr>
        <p:spPr>
          <a:xfrm>
            <a:off x="6277356" y="2560320"/>
            <a:ext cx="1600200" cy="1645920"/>
          </a:xfrm>
          <a:prstGeom prst="roundRect">
            <a:avLst/>
          </a:prstGeom>
          <a:solidFill>
            <a:srgbClr val="1A1A2E"/>
          </a:solidFill>
        </p:spPr>
      </p:sp>
      <p:sp>
        <p:nvSpPr>
          <p:cNvPr id="75" name="TextBox 75"/>
          <p:cNvSpPr txBox="1"/>
          <p:nvPr/>
        </p:nvSpPr>
        <p:spPr>
          <a:xfrm>
            <a:off x="6277356" y="2834640"/>
            <a:ext cx="1600200" cy="457200"/>
          </a:xfrm>
          <a:prstGeom prst="rect">
            <a:avLst/>
          </a:prstGeom>
          <a:noFill/>
        </p:spPr>
        <p:txBody>
          <a:bodyPr wrap="square" anchor="t" lIns="137160" tIns="137160" rIns="137160" bIns="137160"/>
          <a:lstStyle/>
          <a:p>
            <a:pPr algn="ctr"/>
            <a:r>
              <a:rPr lang="en-US" dirty="0" sz="1200" b="1">
                <a:solidFill>
                  <a:srgbClr val="FFFFFF"/>
                </a:solidFill>
              </a:rPr>
              <a:t>Lunar Flyby</a:t>
            </a:r>
          </a:p>
        </p:txBody>
      </p:sp>
      <p:sp>
        <p:nvSpPr>
          <p:cNvPr id="76" name="TextBox 76"/>
          <p:cNvSpPr txBox="1"/>
          <p:nvPr/>
        </p:nvSpPr>
        <p:spPr>
          <a:xfrm>
            <a:off x="6277356" y="4297680"/>
            <a:ext cx="1600200" cy="731520"/>
          </a:xfrm>
          <a:prstGeom prst="rect">
            <a:avLst/>
          </a:prstGeom>
          <a:noFill/>
        </p:spPr>
        <p:txBody>
          <a:bodyPr wrap="square" anchor="t" lIns="137160" tIns="137160" rIns="137160" bIns="137160"/>
          <a:lstStyle/>
          <a:p>
            <a:pPr algn="ctr"/>
            <a:r>
              <a:rPr lang="en-US" dirty="0" sz="900">
                <a:solidFill>
                  <a:srgbClr val="8B949E"/>
                </a:solidFill>
              </a:rPr>
              <a:t>Free-return trajectory</a:t>
            </a:r>
          </a:p>
        </p:txBody>
      </p:sp>
      <p:sp>
        <p:nvSpPr>
          <p:cNvPr id="77" name="Shape 77"/>
          <p:cNvSpPr/>
          <p:nvPr/>
        </p:nvSpPr>
        <p:spPr>
          <a:xfrm>
            <a:off x="8014716" y="3246120"/>
            <a:ext cx="274320" cy="274320"/>
          </a:xfrm>
          <a:prstGeom prst="rightArrow">
            <a:avLst/>
          </a:prstGeom>
          <a:solidFill>
            <a:srgbClr val="8B949E"/>
          </a:solidFill>
        </p:spPr>
      </p:sp>
      <p:sp>
        <p:nvSpPr>
          <p:cNvPr id="78" name="Shape 78"/>
          <p:cNvSpPr/>
          <p:nvPr/>
        </p:nvSpPr>
        <p:spPr>
          <a:xfrm>
            <a:off x="8814816" y="2011680"/>
            <a:ext cx="457200" cy="457200"/>
          </a:xfrm>
          <a:prstGeom prst="ellipse">
            <a:avLst/>
          </a:prstGeom>
          <a:solidFill>
            <a:srgbClr val="FF7043"/>
          </a:solidFill>
        </p:spPr>
        <p:txBody>
          <a:bodyPr wrap="square" anchor="ctr" lIns="137160" tIns="137160" rIns="137160" bIns="137160"/>
          <a:lstStyle/>
          <a:p>
            <a:pPr algn="ctr"/>
            <a:r>
              <a:rPr lang="en-US" dirty="0" sz="1400">
                <a:solidFill>
                  <a:srgbClr val="333333"/>
                </a:solidFill>
              </a:rPr>
              <a:t>5</a:t>
            </a:r>
          </a:p>
        </p:txBody>
      </p:sp>
      <p:sp>
        <p:nvSpPr>
          <p:cNvPr id="79" name="Rectangle 79"/>
          <p:cNvSpPr/>
          <p:nvPr/>
        </p:nvSpPr>
        <p:spPr>
          <a:xfrm>
            <a:off x="8243316" y="2560320"/>
            <a:ext cx="1600200" cy="1645920"/>
          </a:xfrm>
          <a:prstGeom prst="roundRect">
            <a:avLst/>
          </a:prstGeom>
          <a:solidFill>
            <a:srgbClr val="1A1A2E"/>
          </a:solidFill>
        </p:spPr>
      </p:sp>
      <p:sp>
        <p:nvSpPr>
          <p:cNvPr id="80" name="TextBox 80"/>
          <p:cNvSpPr txBox="1"/>
          <p:nvPr/>
        </p:nvSpPr>
        <p:spPr>
          <a:xfrm>
            <a:off x="8243316" y="2834640"/>
            <a:ext cx="1600200" cy="457200"/>
          </a:xfrm>
          <a:prstGeom prst="rect">
            <a:avLst/>
          </a:prstGeom>
          <a:noFill/>
        </p:spPr>
        <p:txBody>
          <a:bodyPr wrap="square" anchor="t" lIns="137160" tIns="137160" rIns="137160" bIns="137160"/>
          <a:lstStyle/>
          <a:p>
            <a:pPr algn="ctr"/>
            <a:r>
              <a:rPr lang="en-US" dirty="0" sz="1200" b="1">
                <a:solidFill>
                  <a:srgbClr val="FFFFFF"/>
                </a:solidFill>
              </a:rPr>
              <a:t>Return</a:t>
            </a:r>
          </a:p>
        </p:txBody>
      </p:sp>
      <p:sp>
        <p:nvSpPr>
          <p:cNvPr id="81" name="TextBox 81"/>
          <p:cNvSpPr txBox="1"/>
          <p:nvPr/>
        </p:nvSpPr>
        <p:spPr>
          <a:xfrm>
            <a:off x="8243316" y="4297680"/>
            <a:ext cx="1600200" cy="731520"/>
          </a:xfrm>
          <a:prstGeom prst="rect">
            <a:avLst/>
          </a:prstGeom>
          <a:noFill/>
        </p:spPr>
        <p:txBody>
          <a:bodyPr wrap="square" anchor="t" lIns="137160" tIns="137160" rIns="137160" bIns="137160"/>
          <a:lstStyle/>
          <a:p>
            <a:pPr algn="ctr"/>
            <a:r>
              <a:rPr lang="en-US" dirty="0" sz="900">
                <a:solidFill>
                  <a:srgbClr val="8B949E"/>
                </a:solidFill>
              </a:rPr>
              <a:t>Coast back to Earth</a:t>
            </a:r>
          </a:p>
        </p:txBody>
      </p:sp>
      <p:sp>
        <p:nvSpPr>
          <p:cNvPr id="82" name="Shape 82"/>
          <p:cNvSpPr/>
          <p:nvPr/>
        </p:nvSpPr>
        <p:spPr>
          <a:xfrm>
            <a:off x="9980676" y="3246120"/>
            <a:ext cx="274320" cy="274320"/>
          </a:xfrm>
          <a:prstGeom prst="rightArrow">
            <a:avLst/>
          </a:prstGeom>
          <a:solidFill>
            <a:srgbClr val="8B949E"/>
          </a:solidFill>
        </p:spPr>
      </p:sp>
      <p:sp>
        <p:nvSpPr>
          <p:cNvPr id="83" name="Shape 83"/>
          <p:cNvSpPr/>
          <p:nvPr/>
        </p:nvSpPr>
        <p:spPr>
          <a:xfrm>
            <a:off x="10780776" y="2011680"/>
            <a:ext cx="457200" cy="457200"/>
          </a:xfrm>
          <a:prstGeom prst="ellipse">
            <a:avLst/>
          </a:prstGeom>
          <a:solidFill>
            <a:srgbClr val="AB47BC"/>
          </a:solidFill>
        </p:spPr>
        <p:txBody>
          <a:bodyPr wrap="square" anchor="ctr" lIns="137160" tIns="137160" rIns="137160" bIns="137160"/>
          <a:lstStyle/>
          <a:p>
            <a:pPr algn="ctr"/>
            <a:r>
              <a:rPr lang="en-US" dirty="0" sz="1400">
                <a:solidFill>
                  <a:srgbClr val="FFFFFF"/>
                </a:solidFill>
              </a:rPr>
              <a:t>6</a:t>
            </a:r>
          </a:p>
        </p:txBody>
      </p:sp>
      <p:sp>
        <p:nvSpPr>
          <p:cNvPr id="84" name="Rectangle 84"/>
          <p:cNvSpPr/>
          <p:nvPr/>
        </p:nvSpPr>
        <p:spPr>
          <a:xfrm>
            <a:off x="10209276" y="2560320"/>
            <a:ext cx="1600200" cy="1645920"/>
          </a:xfrm>
          <a:prstGeom prst="roundRect">
            <a:avLst/>
          </a:prstGeom>
          <a:solidFill>
            <a:srgbClr val="1A1A2E"/>
          </a:solidFill>
        </p:spPr>
      </p:sp>
      <p:sp>
        <p:nvSpPr>
          <p:cNvPr id="85" name="TextBox 85"/>
          <p:cNvSpPr txBox="1"/>
          <p:nvPr/>
        </p:nvSpPr>
        <p:spPr>
          <a:xfrm>
            <a:off x="10209276" y="2834640"/>
            <a:ext cx="1600200" cy="457200"/>
          </a:xfrm>
          <a:prstGeom prst="rect">
            <a:avLst/>
          </a:prstGeom>
          <a:noFill/>
        </p:spPr>
        <p:txBody>
          <a:bodyPr wrap="square" anchor="t" lIns="137160" tIns="137160" rIns="137160" bIns="137160"/>
          <a:lstStyle/>
          <a:p>
            <a:pPr algn="ctr"/>
            <a:r>
              <a:rPr lang="en-US" dirty="0" sz="1200" b="1">
                <a:solidFill>
                  <a:srgbClr val="FFFFFF"/>
                </a:solidFill>
              </a:rPr>
              <a:t>Splashdown</a:t>
            </a:r>
          </a:p>
        </p:txBody>
      </p:sp>
      <p:sp>
        <p:nvSpPr>
          <p:cNvPr id="86" name="TextBox 86"/>
          <p:cNvSpPr txBox="1"/>
          <p:nvPr/>
        </p:nvSpPr>
        <p:spPr>
          <a:xfrm>
            <a:off x="10209276" y="4297680"/>
            <a:ext cx="1600200" cy="731520"/>
          </a:xfrm>
          <a:prstGeom prst="rect">
            <a:avLst/>
          </a:prstGeom>
          <a:noFill/>
        </p:spPr>
        <p:txBody>
          <a:bodyPr wrap="square" anchor="t" lIns="137160" tIns="137160" rIns="137160" bIns="137160"/>
          <a:lstStyle/>
          <a:p>
            <a:pPr algn="ctr"/>
            <a:r>
              <a:rPr lang="en-US" dirty="0" sz="900">
                <a:solidFill>
                  <a:srgbClr val="8B949E"/>
                </a:solidFill>
              </a:rPr>
              <a:t>Pacific Ocean, Apr 10</a:t>
            </a:r>
          </a:p>
        </p:txBody>
      </p:sp>
      <p:sp>
        <p:nvSpPr>
          <p:cNvPr id="190" name="TextBox 190"/>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7</a:t>
            </a:r>
          </a:p>
        </p:txBody>
      </p:sp>
      <p:sp>
        <p:nvSpPr>
          <p:cNvPr id="207" name="TextBox 207"/>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  Source: nasa.gov/mission/artemis-ii  |  April 2026</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87" name="TextBox 87"/>
          <p:cNvSpPr txBox="1"/>
          <p:nvPr/>
        </p:nvSpPr>
        <p:spPr>
          <a:xfrm>
            <a:off x="457200" y="274320"/>
            <a:ext cx="10972800" cy="731520"/>
          </a:xfrm>
          <a:prstGeom prst="rect">
            <a:avLst/>
          </a:prstGeom>
          <a:noFill/>
        </p:spPr>
        <p:txBody>
          <a:bodyPr wrap="square" anchor="t" lIns="137160" tIns="137160" rIns="137160" bIns="137160"/>
          <a:lstStyle/>
          <a:p>
            <a:pPr algn="l"/>
            <a:r>
              <a:rPr lang="en-US" dirty="0" sz="2800" b="1">
                <a:solidFill>
                  <a:srgbClr val="FFFFFF"/>
                </a:solidFill>
              </a:rPr>
              <a:t>THE SPACECRAFT &amp; THE ROCKET</a:t>
            </a:r>
          </a:p>
        </p:txBody>
      </p:sp>
      <p:sp>
        <p:nvSpPr>
          <p:cNvPr id="88" name="Rectangle 88"/>
          <p:cNvSpPr/>
          <p:nvPr/>
        </p:nvSpPr>
        <p:spPr>
          <a:xfrm>
            <a:off x="457200" y="960120"/>
            <a:ext cx="1828800" cy="45720"/>
          </a:xfrm>
          <a:prstGeom prst="rect">
            <a:avLst/>
          </a:prstGeom>
          <a:solidFill>
            <a:srgbClr val="58A6FF"/>
          </a:solidFill>
        </p:spPr>
      </p:sp>
      <p:sp>
        <p:nvSpPr>
          <p:cNvPr id="89" name="TextBox 89"/>
          <p:cNvSpPr txBox="1"/>
          <p:nvPr/>
        </p:nvSpPr>
        <p:spPr>
          <a:xfrm>
            <a:off x="457200" y="1188720"/>
            <a:ext cx="5029200" cy="457200"/>
          </a:xfrm>
          <a:prstGeom prst="rect">
            <a:avLst/>
          </a:prstGeom>
          <a:noFill/>
        </p:spPr>
        <p:txBody>
          <a:bodyPr wrap="square" anchor="t" lIns="137160" tIns="137160" rIns="137160" bIns="137160"/>
          <a:lstStyle/>
          <a:p>
            <a:pPr algn="l"/>
            <a:r>
              <a:rPr lang="en-US" dirty="0" sz="1800" b="1">
                <a:solidFill>
                  <a:srgbClr val="58A6FF"/>
                </a:solidFill>
              </a:rPr>
              <a:t>ORION SPACECRAFT</a:t>
            </a:r>
          </a:p>
        </p:txBody>
      </p:sp>
      <p:sp>
        <p:nvSpPr>
          <p:cNvPr id="90" name="TextBox 90"/>
          <p:cNvSpPr txBox="1"/>
          <p:nvPr/>
        </p:nvSpPr>
        <p:spPr>
          <a:xfrm>
            <a:off x="6400800" y="1188720"/>
            <a:ext cx="5029200" cy="457200"/>
          </a:xfrm>
          <a:prstGeom prst="rect">
            <a:avLst/>
          </a:prstGeom>
          <a:noFill/>
        </p:spPr>
        <p:txBody>
          <a:bodyPr wrap="square" anchor="t" lIns="137160" tIns="137160" rIns="137160" bIns="137160"/>
          <a:lstStyle/>
          <a:p>
            <a:pPr algn="l"/>
            <a:r>
              <a:rPr lang="en-US" dirty="0" sz="1800" b="1">
                <a:solidFill>
                  <a:srgbClr val="3FB950"/>
                </a:solidFill>
              </a:rPr>
              <a:t>SLS ROCKET</a:t>
            </a:r>
          </a:p>
        </p:txBody>
      </p:sp>
      <p:sp>
        <p:nvSpPr>
          <p:cNvPr id="91" name="Rectangle 91"/>
          <p:cNvSpPr/>
          <p:nvPr/>
        </p:nvSpPr>
        <p:spPr>
          <a:xfrm>
            <a:off x="5943600" y="1188720"/>
            <a:ext cx="27432" cy="5029200"/>
          </a:xfrm>
          <a:prstGeom prst="rect">
            <a:avLst/>
          </a:prstGeom>
          <a:solidFill>
            <a:srgbClr val="8B949E"/>
          </a:solidFill>
        </p:spPr>
      </p:sp>
      <p:sp>
        <p:nvSpPr>
          <p:cNvPr id="92" name="TextBox 92"/>
          <p:cNvSpPr txBox="1"/>
          <p:nvPr/>
        </p:nvSpPr>
        <p:spPr>
          <a:xfrm>
            <a:off x="457200" y="1737360"/>
            <a:ext cx="5029200" cy="4389120"/>
          </a:xfrm>
          <a:prstGeom prst="rect">
            <a:avLst/>
          </a:prstGeom>
          <a:noFill/>
        </p:spPr>
        <p:txBody>
          <a:bodyPr wrap="square" anchor="t" lIns="137160" tIns="137160" rIns="137160" bIns="137160"/>
          <a:lstStyle/>
          <a:p>
            <a:pPr lvl="0" algn="l">
              <a:buClr>
                <a:srgbClr val="58A6FF"/>
              </a:buClr>
              <a:buFont typeface="Arial"/>
              <a:buChar char="•"/>
            </a:pPr>
            <a:r>
              <a:rPr lang="en-US" dirty="0" sz="1600">
                <a:solidFill>
                  <a:srgbClr val="FFFFFF"/>
                </a:solidFill>
              </a:rPr>
              <a:t>Designed for deep space crew missions</a:t>
            </a:r>
          </a:p>
          <a:p>
            <a:pPr lvl="0" algn="l">
              <a:buClr>
                <a:srgbClr val="58A6FF"/>
              </a:buClr>
              <a:buFont typeface="Arial"/>
              <a:buChar char="•"/>
            </a:pPr>
            <a:r>
              <a:rPr lang="en-US" dirty="0" sz="1600">
                <a:solidFill>
                  <a:srgbClr val="FFFFFF"/>
                </a:solidFill>
              </a:rPr>
              <a:t>Proven on Artemis I uncrewed flight (2022)</a:t>
            </a:r>
          </a:p>
          <a:p>
            <a:pPr lvl="0" algn="l">
              <a:buClr>
                <a:srgbClr val="58A6FF"/>
              </a:buClr>
              <a:buFont typeface="Arial"/>
              <a:buChar char="•"/>
            </a:pPr>
            <a:r>
              <a:rPr lang="en-US" dirty="0" sz="1600">
                <a:solidFill>
                  <a:srgbClr val="FFFFFF"/>
                </a:solidFill>
              </a:rPr>
              <a:t>Life support for 21-day missions</a:t>
            </a:r>
          </a:p>
          <a:p>
            <a:pPr lvl="0" algn="l">
              <a:buClr>
                <a:srgbClr val="58A6FF"/>
              </a:buClr>
              <a:buFont typeface="Arial"/>
              <a:buChar char="•"/>
            </a:pPr>
            <a:r>
              <a:rPr lang="en-US" dirty="0" sz="1600">
                <a:solidFill>
                  <a:srgbClr val="FFFFFF"/>
                </a:solidFill>
              </a:rPr>
              <a:t>3,600°F heat shield - largest ever built</a:t>
            </a:r>
          </a:p>
          <a:p>
            <a:pPr lvl="0" algn="l">
              <a:buClr>
                <a:srgbClr val="58A6FF"/>
              </a:buClr>
              <a:buFont typeface="Arial"/>
              <a:buChar char="•"/>
            </a:pPr>
            <a:r>
              <a:rPr lang="en-US" dirty="0" sz="1600">
                <a:solidFill>
                  <a:srgbClr val="FFFFFF"/>
                </a:solidFill>
              </a:rPr>
              <a:t>11 parachutes for ocean splashdown</a:t>
            </a:r>
          </a:p>
          <a:p>
            <a:pPr lvl="0" algn="l">
              <a:buClr>
                <a:srgbClr val="58A6FF"/>
              </a:buClr>
              <a:buFont typeface="Arial"/>
              <a:buChar char="•"/>
            </a:pPr>
            <a:r>
              <a:rPr lang="en-US" dirty="0" sz="1600">
                <a:solidFill>
                  <a:srgbClr val="FFFFFF"/>
                </a:solidFill>
              </a:rPr>
              <a:t>European Service Module by ESA</a:t>
            </a:r>
          </a:p>
        </p:txBody>
      </p:sp>
      <p:sp>
        <p:nvSpPr>
          <p:cNvPr id="93" name="TextBox 93"/>
          <p:cNvSpPr txBox="1"/>
          <p:nvPr/>
        </p:nvSpPr>
        <p:spPr>
          <a:xfrm>
            <a:off x="6400800" y="1737360"/>
            <a:ext cx="5029200" cy="4389120"/>
          </a:xfrm>
          <a:prstGeom prst="rect">
            <a:avLst/>
          </a:prstGeom>
          <a:noFill/>
        </p:spPr>
        <p:txBody>
          <a:bodyPr wrap="square" anchor="t" lIns="137160" tIns="137160" rIns="137160" bIns="137160"/>
          <a:lstStyle/>
          <a:p>
            <a:pPr lvl="0" algn="l">
              <a:buClr>
                <a:srgbClr val="3FB950"/>
              </a:buClr>
              <a:buFont typeface="Arial"/>
              <a:buChar char="•"/>
            </a:pPr>
            <a:r>
              <a:rPr lang="en-US" dirty="0" sz="1600">
                <a:solidFill>
                  <a:srgbClr val="FFFFFF"/>
                </a:solidFill>
              </a:rPr>
              <a:t>Most powerful rocket ever built</a:t>
            </a:r>
          </a:p>
          <a:p>
            <a:pPr lvl="0" algn="l">
              <a:buClr>
                <a:srgbClr val="3FB950"/>
              </a:buClr>
              <a:buFont typeface="Arial"/>
              <a:buChar char="•"/>
            </a:pPr>
            <a:r>
              <a:rPr lang="en-US" dirty="0" sz="1600">
                <a:solidFill>
                  <a:srgbClr val="FFFFFF"/>
                </a:solidFill>
              </a:rPr>
              <a:t>8.8 million lbs of thrust at liftoff</a:t>
            </a:r>
          </a:p>
          <a:p>
            <a:pPr lvl="0" algn="l">
              <a:buClr>
                <a:srgbClr val="3FB950"/>
              </a:buClr>
              <a:buFont typeface="Arial"/>
              <a:buChar char="•"/>
            </a:pPr>
            <a:r>
              <a:rPr lang="en-US" dirty="0" sz="1600">
                <a:solidFill>
                  <a:srgbClr val="FFFFFF"/>
                </a:solidFill>
              </a:rPr>
              <a:t>322 ft (98.3m) tall - Block 1</a:t>
            </a:r>
          </a:p>
          <a:p>
            <a:pPr lvl="0" algn="l">
              <a:buClr>
                <a:srgbClr val="3FB950"/>
              </a:buClr>
              <a:buFont typeface="Arial"/>
              <a:buChar char="•"/>
            </a:pPr>
            <a:r>
              <a:rPr lang="en-US" dirty="0" sz="1600">
                <a:solidFill>
                  <a:srgbClr val="FFFFFF"/>
                </a:solidFill>
              </a:rPr>
              <a:t>Two 5-segment solid rocket boosters</a:t>
            </a:r>
          </a:p>
          <a:p>
            <a:pPr lvl="0" algn="l">
              <a:buClr>
                <a:srgbClr val="3FB950"/>
              </a:buClr>
              <a:buFont typeface="Arial"/>
              <a:buChar char="•"/>
            </a:pPr>
            <a:r>
              <a:rPr lang="en-US" dirty="0" sz="1600">
                <a:solidFill>
                  <a:srgbClr val="FFFFFF"/>
                </a:solidFill>
              </a:rPr>
              <a:t>4 RS-25 engines (Shuttle heritage)</a:t>
            </a:r>
          </a:p>
          <a:p>
            <a:pPr lvl="0" algn="l">
              <a:buClr>
                <a:srgbClr val="3FB950"/>
              </a:buClr>
              <a:buFont typeface="Arial"/>
              <a:buChar char="•"/>
            </a:pPr>
            <a:r>
              <a:rPr lang="en-US" dirty="0" sz="1600">
                <a:solidFill>
                  <a:srgbClr val="FFFFFF"/>
                </a:solidFill>
              </a:rPr>
              <a:t>Only rocket sending crew to Moon</a:t>
            </a:r>
          </a:p>
        </p:txBody>
      </p:sp>
      <p:sp>
        <p:nvSpPr>
          <p:cNvPr id="191" name="TextBox 191"/>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8</a:t>
            </a:r>
          </a:p>
        </p:txBody>
      </p:sp>
      <p:sp>
        <p:nvSpPr>
          <p:cNvPr id="208" name="TextBox 208"/>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  Source: nasa.gov/mission/artemis-ii  |  April 2026</a:t>
            </a:r>
          </a:p>
        </p:txBody>
      </p:sp>
    </p:spTree>
  </p:cSld>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94" name="Image 5"/>
          <p:cNvPicPr>
            <a:picLocks noChangeAspect="1"/>
          </p:cNvPicPr>
          <p:nvPr/>
        </p:nvPicPr>
        <p:blipFill>
          <a:blip r:embed="rId3"/>
          <a:stretch>
            <a:fillRect/>
          </a:stretch>
        </p:blipFill>
        <p:spPr>
          <a:xfrm>
            <a:off x="0" y="0"/>
            <a:ext cx="12191695" cy="6858000"/>
          </a:xfrm>
          <a:prstGeom prst="rect">
            <a:avLst/>
          </a:prstGeom>
        </p:spPr>
      </p:pic>
      <p:sp>
        <p:nvSpPr>
          <p:cNvPr id="95" name="Rectangle 95"/>
          <p:cNvSpPr/>
          <p:nvPr/>
        </p:nvSpPr>
        <p:spPr>
          <a:xfrm>
            <a:off x="0" y="0"/>
            <a:ext cx="12191695" cy="6858000"/>
          </a:xfrm>
          <a:prstGeom prst="rect">
            <a:avLst/>
          </a:prstGeom>
          <a:solidFill>
            <a:srgbClr val="0A1628">
              <a:alpha val="35000"/>
            </a:srgbClr>
          </a:solidFill>
        </p:spPr>
      </p:sp>
      <p:sp>
        <p:nvSpPr>
          <p:cNvPr id="96" name="TextBox 96"/>
          <p:cNvSpPr txBox="1"/>
          <p:nvPr/>
        </p:nvSpPr>
        <p:spPr>
          <a:xfrm>
            <a:off x="457200" y="2560320"/>
            <a:ext cx="11277295" cy="1371600"/>
          </a:xfrm>
          <a:prstGeom prst="rect">
            <a:avLst/>
          </a:prstGeom>
          <a:noFill/>
        </p:spPr>
        <p:txBody>
          <a:bodyPr wrap="square" anchor="t" lIns="137160" tIns="137160" rIns="137160" bIns="137160"/>
          <a:lstStyle/>
          <a:p>
            <a:pPr algn="ctr"/>
            <a:r>
              <a:rPr lang="en-US" dirty="0" sz="4000" b="1">
                <a:solidFill>
                  <a:srgbClr val="FFFFFF"/>
                </a:solidFill>
              </a:rPr>
              <a:t>Into the Deep</a:t>
            </a:r>
          </a:p>
        </p:txBody>
      </p:sp>
      <p:sp>
        <p:nvSpPr>
          <p:cNvPr id="97" name="TextBox 97"/>
          <p:cNvSpPr txBox="1"/>
          <p:nvPr/>
        </p:nvSpPr>
        <p:spPr>
          <a:xfrm>
            <a:off x="457200" y="3840480"/>
            <a:ext cx="11277295" cy="731520"/>
          </a:xfrm>
          <a:prstGeom prst="rect">
            <a:avLst/>
          </a:prstGeom>
          <a:noFill/>
        </p:spPr>
        <p:txBody>
          <a:bodyPr wrap="square" anchor="t" lIns="137160" tIns="137160" rIns="137160" bIns="137160"/>
          <a:lstStyle/>
          <a:p>
            <a:pPr algn="ctr"/>
            <a:r>
              <a:rPr lang="en-US" dirty="0" sz="1400">
                <a:solidFill>
                  <a:srgbClr val="FFFFFF"/>
                </a:solidFill>
              </a:rPr>
              <a:t>Crew photography from aboard Orion during the lunar flyby</a:t>
            </a:r>
          </a:p>
        </p:txBody>
      </p:sp>
      <p:sp>
        <p:nvSpPr>
          <p:cNvPr id="192" name="TextBox 192"/>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9</a:t>
            </a:r>
          </a:p>
        </p:txBody>
      </p:sp>
      <p:sp>
        <p:nvSpPr>
          <p:cNvPr id="209" name="TextBox 209"/>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  Source: nasa.gov/mission/artemis-ii  |  April 2026</a:t>
            </a:r>
          </a:p>
        </p:txBody>
      </p:sp>
    </p:spTree>
  </p:cSld>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8" name="TextBox 98"/>
          <p:cNvSpPr txBox="1"/>
          <p:nvPr/>
        </p:nvSpPr>
        <p:spPr>
          <a:xfrm>
            <a:off x="457200" y="274320"/>
            <a:ext cx="10972800" cy="731520"/>
          </a:xfrm>
          <a:prstGeom prst="rect">
            <a:avLst/>
          </a:prstGeom>
          <a:noFill/>
        </p:spPr>
        <p:txBody>
          <a:bodyPr wrap="square" anchor="t" lIns="137160" tIns="137160" rIns="137160" bIns="137160"/>
          <a:lstStyle/>
          <a:p>
            <a:pPr algn="l"/>
            <a:r>
              <a:rPr lang="en-US" dirty="0" sz="2800" b="1">
                <a:solidFill>
                  <a:srgbClr val="FFFFFF"/>
                </a:solidFill>
              </a:rPr>
              <a:t>CREW PHOTOGRAPHY FROM THE MISSION</a:t>
            </a:r>
          </a:p>
        </p:txBody>
      </p:sp>
      <p:pic>
        <p:nvPicPr>
          <p:cNvPr id="99" name="Image 6"/>
          <p:cNvPicPr>
            <a:picLocks noChangeAspect="1"/>
          </p:cNvPicPr>
          <p:nvPr/>
        </p:nvPicPr>
        <p:blipFill>
          <a:blip r:embed="rId3"/>
          <a:stretch>
            <a:fillRect/>
          </a:stretch>
        </p:blipFill>
        <p:spPr>
          <a:xfrm>
            <a:off x="457200" y="1188720"/>
            <a:ext cx="5592928" cy="2103120"/>
          </a:xfrm>
          <a:prstGeom prst="rect">
            <a:avLst/>
          </a:prstGeom>
        </p:spPr>
      </p:pic>
      <p:sp>
        <p:nvSpPr>
          <p:cNvPr id="100" name="TextBox 100"/>
          <p:cNvSpPr txBox="1"/>
          <p:nvPr/>
        </p:nvSpPr>
        <p:spPr>
          <a:xfrm>
            <a:off x="457200" y="3337560"/>
            <a:ext cx="5592928" cy="320040"/>
          </a:xfrm>
          <a:prstGeom prst="rect">
            <a:avLst/>
          </a:prstGeom>
          <a:noFill/>
        </p:spPr>
        <p:txBody>
          <a:bodyPr wrap="square" anchor="t" lIns="137160" tIns="137160" rIns="137160" bIns="137160"/>
          <a:lstStyle/>
          <a:p>
            <a:pPr algn="ctr"/>
            <a:r>
              <a:rPr lang="en-US" dirty="0" sz="1100">
                <a:solidFill>
                  <a:srgbClr val="8B949E"/>
                </a:solidFill>
              </a:rPr>
              <a:t>View from Orion</a:t>
            </a:r>
          </a:p>
        </p:txBody>
      </p:sp>
      <p:pic>
        <p:nvPicPr>
          <p:cNvPr id="101" name="Image 7"/>
          <p:cNvPicPr>
            <a:picLocks noChangeAspect="1"/>
          </p:cNvPicPr>
          <p:nvPr/>
        </p:nvPicPr>
        <p:blipFill>
          <a:blip r:embed="rId4"/>
          <a:stretch>
            <a:fillRect/>
          </a:stretch>
        </p:blipFill>
        <p:spPr>
          <a:xfrm>
            <a:off x="6141568" y="1188720"/>
            <a:ext cx="5592928" cy="2103120"/>
          </a:xfrm>
          <a:prstGeom prst="rect">
            <a:avLst/>
          </a:prstGeom>
        </p:spPr>
      </p:pic>
      <p:sp>
        <p:nvSpPr>
          <p:cNvPr id="102" name="TextBox 102"/>
          <p:cNvSpPr txBox="1"/>
          <p:nvPr/>
        </p:nvSpPr>
        <p:spPr>
          <a:xfrm>
            <a:off x="6141568" y="3337560"/>
            <a:ext cx="5592928" cy="320040"/>
          </a:xfrm>
          <a:prstGeom prst="rect">
            <a:avLst/>
          </a:prstGeom>
          <a:noFill/>
        </p:spPr>
        <p:txBody>
          <a:bodyPr wrap="square" anchor="t" lIns="137160" tIns="137160" rIns="137160" bIns="137160"/>
          <a:lstStyle/>
          <a:p>
            <a:pPr algn="ctr"/>
            <a:r>
              <a:rPr lang="en-US" dirty="0" sz="1100">
                <a:solidFill>
                  <a:srgbClr val="8B949E"/>
                </a:solidFill>
              </a:rPr>
              <a:t>Lunar approach</a:t>
            </a:r>
          </a:p>
        </p:txBody>
      </p:sp>
      <p:pic>
        <p:nvPicPr>
          <p:cNvPr id="103" name="Image 8"/>
          <p:cNvPicPr>
            <a:picLocks noChangeAspect="1"/>
          </p:cNvPicPr>
          <p:nvPr/>
        </p:nvPicPr>
        <p:blipFill>
          <a:blip r:embed="rId5"/>
          <a:stretch>
            <a:fillRect/>
          </a:stretch>
        </p:blipFill>
        <p:spPr>
          <a:xfrm>
            <a:off x="457200" y="3749040"/>
            <a:ext cx="5592928" cy="2103120"/>
          </a:xfrm>
          <a:prstGeom prst="rect">
            <a:avLst/>
          </a:prstGeom>
        </p:spPr>
      </p:pic>
      <p:sp>
        <p:nvSpPr>
          <p:cNvPr id="104" name="TextBox 104"/>
          <p:cNvSpPr txBox="1"/>
          <p:nvPr/>
        </p:nvSpPr>
        <p:spPr>
          <a:xfrm>
            <a:off x="457200" y="5897880"/>
            <a:ext cx="5592928" cy="320040"/>
          </a:xfrm>
          <a:prstGeom prst="rect">
            <a:avLst/>
          </a:prstGeom>
          <a:noFill/>
        </p:spPr>
        <p:txBody>
          <a:bodyPr wrap="square" anchor="t" lIns="137160" tIns="137160" rIns="137160" bIns="137160"/>
          <a:lstStyle/>
          <a:p>
            <a:pPr algn="ctr"/>
            <a:r>
              <a:rPr lang="en-US" dirty="0" sz="1100">
                <a:solidFill>
                  <a:srgbClr val="8B949E"/>
                </a:solidFill>
              </a:rPr>
              <a:t>Deep space vista</a:t>
            </a:r>
          </a:p>
        </p:txBody>
      </p:sp>
      <p:pic>
        <p:nvPicPr>
          <p:cNvPr id="105" name="Image 9"/>
          <p:cNvPicPr>
            <a:picLocks noChangeAspect="1"/>
          </p:cNvPicPr>
          <p:nvPr/>
        </p:nvPicPr>
        <p:blipFill>
          <a:blip r:embed="rId6"/>
          <a:stretch>
            <a:fillRect/>
          </a:stretch>
        </p:blipFill>
        <p:spPr>
          <a:xfrm>
            <a:off x="6141568" y="3749040"/>
            <a:ext cx="5592928" cy="2103120"/>
          </a:xfrm>
          <a:prstGeom prst="rect">
            <a:avLst/>
          </a:prstGeom>
        </p:spPr>
      </p:pic>
      <p:sp>
        <p:nvSpPr>
          <p:cNvPr id="106" name="TextBox 106"/>
          <p:cNvSpPr txBox="1"/>
          <p:nvPr/>
        </p:nvSpPr>
        <p:spPr>
          <a:xfrm>
            <a:off x="6141568" y="5897880"/>
            <a:ext cx="5592928" cy="320040"/>
          </a:xfrm>
          <a:prstGeom prst="rect">
            <a:avLst/>
          </a:prstGeom>
          <a:noFill/>
        </p:spPr>
        <p:txBody>
          <a:bodyPr wrap="square" anchor="t" lIns="137160" tIns="137160" rIns="137160" bIns="137160"/>
          <a:lstStyle/>
          <a:p>
            <a:pPr algn="ctr"/>
            <a:r>
              <a:rPr lang="en-US" dirty="0" sz="1100">
                <a:solidFill>
                  <a:srgbClr val="8B949E"/>
                </a:solidFill>
              </a:rPr>
              <a:t>Through Orion's window</a:t>
            </a:r>
          </a:p>
        </p:txBody>
      </p:sp>
      <p:sp>
        <p:nvSpPr>
          <p:cNvPr id="193" name="TextBox 193"/>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10</a:t>
            </a:r>
          </a:p>
        </p:txBody>
      </p:sp>
      <p:sp>
        <p:nvSpPr>
          <p:cNvPr id="210" name="TextBox 210"/>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  Source: nasa.gov/mission/artemis-ii  |  April 2026</a:t>
            </a:r>
          </a:p>
        </p:txBody>
      </p:sp>
    </p:spTree>
  </p:cSld>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7" name="Rectangle 107"/>
          <p:cNvSpPr/>
          <p:nvPr/>
        </p:nvSpPr>
        <p:spPr>
          <a:xfrm>
            <a:off x="0" y="0"/>
            <a:ext cx="9144000" cy="5148072"/>
          </a:xfrm>
          <a:prstGeom prst="rect">
            <a:avLst/>
          </a:prstGeom>
          <a:solidFill>
            <a:srgbClr val="0A1628"/>
          </a:solidFill>
        </p:spPr>
      </p:sp>
      <p:sp>
        <p:nvSpPr>
          <p:cNvPr id="108" name="TextBox 108"/>
          <p:cNvSpPr txBox="1"/>
          <p:nvPr/>
        </p:nvSpPr>
        <p:spPr>
          <a:xfrm>
            <a:off x="548640" y="274320"/>
            <a:ext cx="8046720" cy="457200"/>
          </a:xfrm>
          <a:prstGeom prst="rect">
            <a:avLst/>
          </a:prstGeom>
          <a:noFill/>
        </p:spPr>
        <p:txBody>
          <a:bodyPr wrap="square" anchor="t" lIns="137160" tIns="137160" rIns="137160" bIns="137160"/>
          <a:lstStyle/>
          <a:p>
            <a:pPr algn="l"/>
            <a:r>
              <a:rPr lang="en-US" dirty="0" sz="2600" b="1">
                <a:solidFill>
                  <a:srgbClr val="4FC3F7"/>
                </a:solidFill>
              </a:rPr>
              <a:t>ARTEMIS II SCIENCE</a:t>
            </a:r>
          </a:p>
        </p:txBody>
      </p:sp>
      <p:cxnSp>
        <p:nvCxnSpPr>
          <p:cNvPr id="109" name="Line 109"/>
          <p:cNvCxnSpPr/>
          <p:nvPr/>
        </p:nvCxnSpPr>
        <p:spPr>
          <a:xfrm>
            <a:off x="548640" y="777240"/>
            <a:ext cx="3108960" cy="1"/>
          </a:xfrm>
          <a:prstGeom prst="line">
            <a:avLst/>
          </a:prstGeom>
          <a:ln w="25400">
            <a:solidFill>
              <a:srgbClr val="4FC3F7"/>
            </a:solidFill>
          </a:ln>
        </p:spPr>
      </p:cxnSp>
      <p:sp>
        <p:nvSpPr>
          <p:cNvPr id="110" name="TextBox 110"/>
          <p:cNvSpPr txBox="1"/>
          <p:nvPr/>
        </p:nvSpPr>
        <p:spPr>
          <a:xfrm>
            <a:off x="548640" y="914400"/>
            <a:ext cx="8046720" cy="457200"/>
          </a:xfrm>
          <a:prstGeom prst="rect">
            <a:avLst/>
          </a:prstGeom>
          <a:noFill/>
        </p:spPr>
        <p:txBody>
          <a:bodyPr wrap="square" anchor="t" lIns="137160" tIns="137160" rIns="137160" bIns="137160"/>
          <a:lstStyle/>
          <a:p>
            <a:pPr algn="l"/>
            <a:r>
              <a:rPr lang="en-US" dirty="0" sz="1300" i="1">
                <a:solidFill>
                  <a:srgbClr val="BBBBBB"/>
                </a:solidFill>
              </a:rPr>
              <a:t>Science operations laying the foundation for safe human exploration of the Moon and Mars.</a:t>
            </a:r>
          </a:p>
        </p:txBody>
      </p:sp>
      <p:sp>
        <p:nvSpPr>
          <p:cNvPr id="111" name="Rectangle 111"/>
          <p:cNvSpPr/>
          <p:nvPr/>
        </p:nvSpPr>
        <p:spPr>
          <a:xfrm>
            <a:off x="548640" y="1508760"/>
            <a:ext cx="5410048" cy="1531620"/>
          </a:xfrm>
          <a:prstGeom prst="roundRect">
            <a:avLst/>
          </a:prstGeom>
          <a:solidFill>
            <a:srgbClr val="1A2744"/>
          </a:solidFill>
        </p:spPr>
      </p:sp>
      <p:sp>
        <p:nvSpPr>
          <p:cNvPr id="112" name="TextBox 112"/>
          <p:cNvSpPr txBox="1"/>
          <p:nvPr/>
        </p:nvSpPr>
        <p:spPr>
          <a:xfrm>
            <a:off x="685800" y="1645920"/>
            <a:ext cx="5135728" cy="274320"/>
          </a:xfrm>
          <a:prstGeom prst="rect">
            <a:avLst/>
          </a:prstGeom>
          <a:noFill/>
        </p:spPr>
        <p:txBody>
          <a:bodyPr wrap="square" anchor="t" lIns="137160" tIns="137160" rIns="137160" bIns="137160"/>
          <a:lstStyle/>
          <a:p>
            <a:pPr algn="l"/>
            <a:r>
              <a:rPr lang="en-US" dirty="0" sz="1300" b="1">
                <a:solidFill>
                  <a:srgbClr val="FFD54F"/>
                </a:solidFill>
              </a:rPr>
              <a:t>AVATAR Investigation</a:t>
            </a:r>
          </a:p>
        </p:txBody>
      </p:sp>
      <p:sp>
        <p:nvSpPr>
          <p:cNvPr id="113" name="TextBox 113"/>
          <p:cNvSpPr txBox="1"/>
          <p:nvPr/>
        </p:nvSpPr>
        <p:spPr>
          <a:xfrm>
            <a:off x="685800" y="2011680"/>
            <a:ext cx="5135728" cy="891540"/>
          </a:xfrm>
          <a:prstGeom prst="rect">
            <a:avLst/>
          </a:prstGeom>
          <a:noFill/>
        </p:spPr>
        <p:txBody>
          <a:bodyPr wrap="square" anchor="t" lIns="137160" tIns="137160" rIns="137160" bIns="137160"/>
          <a:lstStyle/>
          <a:p>
            <a:pPr algn="l">
              <a:lnSpc>
                <a:spcPts val="1700"/>
              </a:lnSpc>
            </a:pPr>
            <a:r>
              <a:rPr lang="en-US" dirty="0" sz="1100">
                <a:solidFill>
                  <a:srgbClr val="CCCCCC"/>
                </a:solidFill>
              </a:rPr>
              <a:t>Organ-on-a-chip devices studying effects of radiation and microgravity on human health</a:t>
            </a:r>
          </a:p>
        </p:txBody>
      </p:sp>
      <p:sp>
        <p:nvSpPr>
          <p:cNvPr id="114" name="Rectangle 114"/>
          <p:cNvSpPr/>
          <p:nvPr/>
        </p:nvSpPr>
        <p:spPr>
          <a:xfrm>
            <a:off x="6233008" y="1508760"/>
            <a:ext cx="5410048" cy="1531620"/>
          </a:xfrm>
          <a:prstGeom prst="roundRect">
            <a:avLst/>
          </a:prstGeom>
          <a:solidFill>
            <a:srgbClr val="1A2744"/>
          </a:solidFill>
        </p:spPr>
      </p:sp>
      <p:sp>
        <p:nvSpPr>
          <p:cNvPr id="115" name="TextBox 115"/>
          <p:cNvSpPr txBox="1"/>
          <p:nvPr/>
        </p:nvSpPr>
        <p:spPr>
          <a:xfrm>
            <a:off x="6370168" y="1645920"/>
            <a:ext cx="5135728" cy="274320"/>
          </a:xfrm>
          <a:prstGeom prst="rect">
            <a:avLst/>
          </a:prstGeom>
          <a:noFill/>
        </p:spPr>
        <p:txBody>
          <a:bodyPr wrap="square" anchor="t" lIns="137160" tIns="137160" rIns="137160" bIns="137160"/>
          <a:lstStyle/>
          <a:p>
            <a:pPr algn="l"/>
            <a:r>
              <a:rPr lang="en-US" dirty="0" sz="1300" b="1">
                <a:solidFill>
                  <a:srgbClr val="FFD54F"/>
                </a:solidFill>
              </a:rPr>
              <a:t>Radiation Mapping</a:t>
            </a:r>
          </a:p>
        </p:txBody>
      </p:sp>
      <p:sp>
        <p:nvSpPr>
          <p:cNvPr id="116" name="TextBox 116"/>
          <p:cNvSpPr txBox="1"/>
          <p:nvPr/>
        </p:nvSpPr>
        <p:spPr>
          <a:xfrm>
            <a:off x="6370168" y="2011680"/>
            <a:ext cx="5135728" cy="891540"/>
          </a:xfrm>
          <a:prstGeom prst="rect">
            <a:avLst/>
          </a:prstGeom>
          <a:noFill/>
        </p:spPr>
        <p:txBody>
          <a:bodyPr wrap="square" anchor="t" lIns="137160" tIns="137160" rIns="137160" bIns="137160"/>
          <a:lstStyle/>
          <a:p>
            <a:pPr algn="l">
              <a:lnSpc>
                <a:spcPts val="1700"/>
              </a:lnSpc>
            </a:pPr>
            <a:r>
              <a:rPr lang="en-US" dirty="0" sz="1100">
                <a:solidFill>
                  <a:srgbClr val="CCCCCC"/>
                </a:solidFill>
              </a:rPr>
              <a:t>Measured deep space radiation beyond the Van Allen belts to protect future crews</a:t>
            </a:r>
          </a:p>
        </p:txBody>
      </p:sp>
      <p:sp>
        <p:nvSpPr>
          <p:cNvPr id="117" name="Rectangle 117"/>
          <p:cNvSpPr/>
          <p:nvPr/>
        </p:nvSpPr>
        <p:spPr>
          <a:xfrm>
            <a:off x="548640" y="3268980"/>
            <a:ext cx="5410048" cy="1531620"/>
          </a:xfrm>
          <a:prstGeom prst="roundRect">
            <a:avLst/>
          </a:prstGeom>
          <a:solidFill>
            <a:srgbClr val="1A2744"/>
          </a:solidFill>
        </p:spPr>
      </p:sp>
      <p:sp>
        <p:nvSpPr>
          <p:cNvPr id="118" name="TextBox 118"/>
          <p:cNvSpPr txBox="1"/>
          <p:nvPr/>
        </p:nvSpPr>
        <p:spPr>
          <a:xfrm>
            <a:off x="685800" y="3406140"/>
            <a:ext cx="5135728" cy="274320"/>
          </a:xfrm>
          <a:prstGeom prst="rect">
            <a:avLst/>
          </a:prstGeom>
          <a:noFill/>
        </p:spPr>
        <p:txBody>
          <a:bodyPr wrap="square" anchor="t" lIns="137160" tIns="137160" rIns="137160" bIns="137160"/>
          <a:lstStyle/>
          <a:p>
            <a:pPr algn="l"/>
            <a:r>
              <a:rPr lang="en-US" dirty="0" sz="1300" b="1">
                <a:solidFill>
                  <a:srgbClr val="FFD54F"/>
                </a:solidFill>
              </a:rPr>
              <a:t>Optical Navigation</a:t>
            </a:r>
          </a:p>
        </p:txBody>
      </p:sp>
      <p:sp>
        <p:nvSpPr>
          <p:cNvPr id="119" name="TextBox 119"/>
          <p:cNvSpPr txBox="1"/>
          <p:nvPr/>
        </p:nvSpPr>
        <p:spPr>
          <a:xfrm>
            <a:off x="685800" y="3771900"/>
            <a:ext cx="5135728" cy="891540"/>
          </a:xfrm>
          <a:prstGeom prst="rect">
            <a:avLst/>
          </a:prstGeom>
          <a:noFill/>
        </p:spPr>
        <p:txBody>
          <a:bodyPr wrap="square" anchor="t" lIns="137160" tIns="137160" rIns="137160" bIns="137160"/>
          <a:lstStyle/>
          <a:p>
            <a:pPr algn="l">
              <a:lnSpc>
                <a:spcPts val="1700"/>
              </a:lnSpc>
            </a:pPr>
            <a:r>
              <a:rPr lang="en-US" dirty="0" sz="1100">
                <a:solidFill>
                  <a:srgbClr val="CCCCCC"/>
                </a:solidFill>
              </a:rPr>
              <a:t>Tested navigation by photographing star fields, Earth, and Moon from deep space</a:t>
            </a:r>
          </a:p>
        </p:txBody>
      </p:sp>
      <p:sp>
        <p:nvSpPr>
          <p:cNvPr id="120" name="Rectangle 120"/>
          <p:cNvSpPr/>
          <p:nvPr/>
        </p:nvSpPr>
        <p:spPr>
          <a:xfrm>
            <a:off x="6233008" y="3268980"/>
            <a:ext cx="5410048" cy="1531620"/>
          </a:xfrm>
          <a:prstGeom prst="roundRect">
            <a:avLst/>
          </a:prstGeom>
          <a:solidFill>
            <a:srgbClr val="1A2744"/>
          </a:solidFill>
        </p:spPr>
      </p:sp>
      <p:sp>
        <p:nvSpPr>
          <p:cNvPr id="121" name="TextBox 121"/>
          <p:cNvSpPr txBox="1"/>
          <p:nvPr/>
        </p:nvSpPr>
        <p:spPr>
          <a:xfrm>
            <a:off x="6370168" y="3406140"/>
            <a:ext cx="5135728" cy="274320"/>
          </a:xfrm>
          <a:prstGeom prst="rect">
            <a:avLst/>
          </a:prstGeom>
          <a:noFill/>
        </p:spPr>
        <p:txBody>
          <a:bodyPr wrap="square" anchor="t" lIns="137160" tIns="137160" rIns="137160" bIns="137160"/>
          <a:lstStyle/>
          <a:p>
            <a:pPr algn="l"/>
            <a:r>
              <a:rPr lang="en-US" dirty="0" sz="1300" b="1">
                <a:solidFill>
                  <a:srgbClr val="FFD54F"/>
                </a:solidFill>
              </a:rPr>
              <a:t>Biological Research</a:t>
            </a:r>
          </a:p>
        </p:txBody>
      </p:sp>
      <p:sp>
        <p:nvSpPr>
          <p:cNvPr id="122" name="TextBox 122"/>
          <p:cNvSpPr txBox="1"/>
          <p:nvPr/>
        </p:nvSpPr>
        <p:spPr>
          <a:xfrm>
            <a:off x="6370168" y="3771900"/>
            <a:ext cx="5135728" cy="891540"/>
          </a:xfrm>
          <a:prstGeom prst="rect">
            <a:avLst/>
          </a:prstGeom>
          <a:noFill/>
        </p:spPr>
        <p:txBody>
          <a:bodyPr wrap="square" anchor="t" lIns="137160" tIns="137160" rIns="137160" bIns="137160"/>
          <a:lstStyle/>
          <a:p>
            <a:pPr algn="l">
              <a:lnSpc>
                <a:spcPts val="1700"/>
              </a:lnSpc>
            </a:pPr>
            <a:r>
              <a:rPr lang="en-US" dirty="0" sz="1100">
                <a:solidFill>
                  <a:srgbClr val="CCCCCC"/>
                </a:solidFill>
              </a:rPr>
              <a:t>Seeds, fungi, and biological samples exposed to the deep space environment</a:t>
            </a:r>
          </a:p>
        </p:txBody>
      </p:sp>
      <p:sp>
        <p:nvSpPr>
          <p:cNvPr id="194" name="TextBox 194"/>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11</a:t>
            </a:r>
          </a:p>
        </p:txBody>
      </p:sp>
      <p:sp>
        <p:nvSpPr>
          <p:cNvPr id="211" name="TextBox 211"/>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  Source: nasa.gov/mission/artemis-ii  |  April 2026</a:t>
            </a:r>
          </a:p>
        </p:txBody>
      </p:sp>
    </p:spTree>
  </p:cSld>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23" name="TextBox 123"/>
          <p:cNvSpPr txBox="1"/>
          <p:nvPr/>
        </p:nvSpPr>
        <p:spPr>
          <a:xfrm>
            <a:off x="457200" y="457200"/>
            <a:ext cx="10972800" cy="731520"/>
          </a:xfrm>
          <a:prstGeom prst="rect">
            <a:avLst/>
          </a:prstGeom>
          <a:noFill/>
        </p:spPr>
        <p:txBody>
          <a:bodyPr wrap="square" anchor="t" lIns="137160" tIns="137160" rIns="137160" bIns="137160"/>
          <a:lstStyle/>
          <a:p>
            <a:pPr algn="l"/>
            <a:r>
              <a:rPr lang="en-US" dirty="0" sz="2800" b="1">
                <a:solidFill>
                  <a:srgbClr val="FFFFFF"/>
                </a:solidFill>
              </a:rPr>
              <a:t>MISSION MILESTONES</a:t>
            </a:r>
          </a:p>
        </p:txBody>
      </p:sp>
      <p:sp>
        <p:nvSpPr>
          <p:cNvPr id="124" name="TextBox 124"/>
          <p:cNvSpPr txBox="1"/>
          <p:nvPr/>
        </p:nvSpPr>
        <p:spPr>
          <a:xfrm>
            <a:off x="731520" y="2011680"/>
            <a:ext cx="2476424" cy="1371600"/>
          </a:xfrm>
          <a:prstGeom prst="rect">
            <a:avLst/>
          </a:prstGeom>
          <a:noFill/>
        </p:spPr>
        <p:txBody>
          <a:bodyPr wrap="square" anchor="t" lIns="137160" tIns="137160" rIns="137160" bIns="137160"/>
          <a:lstStyle/>
          <a:p>
            <a:pPr algn="ctr"/>
            <a:r>
              <a:rPr lang="en-US" dirty="0" sz="4800" b="1">
                <a:solidFill>
                  <a:srgbClr val="58A6FF"/>
                </a:solidFill>
              </a:rPr>
              <a:t>6:35 PM</a:t>
            </a:r>
          </a:p>
        </p:txBody>
      </p:sp>
      <p:sp>
        <p:nvSpPr>
          <p:cNvPr id="125" name="TextBox 125"/>
          <p:cNvSpPr txBox="1"/>
          <p:nvPr/>
        </p:nvSpPr>
        <p:spPr>
          <a:xfrm>
            <a:off x="731520" y="3383280"/>
            <a:ext cx="2476424" cy="548640"/>
          </a:xfrm>
          <a:prstGeom prst="rect">
            <a:avLst/>
          </a:prstGeom>
          <a:noFill/>
        </p:spPr>
        <p:txBody>
          <a:bodyPr wrap="square" anchor="t" lIns="137160" tIns="137160" rIns="137160" bIns="137160"/>
          <a:lstStyle/>
          <a:p>
            <a:pPr algn="ctr"/>
            <a:r>
              <a:rPr lang="en-US" dirty="0" sz="1600">
                <a:solidFill>
                  <a:srgbClr val="8B949E"/>
                </a:solidFill>
              </a:rPr>
              <a:t>EDT Launch Time, April 1</a:t>
            </a:r>
          </a:p>
        </p:txBody>
      </p:sp>
      <p:sp>
        <p:nvSpPr>
          <p:cNvPr id="126" name="Rectangle 126"/>
          <p:cNvSpPr/>
          <p:nvPr/>
        </p:nvSpPr>
        <p:spPr>
          <a:xfrm>
            <a:off x="3345104" y="2286000"/>
            <a:ext cx="18288" cy="1828800"/>
          </a:xfrm>
          <a:prstGeom prst="rect">
            <a:avLst/>
          </a:prstGeom>
          <a:solidFill>
            <a:srgbClr val="8B949E"/>
          </a:solidFill>
        </p:spPr>
      </p:sp>
      <p:sp>
        <p:nvSpPr>
          <p:cNvPr id="127" name="TextBox 127"/>
          <p:cNvSpPr txBox="1"/>
          <p:nvPr/>
        </p:nvSpPr>
        <p:spPr>
          <a:xfrm>
            <a:off x="3482264" y="2011680"/>
            <a:ext cx="2476424" cy="1371600"/>
          </a:xfrm>
          <a:prstGeom prst="rect">
            <a:avLst/>
          </a:prstGeom>
          <a:noFill/>
        </p:spPr>
        <p:txBody>
          <a:bodyPr wrap="square" anchor="t" lIns="137160" tIns="137160" rIns="137160" bIns="137160"/>
          <a:lstStyle/>
          <a:p>
            <a:pPr algn="ctr"/>
            <a:r>
              <a:rPr lang="en-US" dirty="0" sz="4800" b="1">
                <a:solidFill>
                  <a:srgbClr val="58A6FF"/>
                </a:solidFill>
              </a:rPr>
              <a:t>3,600°F</a:t>
            </a:r>
          </a:p>
        </p:txBody>
      </p:sp>
      <p:sp>
        <p:nvSpPr>
          <p:cNvPr id="128" name="TextBox 128"/>
          <p:cNvSpPr txBox="1"/>
          <p:nvPr/>
        </p:nvSpPr>
        <p:spPr>
          <a:xfrm>
            <a:off x="3482264" y="3383280"/>
            <a:ext cx="2476424" cy="548640"/>
          </a:xfrm>
          <a:prstGeom prst="rect">
            <a:avLst/>
          </a:prstGeom>
          <a:noFill/>
        </p:spPr>
        <p:txBody>
          <a:bodyPr wrap="square" anchor="t" lIns="137160" tIns="137160" rIns="137160" bIns="137160"/>
          <a:lstStyle/>
          <a:p>
            <a:pPr algn="ctr"/>
            <a:r>
              <a:rPr lang="en-US" dirty="0" sz="1600">
                <a:solidFill>
                  <a:srgbClr val="8B949E"/>
                </a:solidFill>
              </a:rPr>
              <a:t>Heat Shield Re-entry Temp</a:t>
            </a:r>
          </a:p>
        </p:txBody>
      </p:sp>
      <p:sp>
        <p:nvSpPr>
          <p:cNvPr id="129" name="Rectangle 129"/>
          <p:cNvSpPr/>
          <p:nvPr/>
        </p:nvSpPr>
        <p:spPr>
          <a:xfrm>
            <a:off x="6095848" y="2286000"/>
            <a:ext cx="18288" cy="1828800"/>
          </a:xfrm>
          <a:prstGeom prst="rect">
            <a:avLst/>
          </a:prstGeom>
          <a:solidFill>
            <a:srgbClr val="8B949E"/>
          </a:solidFill>
        </p:spPr>
      </p:sp>
      <p:sp>
        <p:nvSpPr>
          <p:cNvPr id="130" name="TextBox 130"/>
          <p:cNvSpPr txBox="1"/>
          <p:nvPr/>
        </p:nvSpPr>
        <p:spPr>
          <a:xfrm>
            <a:off x="6233008" y="2011680"/>
            <a:ext cx="2476424" cy="1371600"/>
          </a:xfrm>
          <a:prstGeom prst="rect">
            <a:avLst/>
          </a:prstGeom>
          <a:noFill/>
        </p:spPr>
        <p:txBody>
          <a:bodyPr wrap="square" anchor="t" lIns="137160" tIns="137160" rIns="137160" bIns="137160"/>
          <a:lstStyle/>
          <a:p>
            <a:pPr algn="ctr"/>
            <a:r>
              <a:rPr lang="en-US" dirty="0" sz="4800" b="1">
                <a:solidFill>
                  <a:srgbClr val="58A6FF"/>
                </a:solidFill>
              </a:rPr>
              <a:t>25,000 mph</a:t>
            </a:r>
          </a:p>
        </p:txBody>
      </p:sp>
      <p:sp>
        <p:nvSpPr>
          <p:cNvPr id="131" name="TextBox 131"/>
          <p:cNvSpPr txBox="1"/>
          <p:nvPr/>
        </p:nvSpPr>
        <p:spPr>
          <a:xfrm>
            <a:off x="6233008" y="3383280"/>
            <a:ext cx="2476424" cy="548640"/>
          </a:xfrm>
          <a:prstGeom prst="rect">
            <a:avLst/>
          </a:prstGeom>
          <a:noFill/>
        </p:spPr>
        <p:txBody>
          <a:bodyPr wrap="square" anchor="t" lIns="137160" tIns="137160" rIns="137160" bIns="137160"/>
          <a:lstStyle/>
          <a:p>
            <a:pPr algn="ctr"/>
            <a:r>
              <a:rPr lang="en-US" dirty="0" sz="1600">
                <a:solidFill>
                  <a:srgbClr val="8B949E"/>
                </a:solidFill>
              </a:rPr>
              <a:t>Re-entry Speed</a:t>
            </a:r>
          </a:p>
        </p:txBody>
      </p:sp>
      <p:sp>
        <p:nvSpPr>
          <p:cNvPr id="132" name="Rectangle 132"/>
          <p:cNvSpPr/>
          <p:nvPr/>
        </p:nvSpPr>
        <p:spPr>
          <a:xfrm>
            <a:off x="8846591" y="2286000"/>
            <a:ext cx="18288" cy="1828800"/>
          </a:xfrm>
          <a:prstGeom prst="rect">
            <a:avLst/>
          </a:prstGeom>
          <a:solidFill>
            <a:srgbClr val="8B949E"/>
          </a:solidFill>
        </p:spPr>
      </p:sp>
      <p:sp>
        <p:nvSpPr>
          <p:cNvPr id="133" name="TextBox 133"/>
          <p:cNvSpPr txBox="1"/>
          <p:nvPr/>
        </p:nvSpPr>
        <p:spPr>
          <a:xfrm>
            <a:off x="8983751" y="2011680"/>
            <a:ext cx="2476424" cy="1371600"/>
          </a:xfrm>
          <a:prstGeom prst="rect">
            <a:avLst/>
          </a:prstGeom>
          <a:noFill/>
        </p:spPr>
        <p:txBody>
          <a:bodyPr wrap="square" anchor="t" lIns="137160" tIns="137160" rIns="137160" bIns="137160"/>
          <a:lstStyle/>
          <a:p>
            <a:pPr algn="ctr"/>
            <a:r>
              <a:rPr lang="en-US" dirty="0" sz="4800" b="1">
                <a:solidFill>
                  <a:srgbClr val="58A6FF"/>
                </a:solidFill>
              </a:rPr>
              <a:t>~1 Million</a:t>
            </a:r>
          </a:p>
        </p:txBody>
      </p:sp>
      <p:sp>
        <p:nvSpPr>
          <p:cNvPr id="134" name="TextBox 134"/>
          <p:cNvSpPr txBox="1"/>
          <p:nvPr/>
        </p:nvSpPr>
        <p:spPr>
          <a:xfrm>
            <a:off x="8983751" y="3383280"/>
            <a:ext cx="2476424" cy="548640"/>
          </a:xfrm>
          <a:prstGeom prst="rect">
            <a:avLst/>
          </a:prstGeom>
          <a:noFill/>
        </p:spPr>
        <p:txBody>
          <a:bodyPr wrap="square" anchor="t" lIns="137160" tIns="137160" rIns="137160" bIns="137160"/>
          <a:lstStyle/>
          <a:p>
            <a:pPr algn="ctr"/>
            <a:r>
              <a:rPr lang="en-US" dirty="0" sz="1600">
                <a:solidFill>
                  <a:srgbClr val="8B949E"/>
                </a:solidFill>
              </a:rPr>
              <a:t>Launch Spectators at KSC</a:t>
            </a:r>
          </a:p>
        </p:txBody>
      </p:sp>
      <p:sp>
        <p:nvSpPr>
          <p:cNvPr id="195" name="TextBox 195"/>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12</a:t>
            </a:r>
          </a:p>
        </p:txBody>
      </p:sp>
      <p:sp>
        <p:nvSpPr>
          <p:cNvPr id="212" name="TextBox 212"/>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  Source: nasa.gov/mission/artemis-ii  |  April 2026</a:t>
            </a:r>
          </a:p>
        </p:txBody>
      </p:sp>
    </p:spTree>
  </p:cSld>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135" name="Image 10"/>
          <p:cNvPicPr>
            <a:picLocks noChangeAspect="1"/>
          </p:cNvPicPr>
          <p:nvPr/>
        </p:nvPicPr>
        <p:blipFill>
          <a:blip r:embed="rId3"/>
          <a:stretch>
            <a:fillRect/>
          </a:stretch>
        </p:blipFill>
        <p:spPr>
          <a:xfrm>
            <a:off x="0" y="0"/>
            <a:ext cx="12191695" cy="6858000"/>
          </a:xfrm>
          <a:prstGeom prst="rect">
            <a:avLst/>
          </a:prstGeom>
        </p:spPr>
      </p:pic>
      <p:sp>
        <p:nvSpPr>
          <p:cNvPr id="136" name="Rectangle 136"/>
          <p:cNvSpPr/>
          <p:nvPr/>
        </p:nvSpPr>
        <p:spPr>
          <a:xfrm>
            <a:off x="0" y="0"/>
            <a:ext cx="12191695" cy="6858000"/>
          </a:xfrm>
          <a:prstGeom prst="rect">
            <a:avLst/>
          </a:prstGeom>
          <a:solidFill>
            <a:srgbClr val="0A1628">
              <a:alpha val="30000"/>
            </a:srgbClr>
          </a:solidFill>
        </p:spPr>
      </p:sp>
      <p:sp>
        <p:nvSpPr>
          <p:cNvPr id="137" name="TextBox 137"/>
          <p:cNvSpPr txBox="1"/>
          <p:nvPr/>
        </p:nvSpPr>
        <p:spPr>
          <a:xfrm>
            <a:off x="457200" y="2560320"/>
            <a:ext cx="11277295" cy="1371600"/>
          </a:xfrm>
          <a:prstGeom prst="rect">
            <a:avLst/>
          </a:prstGeom>
          <a:noFill/>
        </p:spPr>
        <p:txBody>
          <a:bodyPr wrap="square" anchor="t" lIns="137160" tIns="137160" rIns="137160" bIns="137160"/>
          <a:lstStyle/>
          <a:p>
            <a:pPr algn="ctr"/>
            <a:r>
              <a:rPr lang="en-US" dirty="0" sz="4400" b="1">
                <a:solidFill>
                  <a:srgbClr val="FFFFFF"/>
                </a:solidFill>
              </a:rPr>
              <a:t>Earthset</a:t>
            </a:r>
          </a:p>
        </p:txBody>
      </p:sp>
      <p:sp>
        <p:nvSpPr>
          <p:cNvPr id="138" name="TextBox 138"/>
          <p:cNvSpPr txBox="1"/>
          <p:nvPr/>
        </p:nvSpPr>
        <p:spPr>
          <a:xfrm>
            <a:off x="457200" y="3840480"/>
            <a:ext cx="11277295" cy="731520"/>
          </a:xfrm>
          <a:prstGeom prst="rect">
            <a:avLst/>
          </a:prstGeom>
          <a:noFill/>
        </p:spPr>
        <p:txBody>
          <a:bodyPr wrap="square" anchor="t" lIns="137160" tIns="137160" rIns="137160" bIns="137160"/>
          <a:lstStyle/>
          <a:p>
            <a:pPr algn="ctr"/>
            <a:r>
              <a:rPr lang="en-US" dirty="0" sz="1400">
                <a:solidFill>
                  <a:srgbClr val="FFFFFF"/>
                </a:solidFill>
              </a:rPr>
              <a:t>Earth setting behind the lunar horizon, photographed from the far side of the Moon</a:t>
            </a:r>
          </a:p>
        </p:txBody>
      </p:sp>
      <p:sp>
        <p:nvSpPr>
          <p:cNvPr id="196" name="TextBox 196"/>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13</a:t>
            </a:r>
          </a:p>
        </p:txBody>
      </p:sp>
      <p:sp>
        <p:nvSpPr>
          <p:cNvPr id="213" name="TextBox 213"/>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  Source: nasa.gov/mission/artemis-ii  |  April 2026</a:t>
            </a:r>
          </a:p>
        </p:txBody>
      </p:sp>
    </p:spTree>
  </p:cSld>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39" name="TextBox 139"/>
          <p:cNvSpPr txBox="1"/>
          <p:nvPr/>
        </p:nvSpPr>
        <p:spPr>
          <a:xfrm>
            <a:off x="731520" y="1097280"/>
            <a:ext cx="914400" cy="1097280"/>
          </a:xfrm>
          <a:prstGeom prst="rect">
            <a:avLst/>
          </a:prstGeom>
          <a:noFill/>
        </p:spPr>
        <p:txBody>
          <a:bodyPr wrap="square" anchor="t" lIns="137160" tIns="137160" rIns="137160" bIns="137160"/>
          <a:lstStyle/>
          <a:p>
            <a:pPr algn="l"/>
            <a:r>
              <a:rPr lang="en-US" dirty="0" sz="12000" b="1">
                <a:solidFill>
                  <a:srgbClr val="58A6FF"/>
                </a:solidFill>
              </a:rPr>
              <a:t>“</a:t>
            </a:r>
          </a:p>
        </p:txBody>
      </p:sp>
      <p:sp>
        <p:nvSpPr>
          <p:cNvPr id="140" name="TextBox 140"/>
          <p:cNvSpPr txBox="1"/>
          <p:nvPr/>
        </p:nvSpPr>
        <p:spPr>
          <a:xfrm>
            <a:off x="1371600" y="1828800"/>
            <a:ext cx="9144000" cy="2743200"/>
          </a:xfrm>
          <a:prstGeom prst="rect">
            <a:avLst/>
          </a:prstGeom>
          <a:noFill/>
        </p:spPr>
        <p:txBody>
          <a:bodyPr wrap="square" anchor="t" lIns="137160" tIns="137160" rIns="137160" bIns="137160"/>
          <a:lstStyle/>
          <a:p>
            <a:pPr algn="l"/>
            <a:r>
              <a:rPr lang="en-US" dirty="0" sz="3200" i="1">
                <a:solidFill>
                  <a:srgbClr val="FFFFFF"/>
                </a:solidFill>
              </a:rPr>
              <a:t>We are going to the Moon, not to leave footprints and come home. We are going to learn how to live and work on another world for the benefit of all humanity.</a:t>
            </a:r>
          </a:p>
        </p:txBody>
      </p:sp>
      <p:sp>
        <p:nvSpPr>
          <p:cNvPr id="141" name="TextBox 141"/>
          <p:cNvSpPr txBox="1"/>
          <p:nvPr/>
        </p:nvSpPr>
        <p:spPr>
          <a:xfrm>
            <a:off x="9875520" y="3840480"/>
            <a:ext cx="914400" cy="1097280"/>
          </a:xfrm>
          <a:prstGeom prst="rect">
            <a:avLst/>
          </a:prstGeom>
          <a:noFill/>
        </p:spPr>
        <p:txBody>
          <a:bodyPr wrap="square" anchor="t" lIns="137160" tIns="137160" rIns="137160" bIns="137160"/>
          <a:lstStyle/>
          <a:p>
            <a:pPr algn="r"/>
            <a:r>
              <a:rPr lang="en-US" dirty="0" sz="12000" b="1">
                <a:solidFill>
                  <a:srgbClr val="58A6FF"/>
                </a:solidFill>
              </a:rPr>
              <a:t>”</a:t>
            </a:r>
          </a:p>
        </p:txBody>
      </p:sp>
      <p:sp>
        <p:nvSpPr>
          <p:cNvPr id="142" name="TextBox 142"/>
          <p:cNvSpPr txBox="1"/>
          <p:nvPr/>
        </p:nvSpPr>
        <p:spPr>
          <a:xfrm>
            <a:off x="1371600" y="4754880"/>
            <a:ext cx="9144000" cy="457200"/>
          </a:xfrm>
          <a:prstGeom prst="rect">
            <a:avLst/>
          </a:prstGeom>
          <a:noFill/>
        </p:spPr>
        <p:txBody>
          <a:bodyPr wrap="square" anchor="t" lIns="137160" tIns="137160" rIns="137160" bIns="137160"/>
          <a:lstStyle/>
          <a:p>
            <a:pPr algn="l"/>
            <a:r>
              <a:rPr lang="en-US" dirty="0" sz="1600">
                <a:solidFill>
                  <a:srgbClr val="8B949E"/>
                </a:solidFill>
              </a:rPr>
              <a:t>— NASA Administrator, Artemis Program Vision</a:t>
            </a:r>
          </a:p>
        </p:txBody>
      </p:sp>
      <p:sp>
        <p:nvSpPr>
          <p:cNvPr id="143" name="Rectangle 143"/>
          <p:cNvSpPr/>
          <p:nvPr/>
        </p:nvSpPr>
        <p:spPr>
          <a:xfrm>
            <a:off x="1371600" y="5303520"/>
            <a:ext cx="2743200" cy="54864"/>
          </a:xfrm>
          <a:prstGeom prst="rect">
            <a:avLst/>
          </a:prstGeom>
          <a:solidFill>
            <a:srgbClr val="58A6FF"/>
          </a:solidFill>
        </p:spPr>
      </p:sp>
      <p:sp>
        <p:nvSpPr>
          <p:cNvPr id="197" name="TextBox 197"/>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14</a:t>
            </a:r>
          </a:p>
        </p:txBody>
      </p:sp>
      <p:sp>
        <p:nvSpPr>
          <p:cNvPr id="214" name="TextBox 214"/>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  Source: nasa.gov/mission/artemis-ii  |  April 2026</a:t>
            </a:r>
          </a:p>
        </p:txBody>
      </p:sp>
    </p:spTree>
  </p:cSld>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44" name="Rectangle 144"/>
          <p:cNvSpPr/>
          <p:nvPr/>
        </p:nvSpPr>
        <p:spPr>
          <a:xfrm>
            <a:off x="0" y="0"/>
            <a:ext cx="9144000" cy="5148072"/>
          </a:xfrm>
          <a:prstGeom prst="rect">
            <a:avLst/>
          </a:prstGeom>
          <a:solidFill>
            <a:srgbClr val="0A1628"/>
          </a:solidFill>
        </p:spPr>
      </p:sp>
      <p:sp>
        <p:nvSpPr>
          <p:cNvPr id="145" name="TextBox 145"/>
          <p:cNvSpPr txBox="1"/>
          <p:nvPr/>
        </p:nvSpPr>
        <p:spPr>
          <a:xfrm>
            <a:off x="548640" y="274320"/>
            <a:ext cx="8046720" cy="457200"/>
          </a:xfrm>
          <a:prstGeom prst="rect">
            <a:avLst/>
          </a:prstGeom>
          <a:noFill/>
        </p:spPr>
        <p:txBody>
          <a:bodyPr wrap="square" anchor="t" lIns="137160" tIns="137160" rIns="137160" bIns="137160"/>
          <a:lstStyle/>
          <a:p>
            <a:pPr algn="l"/>
            <a:r>
              <a:rPr lang="en-US" dirty="0" sz="2600" b="1">
                <a:solidFill>
                  <a:srgbClr val="4FC3F7"/>
                </a:solidFill>
              </a:rPr>
              <a:t>WHAT'S NEXT FOR ARTEMIS</a:t>
            </a:r>
          </a:p>
        </p:txBody>
      </p:sp>
      <p:cxnSp>
        <p:nvCxnSpPr>
          <p:cNvPr id="146" name="Line 146"/>
          <p:cNvCxnSpPr/>
          <p:nvPr/>
        </p:nvCxnSpPr>
        <p:spPr>
          <a:xfrm>
            <a:off x="548640" y="777240"/>
            <a:ext cx="3566160" cy="1"/>
          </a:xfrm>
          <a:prstGeom prst="line">
            <a:avLst/>
          </a:prstGeom>
          <a:ln w="25400">
            <a:solidFill>
              <a:srgbClr val="4FC3F7"/>
            </a:solidFill>
          </a:ln>
        </p:spPr>
      </p:cxnSp>
      <p:graphicFrame>
        <p:nvGraphicFramePr>
          <p:cNvPr id="147" name="Table"/>
          <p:cNvGraphicFramePr>
            <a:graphicFrameLocks noGrp="1"/>
          </p:cNvGraphicFramePr>
          <p:nvPr/>
        </p:nvGraphicFramePr>
        <p:xfrm>
          <a:off x="365760" y="1005840"/>
          <a:ext cx="8412480" cy="640080"/>
        </p:xfrm>
        <a:graphic>
          <a:graphicData uri="http://schemas.openxmlformats.org/drawingml/2006/table">
            <a:tbl>
              <a:tblPr firstRow="1" bandRow="0"/>
              <a:tblGrid>
                <a:gridCol w="2103120"/>
                <a:gridCol w="2103120"/>
                <a:gridCol w="2103120"/>
                <a:gridCol w="2103120"/>
              </a:tblGrid>
              <a:tr h="320040">
                <a:tc>
                  <a:txBody>
                    <a:bodyPr/>
                    <a:lstStyle/>
                    <a:p>
                      <a:pPr algn="ctr"/>
                      <a:r>
                        <a:rPr lang="en-US" sz="1100" b="1" dirty="0">
                          <a:solidFill>
                            <a:srgbClr val="FFFFFF"/>
                          </a:solidFill>
                        </a:rPr>
                        <a:t>Artemis II</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2196F3"/>
                    </a:solidFill>
                  </a:tcPr>
                </a:tc>
                <a:tc>
                  <a:txBody>
                    <a:bodyPr/>
                    <a:lstStyle/>
                    <a:p>
                      <a:pPr algn="ctr"/>
                      <a:r>
                        <a:rPr lang="en-US" sz="1100" b="1" dirty="0">
                          <a:solidFill>
                            <a:srgbClr val="FFFFFF"/>
                          </a:solidFill>
                        </a:rPr>
                        <a:t>Artemis III</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2196F3"/>
                    </a:solidFill>
                  </a:tcPr>
                </a:tc>
                <a:tc>
                  <a:txBody>
                    <a:bodyPr/>
                    <a:lstStyle/>
                    <a:p>
                      <a:pPr algn="ctr"/>
                      <a:r>
                        <a:rPr lang="en-US" sz="1100" b="1" dirty="0">
                          <a:solidFill>
                            <a:srgbClr val="FFFFFF"/>
                          </a:solidFill>
                        </a:rPr>
                        <a:t>Artemis IV</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2196F3"/>
                    </a:solidFill>
                  </a:tcPr>
                </a:tc>
                <a:tc>
                  <a:txBody>
                    <a:bodyPr/>
                    <a:lstStyle/>
                    <a:p>
                      <a:pPr algn="ctr"/>
                      <a:r>
                        <a:rPr lang="en-US" sz="1100" b="1" dirty="0">
                          <a:solidFill>
                            <a:srgbClr val="FFFFFF"/>
                          </a:solidFill>
                        </a:rPr>
                        <a:t>Artemis V+</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solidFill>
                      <a:srgbClr val="2196F3"/>
                    </a:solidFill>
                  </a:tcPr>
                </a:tc>
              </a:tr>
              <a:tr h="320040">
                <a:tc>
                  <a:txBody>
                    <a:bodyPr/>
                    <a:lstStyle/>
                    <a:p>
                      <a:pPr algn="l"/>
                      <a:r>
                        <a:rPr lang="en-US" sz="1000" dirty="0">
                          <a:solidFill>
                            <a:srgbClr val="333333"/>
                          </a:solidFill>
                        </a:rPr>
                        <a:t>Crewed flyby (DONE)</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c>
                  <a:txBody>
                    <a:bodyPr/>
                    <a:lstStyle/>
                    <a:p>
                      <a:pPr algn="l"/>
                      <a:r>
                        <a:rPr lang="en-US" sz="1000" dirty="0">
                          <a:solidFill>
                            <a:srgbClr val="333333"/>
                          </a:solidFill>
                        </a:rPr>
                        <a:t>First landing</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c>
                  <a:txBody>
                    <a:bodyPr/>
                    <a:lstStyle/>
                    <a:p>
                      <a:pPr algn="l"/>
                      <a:r>
                        <a:rPr lang="en-US" sz="1000" dirty="0">
                          <a:solidFill>
                            <a:srgbClr val="333333"/>
                          </a:solidFill>
                        </a:rPr>
                        <a:t>Gateway assembly</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c>
                  <a:txBody>
                    <a:bodyPr/>
                    <a:lstStyle/>
                    <a:p>
                      <a:pPr algn="l"/>
                      <a:r>
                        <a:rPr lang="en-US" sz="1000" dirty="0">
                          <a:solidFill>
                            <a:srgbClr val="333333"/>
                          </a:solidFill>
                        </a:rPr>
                        <a:t>Sustained presence</a:t>
                      </a:r>
                    </a:p>
                  </a:txBody>
                  <a:tcPr marL="68580" marR="68580" marT="34290" marB="34290">
                    <a:lnL w="12700">
                      <a:solidFill>
                        <a:srgbClr val="CCCCCC"/>
                      </a:solidFill>
                    </a:lnL>
                    <a:lnR w="12700">
                      <a:solidFill>
                        <a:srgbClr val="CCCCCC"/>
                      </a:solidFill>
                    </a:lnR>
                    <a:lnT w="12700">
                      <a:solidFill>
                        <a:srgbClr val="CCCCCC"/>
                      </a:solidFill>
                    </a:lnT>
                    <a:lnB w="12700">
                      <a:solidFill>
                        <a:srgbClr val="CCCCCC"/>
                      </a:solidFill>
                    </a:lnB>
                  </a:tcPr>
                </a:tc>
              </a:tr>
            </a:tbl>
          </a:graphicData>
        </a:graphic>
      </p:graphicFrame>
      <p:sp>
        <p:nvSpPr>
          <p:cNvPr id="148" name="Rectangle 148"/>
          <p:cNvSpPr/>
          <p:nvPr/>
        </p:nvSpPr>
        <p:spPr>
          <a:xfrm>
            <a:off x="548640" y="2377440"/>
            <a:ext cx="8046720" cy="685800"/>
          </a:xfrm>
          <a:prstGeom prst="roundRect">
            <a:avLst/>
          </a:prstGeom>
          <a:solidFill>
            <a:srgbClr val="1A2744"/>
          </a:solidFill>
        </p:spPr>
      </p:sp>
      <p:sp>
        <p:nvSpPr>
          <p:cNvPr id="149" name="TextBox 149"/>
          <p:cNvSpPr txBox="1"/>
          <p:nvPr/>
        </p:nvSpPr>
        <p:spPr>
          <a:xfrm>
            <a:off x="731520" y="2423160"/>
            <a:ext cx="1828800" cy="274320"/>
          </a:xfrm>
          <a:prstGeom prst="rect">
            <a:avLst/>
          </a:prstGeom>
          <a:noFill/>
        </p:spPr>
        <p:txBody>
          <a:bodyPr wrap="square" anchor="t" lIns="137160" tIns="137160" rIns="137160" bIns="137160"/>
          <a:lstStyle/>
          <a:p>
            <a:pPr algn="l"/>
            <a:r>
              <a:rPr lang="en-US" dirty="0" sz="1300" b="1">
                <a:solidFill>
                  <a:srgbClr val="FFD54F"/>
                </a:solidFill>
              </a:rPr>
              <a:t>ARTEMIS III</a:t>
            </a:r>
          </a:p>
        </p:txBody>
      </p:sp>
      <p:sp>
        <p:nvSpPr>
          <p:cNvPr id="150" name="TextBox 150"/>
          <p:cNvSpPr txBox="1"/>
          <p:nvPr/>
        </p:nvSpPr>
        <p:spPr>
          <a:xfrm>
            <a:off x="2651760" y="2423160"/>
            <a:ext cx="5760720" cy="594360"/>
          </a:xfrm>
          <a:prstGeom prst="rect">
            <a:avLst/>
          </a:prstGeom>
          <a:noFill/>
        </p:spPr>
        <p:txBody>
          <a:bodyPr wrap="square" anchor="t" lIns="137160" tIns="137160" rIns="137160" bIns="137160"/>
          <a:lstStyle/>
          <a:p>
            <a:pPr algn="l">
              <a:lnSpc>
                <a:spcPts val="1600"/>
              </a:lnSpc>
            </a:pPr>
            <a:r>
              <a:rPr lang="en-US" dirty="0" sz="1100">
                <a:solidFill>
                  <a:srgbClr val="CCCCCC"/>
                </a:solidFill>
              </a:rPr>
              <a:t>First crewed lunar landing since 1972. SpaceX Starship HLS. First woman and first person of color on the Moon.</a:t>
            </a:r>
          </a:p>
        </p:txBody>
      </p:sp>
      <p:sp>
        <p:nvSpPr>
          <p:cNvPr id="151" name="Rectangle 151"/>
          <p:cNvSpPr/>
          <p:nvPr/>
        </p:nvSpPr>
        <p:spPr>
          <a:xfrm>
            <a:off x="548640" y="3200400"/>
            <a:ext cx="8046720" cy="685800"/>
          </a:xfrm>
          <a:prstGeom prst="roundRect">
            <a:avLst/>
          </a:prstGeom>
          <a:solidFill>
            <a:srgbClr val="1A2744"/>
          </a:solidFill>
        </p:spPr>
      </p:sp>
      <p:sp>
        <p:nvSpPr>
          <p:cNvPr id="152" name="TextBox 152"/>
          <p:cNvSpPr txBox="1"/>
          <p:nvPr/>
        </p:nvSpPr>
        <p:spPr>
          <a:xfrm>
            <a:off x="731520" y="3246120"/>
            <a:ext cx="1828800" cy="274320"/>
          </a:xfrm>
          <a:prstGeom prst="rect">
            <a:avLst/>
          </a:prstGeom>
          <a:noFill/>
        </p:spPr>
        <p:txBody>
          <a:bodyPr wrap="square" anchor="t" lIns="137160" tIns="137160" rIns="137160" bIns="137160"/>
          <a:lstStyle/>
          <a:p>
            <a:pPr algn="l"/>
            <a:r>
              <a:rPr lang="en-US" dirty="0" sz="1300" b="1">
                <a:solidFill>
                  <a:srgbClr val="FFD54F"/>
                </a:solidFill>
              </a:rPr>
              <a:t>LUNAR GATEWAY</a:t>
            </a:r>
          </a:p>
        </p:txBody>
      </p:sp>
      <p:sp>
        <p:nvSpPr>
          <p:cNvPr id="153" name="TextBox 153"/>
          <p:cNvSpPr txBox="1"/>
          <p:nvPr/>
        </p:nvSpPr>
        <p:spPr>
          <a:xfrm>
            <a:off x="2651760" y="3246120"/>
            <a:ext cx="5760720" cy="594360"/>
          </a:xfrm>
          <a:prstGeom prst="rect">
            <a:avLst/>
          </a:prstGeom>
          <a:noFill/>
        </p:spPr>
        <p:txBody>
          <a:bodyPr wrap="square" anchor="t" lIns="137160" tIns="137160" rIns="137160" bIns="137160"/>
          <a:lstStyle/>
          <a:p>
            <a:pPr algn="l">
              <a:lnSpc>
                <a:spcPts val="1600"/>
              </a:lnSpc>
            </a:pPr>
            <a:r>
              <a:rPr lang="en-US" dirty="0" sz="1100">
                <a:solidFill>
                  <a:srgbClr val="CCCCCC"/>
                </a:solidFill>
              </a:rPr>
              <a:t>Small space station orbiting the Moon, providing a staging point for surface missions and deep space research.</a:t>
            </a:r>
          </a:p>
        </p:txBody>
      </p:sp>
      <p:sp>
        <p:nvSpPr>
          <p:cNvPr id="154" name="Rectangle 154"/>
          <p:cNvSpPr/>
          <p:nvPr/>
        </p:nvSpPr>
        <p:spPr>
          <a:xfrm>
            <a:off x="548640" y="4023360"/>
            <a:ext cx="8046720" cy="685800"/>
          </a:xfrm>
          <a:prstGeom prst="roundRect">
            <a:avLst/>
          </a:prstGeom>
          <a:solidFill>
            <a:srgbClr val="1A2744"/>
          </a:solidFill>
        </p:spPr>
      </p:sp>
      <p:sp>
        <p:nvSpPr>
          <p:cNvPr id="155" name="TextBox 155"/>
          <p:cNvSpPr txBox="1"/>
          <p:nvPr/>
        </p:nvSpPr>
        <p:spPr>
          <a:xfrm>
            <a:off x="731520" y="4069080"/>
            <a:ext cx="1828800" cy="274320"/>
          </a:xfrm>
          <a:prstGeom prst="rect">
            <a:avLst/>
          </a:prstGeom>
          <a:noFill/>
        </p:spPr>
        <p:txBody>
          <a:bodyPr wrap="square" anchor="t" lIns="137160" tIns="137160" rIns="137160" bIns="137160"/>
          <a:lstStyle/>
          <a:p>
            <a:pPr algn="l"/>
            <a:r>
              <a:rPr lang="en-US" dirty="0" sz="1300" b="1">
                <a:solidFill>
                  <a:srgbClr val="FFD54F"/>
                </a:solidFill>
              </a:rPr>
              <a:t>MOON TO MARS</a:t>
            </a:r>
          </a:p>
        </p:txBody>
      </p:sp>
      <p:sp>
        <p:nvSpPr>
          <p:cNvPr id="156" name="TextBox 156"/>
          <p:cNvSpPr txBox="1"/>
          <p:nvPr/>
        </p:nvSpPr>
        <p:spPr>
          <a:xfrm>
            <a:off x="2651760" y="4069080"/>
            <a:ext cx="5760720" cy="594360"/>
          </a:xfrm>
          <a:prstGeom prst="rect">
            <a:avLst/>
          </a:prstGeom>
          <a:noFill/>
        </p:spPr>
        <p:txBody>
          <a:bodyPr wrap="square" anchor="t" lIns="137160" tIns="137160" rIns="137160" bIns="137160"/>
          <a:lstStyle/>
          <a:p>
            <a:pPr algn="l">
              <a:lnSpc>
                <a:spcPts val="1600"/>
              </a:lnSpc>
            </a:pPr>
            <a:r>
              <a:rPr lang="en-US" dirty="0" sz="1100">
                <a:solidFill>
                  <a:srgbClr val="CCCCCC"/>
                </a:solidFill>
              </a:rPr>
              <a:t>Artemis is NASA's stepping stone to Mars. Technologies tested at the Moon will enable human missions to the Red Planet.</a:t>
            </a:r>
          </a:p>
        </p:txBody>
      </p:sp>
      <p:sp>
        <p:nvSpPr>
          <p:cNvPr id="198" name="TextBox 198"/>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15</a:t>
            </a:r>
          </a:p>
        </p:txBody>
      </p:sp>
      <p:sp>
        <p:nvSpPr>
          <p:cNvPr id="215" name="TextBox 215"/>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  Source: nasa.gov/mission/artemis-ii  |  April 2026</a:t>
            </a:r>
          </a:p>
        </p:txBody>
      </p:sp>
    </p:spTree>
  </p:cSld>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157" name="Image 11"/>
          <p:cNvPicPr>
            <a:picLocks noChangeAspect="1"/>
          </p:cNvPicPr>
          <p:nvPr/>
        </p:nvPicPr>
        <p:blipFill>
          <a:blip r:embed="rId3"/>
          <a:stretch>
            <a:fillRect/>
          </a:stretch>
        </p:blipFill>
        <p:spPr>
          <a:xfrm>
            <a:off x="0" y="0"/>
            <a:ext cx="12191695" cy="6858000"/>
          </a:xfrm>
          <a:prstGeom prst="rect">
            <a:avLst/>
          </a:prstGeom>
        </p:spPr>
      </p:pic>
      <p:sp>
        <p:nvSpPr>
          <p:cNvPr id="158" name="Rectangle 158"/>
          <p:cNvSpPr/>
          <p:nvPr/>
        </p:nvSpPr>
        <p:spPr>
          <a:xfrm>
            <a:off x="0" y="0"/>
            <a:ext cx="12191695" cy="6858000"/>
          </a:xfrm>
          <a:prstGeom prst="rect">
            <a:avLst/>
          </a:prstGeom>
          <a:solidFill>
            <a:srgbClr val="0A1628">
              <a:alpha val="75000"/>
            </a:srgbClr>
          </a:solidFill>
        </p:spPr>
      </p:sp>
      <p:sp>
        <p:nvSpPr>
          <p:cNvPr id="159" name="TextBox 159"/>
          <p:cNvSpPr txBox="1"/>
          <p:nvPr/>
        </p:nvSpPr>
        <p:spPr>
          <a:xfrm>
            <a:off x="548640" y="365760"/>
            <a:ext cx="8046720" cy="640080"/>
          </a:xfrm>
          <a:prstGeom prst="rect">
            <a:avLst/>
          </a:prstGeom>
          <a:noFill/>
        </p:spPr>
        <p:txBody>
          <a:bodyPr wrap="square" anchor="t" lIns="137160" tIns="137160" rIns="137160" bIns="137160"/>
          <a:lstStyle/>
          <a:p>
            <a:pPr algn="ctr"/>
            <a:r>
              <a:rPr lang="en-US" dirty="0" sz="3600" b="1">
                <a:solidFill>
                  <a:srgbClr val="4FC3F7"/>
                </a:solidFill>
              </a:rPr>
              <a:t>BE PART OF THE JOURNEY</a:t>
            </a:r>
          </a:p>
        </p:txBody>
      </p:sp>
      <p:cxnSp>
        <p:nvCxnSpPr>
          <p:cNvPr id="160" name="Line 160"/>
          <p:cNvCxnSpPr/>
          <p:nvPr/>
        </p:nvCxnSpPr>
        <p:spPr>
          <a:xfrm>
            <a:off x="3200400" y="1051560"/>
            <a:ext cx="2743200" cy="1"/>
          </a:xfrm>
          <a:prstGeom prst="line">
            <a:avLst/>
          </a:prstGeom>
          <a:ln w="25400">
            <a:solidFill>
              <a:srgbClr val="4FC3F7"/>
            </a:solidFill>
          </a:ln>
        </p:spPr>
      </p:cxnSp>
      <p:sp>
        <p:nvSpPr>
          <p:cNvPr id="161" name="TextBox 161"/>
          <p:cNvSpPr txBox="1"/>
          <p:nvPr/>
        </p:nvSpPr>
        <p:spPr>
          <a:xfrm>
            <a:off x="914400" y="1188720"/>
            <a:ext cx="7315200" cy="457200"/>
          </a:xfrm>
          <a:prstGeom prst="rect">
            <a:avLst/>
          </a:prstGeom>
          <a:noFill/>
        </p:spPr>
        <p:txBody>
          <a:bodyPr wrap="square" anchor="t" lIns="137160" tIns="137160" rIns="137160" bIns="137160"/>
          <a:lstStyle/>
          <a:p>
            <a:pPr algn="ctr"/>
            <a:r>
              <a:rPr lang="en-US" dirty="0" sz="1400">
                <a:solidFill>
                  <a:srgbClr val="CCCCCC"/>
                </a:solidFill>
              </a:rPr>
              <a:t>The Artemis generation is just getting started. Here's how you can get involved:</a:t>
            </a:r>
          </a:p>
        </p:txBody>
      </p:sp>
      <p:sp>
        <p:nvSpPr>
          <p:cNvPr id="162" name="Rectangle 162"/>
          <p:cNvSpPr/>
          <p:nvPr/>
        </p:nvSpPr>
        <p:spPr>
          <a:xfrm>
            <a:off x="548640" y="1828800"/>
            <a:ext cx="3545738" cy="1371600"/>
          </a:xfrm>
          <a:prstGeom prst="roundRect">
            <a:avLst/>
          </a:prstGeom>
          <a:solidFill>
            <a:srgbClr val="1A2744"/>
          </a:solidFill>
          <a:ln w="12700">
            <a:solidFill>
              <a:srgbClr val="2A3A5C"/>
            </a:solidFill>
          </a:ln>
        </p:spPr>
      </p:sp>
      <p:sp>
        <p:nvSpPr>
          <p:cNvPr id="163" name="TextBox 163"/>
          <p:cNvSpPr txBox="1"/>
          <p:nvPr/>
        </p:nvSpPr>
        <p:spPr>
          <a:xfrm>
            <a:off x="640080" y="2057400"/>
            <a:ext cx="3362858" cy="274320"/>
          </a:xfrm>
          <a:prstGeom prst="rect">
            <a:avLst/>
          </a:prstGeom>
          <a:noFill/>
        </p:spPr>
        <p:txBody>
          <a:bodyPr wrap="square" anchor="t" lIns="137160" tIns="137160" rIns="137160" bIns="137160"/>
          <a:lstStyle/>
          <a:p>
            <a:pPr algn="ctr"/>
            <a:r>
              <a:rPr lang="en-US" dirty="0" sz="1400" b="1">
                <a:solidFill>
                  <a:srgbClr val="FFFFFF"/>
                </a:solidFill>
              </a:rPr>
              <a:t>Join Artemis</a:t>
            </a:r>
          </a:p>
        </p:txBody>
      </p:sp>
      <p:sp>
        <p:nvSpPr>
          <p:cNvPr id="164" name="TextBox 164"/>
          <p:cNvSpPr txBox="1"/>
          <p:nvPr/>
        </p:nvSpPr>
        <p:spPr>
          <a:xfrm>
            <a:off x="640080" y="2468880"/>
            <a:ext cx="3362858" cy="365760"/>
          </a:xfrm>
          <a:prstGeom prst="rect">
            <a:avLst/>
          </a:prstGeom>
          <a:noFill/>
        </p:spPr>
        <p:txBody>
          <a:bodyPr wrap="square" anchor="t" lIns="137160" tIns="137160" rIns="137160" bIns="137160"/>
          <a:lstStyle/>
          <a:p>
            <a:pPr algn="ctr"/>
            <a:r>
              <a:rPr lang="en-US" dirty="0" sz="1000">
                <a:solidFill>
                  <a:srgbClr val="4FC3F7"/>
                </a:solidFill>
              </a:rPr>
              <a:t>nasa.gov/joinArtemis</a:t>
            </a:r>
          </a:p>
        </p:txBody>
      </p:sp>
      <p:sp>
        <p:nvSpPr>
          <p:cNvPr id="165" name="Rectangle 165"/>
          <p:cNvSpPr/>
          <p:nvPr/>
        </p:nvSpPr>
        <p:spPr>
          <a:xfrm>
            <a:off x="4322978" y="1828800"/>
            <a:ext cx="3545738" cy="1371600"/>
          </a:xfrm>
          <a:prstGeom prst="roundRect">
            <a:avLst/>
          </a:prstGeom>
          <a:solidFill>
            <a:srgbClr val="1A2744"/>
          </a:solidFill>
          <a:ln w="12700">
            <a:solidFill>
              <a:srgbClr val="2A3A5C"/>
            </a:solidFill>
          </a:ln>
        </p:spPr>
      </p:sp>
      <p:sp>
        <p:nvSpPr>
          <p:cNvPr id="166" name="TextBox 166"/>
          <p:cNvSpPr txBox="1"/>
          <p:nvPr/>
        </p:nvSpPr>
        <p:spPr>
          <a:xfrm>
            <a:off x="4414418" y="2057400"/>
            <a:ext cx="3362858" cy="274320"/>
          </a:xfrm>
          <a:prstGeom prst="rect">
            <a:avLst/>
          </a:prstGeom>
          <a:noFill/>
        </p:spPr>
        <p:txBody>
          <a:bodyPr wrap="square" anchor="t" lIns="137160" tIns="137160" rIns="137160" bIns="137160"/>
          <a:lstStyle/>
          <a:p>
            <a:pPr algn="ctr"/>
            <a:r>
              <a:rPr lang="en-US" dirty="0" sz="1400" b="1">
                <a:solidFill>
                  <a:srgbClr val="FFFFFF"/>
                </a:solidFill>
              </a:rPr>
              <a:t>Follow Live</a:t>
            </a:r>
          </a:p>
        </p:txBody>
      </p:sp>
      <p:sp>
        <p:nvSpPr>
          <p:cNvPr id="167" name="TextBox 167"/>
          <p:cNvSpPr txBox="1"/>
          <p:nvPr/>
        </p:nvSpPr>
        <p:spPr>
          <a:xfrm>
            <a:off x="4414418" y="2468880"/>
            <a:ext cx="3362858" cy="365760"/>
          </a:xfrm>
          <a:prstGeom prst="rect">
            <a:avLst/>
          </a:prstGeom>
          <a:noFill/>
        </p:spPr>
        <p:txBody>
          <a:bodyPr wrap="square" anchor="t" lIns="137160" tIns="137160" rIns="137160" bIns="137160"/>
          <a:lstStyle/>
          <a:p>
            <a:pPr algn="ctr"/>
            <a:r>
              <a:rPr lang="en-US" dirty="0" sz="1000">
                <a:solidFill>
                  <a:srgbClr val="4FC3F7"/>
                </a:solidFill>
              </a:rPr>
              <a:t>nasa.gov/live</a:t>
            </a:r>
          </a:p>
        </p:txBody>
      </p:sp>
      <p:sp>
        <p:nvSpPr>
          <p:cNvPr id="168" name="Rectangle 168"/>
          <p:cNvSpPr/>
          <p:nvPr/>
        </p:nvSpPr>
        <p:spPr>
          <a:xfrm>
            <a:off x="8097317" y="1828800"/>
            <a:ext cx="3545738" cy="1371600"/>
          </a:xfrm>
          <a:prstGeom prst="roundRect">
            <a:avLst/>
          </a:prstGeom>
          <a:solidFill>
            <a:srgbClr val="1A2744"/>
          </a:solidFill>
          <a:ln w="12700">
            <a:solidFill>
              <a:srgbClr val="2A3A5C"/>
            </a:solidFill>
          </a:ln>
        </p:spPr>
      </p:sp>
      <p:sp>
        <p:nvSpPr>
          <p:cNvPr id="169" name="TextBox 169"/>
          <p:cNvSpPr txBox="1"/>
          <p:nvPr/>
        </p:nvSpPr>
        <p:spPr>
          <a:xfrm>
            <a:off x="8188757" y="2057400"/>
            <a:ext cx="3362858" cy="274320"/>
          </a:xfrm>
          <a:prstGeom prst="rect">
            <a:avLst/>
          </a:prstGeom>
          <a:noFill/>
        </p:spPr>
        <p:txBody>
          <a:bodyPr wrap="square" anchor="t" lIns="137160" tIns="137160" rIns="137160" bIns="137160"/>
          <a:lstStyle/>
          <a:p>
            <a:pPr algn="ctr"/>
            <a:r>
              <a:rPr lang="en-US" dirty="0" sz="1400" b="1">
                <a:solidFill>
                  <a:srgbClr val="FFFFFF"/>
                </a:solidFill>
              </a:rPr>
              <a:t>STEM Resources</a:t>
            </a:r>
          </a:p>
        </p:txBody>
      </p:sp>
      <p:sp>
        <p:nvSpPr>
          <p:cNvPr id="170" name="TextBox 170"/>
          <p:cNvSpPr txBox="1"/>
          <p:nvPr/>
        </p:nvSpPr>
        <p:spPr>
          <a:xfrm>
            <a:off x="8188757" y="2468880"/>
            <a:ext cx="3362858" cy="365760"/>
          </a:xfrm>
          <a:prstGeom prst="rect">
            <a:avLst/>
          </a:prstGeom>
          <a:noFill/>
        </p:spPr>
        <p:txBody>
          <a:bodyPr wrap="square" anchor="t" lIns="137160" tIns="137160" rIns="137160" bIns="137160"/>
          <a:lstStyle/>
          <a:p>
            <a:pPr algn="ctr"/>
            <a:r>
              <a:rPr lang="en-US" dirty="0" sz="1000">
                <a:solidFill>
                  <a:srgbClr val="4FC3F7"/>
                </a:solidFill>
              </a:rPr>
              <a:t>nasa.gov/stem</a:t>
            </a:r>
          </a:p>
        </p:txBody>
      </p:sp>
      <p:sp>
        <p:nvSpPr>
          <p:cNvPr id="171" name="Rectangle 171"/>
          <p:cNvSpPr/>
          <p:nvPr/>
        </p:nvSpPr>
        <p:spPr>
          <a:xfrm>
            <a:off x="548640" y="3383280"/>
            <a:ext cx="3545738" cy="1371600"/>
          </a:xfrm>
          <a:prstGeom prst="roundRect">
            <a:avLst/>
          </a:prstGeom>
          <a:solidFill>
            <a:srgbClr val="1A2744"/>
          </a:solidFill>
          <a:ln w="12700">
            <a:solidFill>
              <a:srgbClr val="2A3A5C"/>
            </a:solidFill>
          </a:ln>
        </p:spPr>
      </p:sp>
      <p:sp>
        <p:nvSpPr>
          <p:cNvPr id="172" name="TextBox 172"/>
          <p:cNvSpPr txBox="1"/>
          <p:nvPr/>
        </p:nvSpPr>
        <p:spPr>
          <a:xfrm>
            <a:off x="640080" y="3611880"/>
            <a:ext cx="3362858" cy="274320"/>
          </a:xfrm>
          <a:prstGeom prst="rect">
            <a:avLst/>
          </a:prstGeom>
          <a:noFill/>
        </p:spPr>
        <p:txBody>
          <a:bodyPr wrap="square" anchor="t" lIns="137160" tIns="137160" rIns="137160" bIns="137160"/>
          <a:lstStyle/>
          <a:p>
            <a:pPr algn="ctr"/>
            <a:r>
              <a:rPr lang="en-US" dirty="0" sz="1400" b="1">
                <a:solidFill>
                  <a:srgbClr val="FFFFFF"/>
                </a:solidFill>
              </a:rPr>
              <a:t>Citizen Science</a:t>
            </a:r>
          </a:p>
        </p:txBody>
      </p:sp>
      <p:sp>
        <p:nvSpPr>
          <p:cNvPr id="173" name="TextBox 173"/>
          <p:cNvSpPr txBox="1"/>
          <p:nvPr/>
        </p:nvSpPr>
        <p:spPr>
          <a:xfrm>
            <a:off x="640080" y="4023360"/>
            <a:ext cx="3362858" cy="365760"/>
          </a:xfrm>
          <a:prstGeom prst="rect">
            <a:avLst/>
          </a:prstGeom>
          <a:noFill/>
        </p:spPr>
        <p:txBody>
          <a:bodyPr wrap="square" anchor="t" lIns="137160" tIns="137160" rIns="137160" bIns="137160"/>
          <a:lstStyle/>
          <a:p>
            <a:pPr algn="ctr"/>
            <a:r>
              <a:rPr lang="en-US" dirty="0" sz="1000">
                <a:solidFill>
                  <a:srgbClr val="4FC3F7"/>
                </a:solidFill>
              </a:rPr>
              <a:t>science.nasa.gov</a:t>
            </a:r>
          </a:p>
        </p:txBody>
      </p:sp>
      <p:sp>
        <p:nvSpPr>
          <p:cNvPr id="174" name="Rectangle 174"/>
          <p:cNvSpPr/>
          <p:nvPr/>
        </p:nvSpPr>
        <p:spPr>
          <a:xfrm>
            <a:off x="4322978" y="3383280"/>
            <a:ext cx="3545738" cy="1371600"/>
          </a:xfrm>
          <a:prstGeom prst="roundRect">
            <a:avLst/>
          </a:prstGeom>
          <a:solidFill>
            <a:srgbClr val="1A2744"/>
          </a:solidFill>
          <a:ln w="12700">
            <a:solidFill>
              <a:srgbClr val="2A3A5C"/>
            </a:solidFill>
          </a:ln>
        </p:spPr>
      </p:sp>
      <p:sp>
        <p:nvSpPr>
          <p:cNvPr id="175" name="TextBox 175"/>
          <p:cNvSpPr txBox="1"/>
          <p:nvPr/>
        </p:nvSpPr>
        <p:spPr>
          <a:xfrm>
            <a:off x="4414418" y="3611880"/>
            <a:ext cx="3362858" cy="274320"/>
          </a:xfrm>
          <a:prstGeom prst="rect">
            <a:avLst/>
          </a:prstGeom>
          <a:noFill/>
        </p:spPr>
        <p:txBody>
          <a:bodyPr wrap="square" anchor="t" lIns="137160" tIns="137160" rIns="137160" bIns="137160"/>
          <a:lstStyle/>
          <a:p>
            <a:pPr algn="ctr"/>
            <a:r>
              <a:rPr lang="en-US" dirty="0" sz="1400" b="1">
                <a:solidFill>
                  <a:srgbClr val="FFFFFF"/>
                </a:solidFill>
              </a:rPr>
              <a:t>Multimedia</a:t>
            </a:r>
          </a:p>
        </p:txBody>
      </p:sp>
      <p:sp>
        <p:nvSpPr>
          <p:cNvPr id="176" name="TextBox 176"/>
          <p:cNvSpPr txBox="1"/>
          <p:nvPr/>
        </p:nvSpPr>
        <p:spPr>
          <a:xfrm>
            <a:off x="4414418" y="4023360"/>
            <a:ext cx="3362858" cy="365760"/>
          </a:xfrm>
          <a:prstGeom prst="rect">
            <a:avLst/>
          </a:prstGeom>
          <a:noFill/>
        </p:spPr>
        <p:txBody>
          <a:bodyPr wrap="square" anchor="t" lIns="137160" tIns="137160" rIns="137160" bIns="137160"/>
          <a:lstStyle/>
          <a:p>
            <a:pPr algn="ctr"/>
            <a:r>
              <a:rPr lang="en-US" dirty="0" sz="1000">
                <a:solidFill>
                  <a:srgbClr val="4FC3F7"/>
                </a:solidFill>
              </a:rPr>
              <a:t>nasa.gov/artemis-ii-multimedia</a:t>
            </a:r>
          </a:p>
        </p:txBody>
      </p:sp>
      <p:sp>
        <p:nvSpPr>
          <p:cNvPr id="177" name="Rectangle 177"/>
          <p:cNvSpPr/>
          <p:nvPr/>
        </p:nvSpPr>
        <p:spPr>
          <a:xfrm>
            <a:off x="8097317" y="3383280"/>
            <a:ext cx="3545738" cy="1371600"/>
          </a:xfrm>
          <a:prstGeom prst="roundRect">
            <a:avLst/>
          </a:prstGeom>
          <a:solidFill>
            <a:srgbClr val="1A2744"/>
          </a:solidFill>
          <a:ln w="12700">
            <a:solidFill>
              <a:srgbClr val="2A3A5C"/>
            </a:solidFill>
          </a:ln>
        </p:spPr>
      </p:sp>
      <p:sp>
        <p:nvSpPr>
          <p:cNvPr id="178" name="TextBox 178"/>
          <p:cNvSpPr txBox="1"/>
          <p:nvPr/>
        </p:nvSpPr>
        <p:spPr>
          <a:xfrm>
            <a:off x="8188757" y="3611880"/>
            <a:ext cx="3362858" cy="274320"/>
          </a:xfrm>
          <a:prstGeom prst="rect">
            <a:avLst/>
          </a:prstGeom>
          <a:noFill/>
        </p:spPr>
        <p:txBody>
          <a:bodyPr wrap="square" anchor="t" lIns="137160" tIns="137160" rIns="137160" bIns="137160"/>
          <a:lstStyle/>
          <a:p>
            <a:pPr algn="ctr"/>
            <a:r>
              <a:rPr lang="en-US" dirty="0" sz="1400" b="1">
                <a:solidFill>
                  <a:srgbClr val="FFFFFF"/>
                </a:solidFill>
              </a:rPr>
              <a:t>NASA Careers</a:t>
            </a:r>
          </a:p>
        </p:txBody>
      </p:sp>
      <p:sp>
        <p:nvSpPr>
          <p:cNvPr id="179" name="TextBox 179"/>
          <p:cNvSpPr txBox="1"/>
          <p:nvPr/>
        </p:nvSpPr>
        <p:spPr>
          <a:xfrm>
            <a:off x="8188757" y="4023360"/>
            <a:ext cx="3362858" cy="365760"/>
          </a:xfrm>
          <a:prstGeom prst="rect">
            <a:avLst/>
          </a:prstGeom>
          <a:noFill/>
        </p:spPr>
        <p:txBody>
          <a:bodyPr wrap="square" anchor="t" lIns="137160" tIns="137160" rIns="137160" bIns="137160"/>
          <a:lstStyle/>
          <a:p>
            <a:pPr algn="ctr"/>
            <a:r>
              <a:rPr lang="en-US" dirty="0" sz="1000">
                <a:solidFill>
                  <a:srgbClr val="4FC3F7"/>
                </a:solidFill>
              </a:rPr>
              <a:t>nasa.gov/careers</a:t>
            </a:r>
          </a:p>
        </p:txBody>
      </p:sp>
      <p:sp>
        <p:nvSpPr>
          <p:cNvPr id="199" name="TextBox 199"/>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16</a:t>
            </a:r>
          </a:p>
        </p:txBody>
      </p:sp>
      <p:sp>
        <p:nvSpPr>
          <p:cNvPr id="216" name="TextBox 216"/>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  Source: nasa.gov/mission/artemis-ii  |  April 2026</a:t>
            </a:r>
          </a:p>
        </p:txBody>
      </p:sp>
    </p:spTree>
  </p:cSld>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180" name="Image 12"/>
          <p:cNvPicPr>
            <a:picLocks noChangeAspect="1"/>
          </p:cNvPicPr>
          <p:nvPr/>
        </p:nvPicPr>
        <p:blipFill>
          <a:blip r:embed="rId3"/>
          <a:stretch>
            <a:fillRect/>
          </a:stretch>
        </p:blipFill>
        <p:spPr>
          <a:xfrm>
            <a:off x="0" y="0"/>
            <a:ext cx="12191695" cy="6858000"/>
          </a:xfrm>
          <a:prstGeom prst="rect">
            <a:avLst/>
          </a:prstGeom>
        </p:spPr>
      </p:pic>
      <p:sp>
        <p:nvSpPr>
          <p:cNvPr id="181" name="Rectangle 181"/>
          <p:cNvSpPr/>
          <p:nvPr/>
        </p:nvSpPr>
        <p:spPr>
          <a:xfrm>
            <a:off x="0" y="0"/>
            <a:ext cx="12191695" cy="6858000"/>
          </a:xfrm>
          <a:prstGeom prst="rect">
            <a:avLst/>
          </a:prstGeom>
          <a:solidFill>
            <a:srgbClr val="0A1628">
              <a:alpha val="40000"/>
            </a:srgbClr>
          </a:solidFill>
        </p:spPr>
      </p:sp>
      <p:sp>
        <p:nvSpPr>
          <p:cNvPr id="182" name="TextBox 182"/>
          <p:cNvSpPr txBox="1"/>
          <p:nvPr/>
        </p:nvSpPr>
        <p:spPr>
          <a:xfrm>
            <a:off x="457200" y="2560320"/>
            <a:ext cx="11277295" cy="1371600"/>
          </a:xfrm>
          <a:prstGeom prst="rect">
            <a:avLst/>
          </a:prstGeom>
          <a:noFill/>
        </p:spPr>
        <p:txBody>
          <a:bodyPr wrap="square" anchor="t" lIns="137160" tIns="137160" rIns="137160" bIns="137160"/>
          <a:lstStyle/>
          <a:p>
            <a:pPr algn="ctr"/>
            <a:r>
              <a:rPr lang="en-US" dirty="0" sz="4800" b="1">
                <a:solidFill>
                  <a:srgbClr val="FFFFFF"/>
                </a:solidFill>
              </a:rPr>
              <a:t>We Are Going</a:t>
            </a:r>
          </a:p>
        </p:txBody>
      </p:sp>
      <p:sp>
        <p:nvSpPr>
          <p:cNvPr id="183" name="TextBox 183"/>
          <p:cNvSpPr txBox="1"/>
          <p:nvPr/>
        </p:nvSpPr>
        <p:spPr>
          <a:xfrm>
            <a:off x="457200" y="3840480"/>
            <a:ext cx="11277295" cy="731520"/>
          </a:xfrm>
          <a:prstGeom prst="rect">
            <a:avLst/>
          </a:prstGeom>
          <a:noFill/>
        </p:spPr>
        <p:txBody>
          <a:bodyPr wrap="square" anchor="t" lIns="137160" tIns="137160" rIns="137160" bIns="137160"/>
          <a:lstStyle/>
          <a:p>
            <a:pPr algn="ctr"/>
            <a:r>
              <a:rPr lang="en-US" dirty="0" sz="2000">
                <a:solidFill>
                  <a:srgbClr val="FFFFFF"/>
                </a:solidFill>
              </a:rPr>
              <a:t>To the Moon. To Mars. Together.</a:t>
            </a:r>
          </a:p>
        </p:txBody>
      </p:sp>
      <p:sp>
        <p:nvSpPr>
          <p:cNvPr id="200" name="TextBox 200"/>
          <p:cNvSpPr txBox="1"/>
          <p:nvPr/>
        </p:nvSpPr>
        <p:spPr>
          <a:xfrm>
            <a:off x="10972800" y="6400800"/>
            <a:ext cx="731520" cy="365760"/>
          </a:xfrm>
          <a:prstGeom prst="rect">
            <a:avLst/>
          </a:prstGeom>
          <a:noFill/>
        </p:spPr>
        <p:txBody>
          <a:bodyPr wrap="square" anchor="t" lIns="137160" tIns="137160" rIns="137160" bIns="137160"/>
          <a:lstStyle/>
          <a:p>
            <a:pPr algn="r"/>
            <a:r>
              <a:rPr lang="en-US" dirty="0" sz="1000">
                <a:solidFill>
                  <a:srgbClr val="FFFFFF"/>
                </a:solidFill>
              </a:rPr>
              <a:t>17</a:t>
            </a:r>
          </a:p>
        </p:txBody>
      </p:sp>
      <p:sp>
        <p:nvSpPr>
          <p:cNvPr id="217" name="TextBox 217"/>
          <p:cNvSpPr txBox="1"/>
          <p:nvPr/>
        </p:nvSpPr>
        <p:spPr>
          <a:xfrm>
            <a:off x="457200" y="6400800"/>
            <a:ext cx="7315200" cy="365760"/>
          </a:xfrm>
          <a:prstGeom prst="rect">
            <a:avLst/>
          </a:prstGeom>
          <a:noFill/>
        </p:spPr>
        <p:txBody>
          <a:bodyPr wrap="square" anchor="t" lIns="137160" tIns="137160" rIns="137160" bIns="137160"/>
          <a:lstStyle/>
          <a:p>
            <a:pPr algn="l"/>
            <a:r>
              <a:rPr lang="en-US" dirty="0" sz="800">
                <a:solidFill>
                  <a:srgbClr val="FFFFFF"/>
                </a:solidFill>
              </a:rPr>
              <a:t>NASA Artemis II  |  Source: nasa.gov/mission/artemis-ii  |  April 2026</a:t>
            </a:r>
          </a:p>
        </p:txBody>
      </p:sp>
    </p:spTree>
  </p:cSld>
  <p:transition spd="med">
    <p:fade/>
  </p:transition>
</p:sld>
</file>

<file path=ppt/theme/theme1.xml><?xml version="1.0" encoding="utf-8"?>
<a:theme xmlns:a="http://schemas.openxmlformats.org/drawingml/2006/main" name="HyperAgent">
  <a:themeElements>
    <a:clrScheme name="HyperAgent">
      <a:dk1>
        <a:srgbClr val="000000"/>
      </a:dk1>
      <a:lt1>
        <a:srgbClr val="FFFFFF"/>
      </a:lt1>
      <a:dk2>
        <a:srgbClr val="44546A"/>
      </a:dk2>
      <a:lt2>
        <a:srgbClr val="E7E6E6"/>
      </a:lt2>
      <a:accent1>
        <a:srgbClr val="58A6FF"/>
      </a:accent1>
      <a:accent2>
        <a:srgbClr val="3FB950"/>
      </a:accent2>
      <a:accent3>
        <a:srgbClr val="D29922"/>
      </a:accent3>
      <a:accent4>
        <a:srgbClr val="F85149"/>
      </a:accent4>
      <a:accent5>
        <a:srgbClr val="8B949E"/>
      </a:accent5>
      <a:accent6>
        <a:srgbClr val="58A6FF"/>
      </a:accent6>
      <a:hlink>
        <a:srgbClr val="58A6FF"/>
      </a:hlink>
      <a:folHlink>
        <a:srgbClr val="D29922"/>
      </a:folHlink>
    </a:clrScheme>
    <a:fontScheme name="HyperAgent">
      <a:majorFont>
        <a:latin typeface="Segoe UI"/>
        <a:ea typeface=""/>
        <a:cs typeface=""/>
      </a:majorFont>
      <a:minorFont>
        <a:latin typeface="Segoe UI"/>
        <a:ea typeface=""/>
        <a:cs typeface=""/>
      </a:minorFont>
    </a:fontScheme>
    <a:fmtScheme name="HyperAgent">
      <a:fillStyleLst>
        <a:solidFill>
          <a:schemeClr val="phClr"/>
        </a:solidFill>
        <a:solidFill>
          <a:schemeClr val="phClr"/>
        </a:soli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name="HyperAgent">
  <a:themeElements>
    <a:clrScheme name="HyperAgent">
      <a:dk1>
        <a:srgbClr val="000000"/>
      </a:dk1>
      <a:lt1>
        <a:srgbClr val="FFFFFF"/>
      </a:lt1>
      <a:dk2>
        <a:srgbClr val="44546A"/>
      </a:dk2>
      <a:lt2>
        <a:srgbClr val="E7E6E6"/>
      </a:lt2>
      <a:accent1>
        <a:srgbClr val="58A6FF"/>
      </a:accent1>
      <a:accent2>
        <a:srgbClr val="3FB950"/>
      </a:accent2>
      <a:accent3>
        <a:srgbClr val="D29922"/>
      </a:accent3>
      <a:accent4>
        <a:srgbClr val="F85149"/>
      </a:accent4>
      <a:accent5>
        <a:srgbClr val="8B949E"/>
      </a:accent5>
      <a:accent6>
        <a:srgbClr val="58A6FF"/>
      </a:accent6>
      <a:hlink>
        <a:srgbClr val="58A6FF"/>
      </a:hlink>
      <a:folHlink>
        <a:srgbClr val="D29922"/>
      </a:folHlink>
    </a:clrScheme>
    <a:fontScheme name="HyperAgent">
      <a:majorFont>
        <a:latin typeface="Segoe UI"/>
        <a:ea typeface=""/>
        <a:cs typeface=""/>
      </a:majorFont>
      <a:minorFont>
        <a:latin typeface="Segoe UI"/>
        <a:ea typeface=""/>
        <a:cs typeface=""/>
      </a:minorFont>
    </a:fontScheme>
    <a:fmtScheme name="HyperAgent">
      <a:fillStyleLst>
        <a:solidFill>
          <a:schemeClr val="phClr"/>
        </a:solidFill>
        <a:solidFill>
          <a:schemeClr val="phClr"/>
        </a:soli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Hyperlight PPTX</Application>
  <Slides>18</Slides>
</Properties>
</file>

<file path=docProps/core.xml><?xml version="1.0" encoding="utf-8"?>
<cp:coreProperties xmlns:cp="http://schemas.openxmlformats.org/package/2006/metadata/core-properties" xmlns:dc="http://purl.org/dc/elements/1.1/" xmlns:dcterms="http://purl.org/dc/terms/" xmlns:xsi="http://www.w3.org/2001/XMLSchema-instance">
  <dc:title>Presentation</dc:title>
  <dc:creator>Hyperlight PPTX</dc:creator>
  <dcterms:created xsi:type="dcterms:W3CDTF">2026-04-16T15:41:30Z</dcterms:created>
  <dcterms:modified xsi:type="dcterms:W3CDTF">2026-04-16T15:41:30Z</dcterms:modified>
</cp:coreProperties>
</file>